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C7DFB32-7F09-4BED-A56E-EC0341DD359F}" v="20" dt="2026-08-06T13:37:25.739"/>
    <p1510:client id="{93A8081C-3E31-40BA-8CB7-9B3FE12620FE}" v="85" dt="2026-08-06T06:24:00.38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eenakshi Rethinam" userId="15ee4164152191a7" providerId="Windows Live" clId="Web-{1C7DFB32-7F09-4BED-A56E-EC0341DD359F}"/>
    <pc:docChg chg="modSld">
      <pc:chgData name="Meenakshi Rethinam" userId="15ee4164152191a7" providerId="Windows Live" clId="Web-{1C7DFB32-7F09-4BED-A56E-EC0341DD359F}" dt="2026-08-06T13:37:25.739" v="17"/>
      <pc:docMkLst>
        <pc:docMk/>
      </pc:docMkLst>
      <pc:sldChg chg="modSp">
        <pc:chgData name="Meenakshi Rethinam" userId="15ee4164152191a7" providerId="Windows Live" clId="Web-{1C7DFB32-7F09-4BED-A56E-EC0341DD359F}" dt="2026-08-06T13:37:25.739" v="17"/>
        <pc:sldMkLst>
          <pc:docMk/>
          <pc:sldMk cId="0" sldId="271"/>
        </pc:sldMkLst>
        <pc:graphicFrameChg chg="mod modGraphic">
          <ac:chgData name="Meenakshi Rethinam" userId="15ee4164152191a7" providerId="Windows Live" clId="Web-{1C7DFB32-7F09-4BED-A56E-EC0341DD359F}" dt="2026-08-06T13:37:25.739" v="17"/>
          <ac:graphicFrameMkLst>
            <pc:docMk/>
            <pc:sldMk cId="0" sldId="271"/>
            <ac:graphicFrameMk id="17" creationId="{00000000-0000-0000-0000-000000000000}"/>
          </ac:graphicFrameMkLst>
        </pc:graphicFrameChg>
      </pc:sldChg>
    </pc:docChg>
  </pc:docChgLst>
  <pc:docChgLst>
    <pc:chgData name="Meenakshi Rethinam" userId="15ee4164152191a7" providerId="Windows Live" clId="Web-{93A8081C-3E31-40BA-8CB7-9B3FE12620FE}"/>
    <pc:docChg chg="modSld">
      <pc:chgData name="Meenakshi Rethinam" userId="15ee4164152191a7" providerId="Windows Live" clId="Web-{93A8081C-3E31-40BA-8CB7-9B3FE12620FE}" dt="2026-08-06T06:25:25.152" v="138"/>
      <pc:docMkLst>
        <pc:docMk/>
      </pc:docMkLst>
      <pc:sldChg chg="modNotes">
        <pc:chgData name="Meenakshi Rethinam" userId="15ee4164152191a7" providerId="Windows Live" clId="Web-{93A8081C-3E31-40BA-8CB7-9B3FE12620FE}" dt="2026-08-06T06:09:27.639" v="16"/>
        <pc:sldMkLst>
          <pc:docMk/>
          <pc:sldMk cId="0" sldId="256"/>
        </pc:sldMkLst>
      </pc:sldChg>
      <pc:sldChg chg="modNotes">
        <pc:chgData name="Meenakshi Rethinam" userId="15ee4164152191a7" providerId="Windows Live" clId="Web-{93A8081C-3E31-40BA-8CB7-9B3FE12620FE}" dt="2026-08-06T06:10:12.156" v="19"/>
        <pc:sldMkLst>
          <pc:docMk/>
          <pc:sldMk cId="0" sldId="257"/>
        </pc:sldMkLst>
      </pc:sldChg>
      <pc:sldChg chg="modNotes">
        <pc:chgData name="Meenakshi Rethinam" userId="15ee4164152191a7" providerId="Windows Live" clId="Web-{93A8081C-3E31-40BA-8CB7-9B3FE12620FE}" dt="2026-08-06T06:10:39.532" v="22"/>
        <pc:sldMkLst>
          <pc:docMk/>
          <pc:sldMk cId="0" sldId="258"/>
        </pc:sldMkLst>
      </pc:sldChg>
      <pc:sldChg chg="modNotes">
        <pc:chgData name="Meenakshi Rethinam" userId="15ee4164152191a7" providerId="Windows Live" clId="Web-{93A8081C-3E31-40BA-8CB7-9B3FE12620FE}" dt="2026-08-06T06:11:07.158" v="25"/>
        <pc:sldMkLst>
          <pc:docMk/>
          <pc:sldMk cId="0" sldId="259"/>
        </pc:sldMkLst>
      </pc:sldChg>
      <pc:sldChg chg="modNotes">
        <pc:chgData name="Meenakshi Rethinam" userId="15ee4164152191a7" providerId="Windows Live" clId="Web-{93A8081C-3E31-40BA-8CB7-9B3FE12620FE}" dt="2026-08-06T06:11:43.346" v="28"/>
        <pc:sldMkLst>
          <pc:docMk/>
          <pc:sldMk cId="0" sldId="260"/>
        </pc:sldMkLst>
      </pc:sldChg>
      <pc:sldChg chg="modNotes">
        <pc:chgData name="Meenakshi Rethinam" userId="15ee4164152191a7" providerId="Windows Live" clId="Web-{93A8081C-3E31-40BA-8CB7-9B3FE12620FE}" dt="2026-08-06T06:12:17.113" v="31"/>
        <pc:sldMkLst>
          <pc:docMk/>
          <pc:sldMk cId="0" sldId="261"/>
        </pc:sldMkLst>
      </pc:sldChg>
      <pc:sldChg chg="modNotes">
        <pc:chgData name="Meenakshi Rethinam" userId="15ee4164152191a7" providerId="Windows Live" clId="Web-{93A8081C-3E31-40BA-8CB7-9B3FE12620FE}" dt="2026-08-06T06:12:48.036" v="34"/>
        <pc:sldMkLst>
          <pc:docMk/>
          <pc:sldMk cId="0" sldId="262"/>
        </pc:sldMkLst>
      </pc:sldChg>
      <pc:sldChg chg="modNotes">
        <pc:chgData name="Meenakshi Rethinam" userId="15ee4164152191a7" providerId="Windows Live" clId="Web-{93A8081C-3E31-40BA-8CB7-9B3FE12620FE}" dt="2026-08-06T06:13:17.849" v="38"/>
        <pc:sldMkLst>
          <pc:docMk/>
          <pc:sldMk cId="0" sldId="263"/>
        </pc:sldMkLst>
      </pc:sldChg>
      <pc:sldChg chg="modNotes">
        <pc:chgData name="Meenakshi Rethinam" userId="15ee4164152191a7" providerId="Windows Live" clId="Web-{93A8081C-3E31-40BA-8CB7-9B3FE12620FE}" dt="2026-08-06T06:13:52.037" v="42"/>
        <pc:sldMkLst>
          <pc:docMk/>
          <pc:sldMk cId="0" sldId="264"/>
        </pc:sldMkLst>
      </pc:sldChg>
      <pc:sldChg chg="modNotes">
        <pc:chgData name="Meenakshi Rethinam" userId="15ee4164152191a7" providerId="Windows Live" clId="Web-{93A8081C-3E31-40BA-8CB7-9B3FE12620FE}" dt="2026-08-06T06:14:23.538" v="45"/>
        <pc:sldMkLst>
          <pc:docMk/>
          <pc:sldMk cId="0" sldId="265"/>
        </pc:sldMkLst>
      </pc:sldChg>
      <pc:sldChg chg="modSp modNotes">
        <pc:chgData name="Meenakshi Rethinam" userId="15ee4164152191a7" providerId="Windows Live" clId="Web-{93A8081C-3E31-40BA-8CB7-9B3FE12620FE}" dt="2026-08-06T06:14:51.820" v="48"/>
        <pc:sldMkLst>
          <pc:docMk/>
          <pc:sldMk cId="0" sldId="266"/>
        </pc:sldMkLst>
        <pc:spChg chg="mod">
          <ac:chgData name="Meenakshi Rethinam" userId="15ee4164152191a7" providerId="Windows Live" clId="Web-{93A8081C-3E31-40BA-8CB7-9B3FE12620FE}" dt="2026-08-06T05:58:05.212" v="11" actId="1076"/>
          <ac:spMkLst>
            <pc:docMk/>
            <pc:sldMk cId="0" sldId="266"/>
            <ac:spMk id="14" creationId="{00000000-0000-0000-0000-000000000000}"/>
          </ac:spMkLst>
        </pc:spChg>
        <pc:spChg chg="mod">
          <ac:chgData name="Meenakshi Rethinam" userId="15ee4164152191a7" providerId="Windows Live" clId="Web-{93A8081C-3E31-40BA-8CB7-9B3FE12620FE}" dt="2026-08-06T05:57:59.743" v="10" actId="1076"/>
          <ac:spMkLst>
            <pc:docMk/>
            <pc:sldMk cId="0" sldId="266"/>
            <ac:spMk id="27" creationId="{00000000-0000-0000-0000-000000000000}"/>
          </ac:spMkLst>
        </pc:spChg>
        <pc:spChg chg="mod">
          <ac:chgData name="Meenakshi Rethinam" userId="15ee4164152191a7" providerId="Windows Live" clId="Web-{93A8081C-3E31-40BA-8CB7-9B3FE12620FE}" dt="2026-08-06T05:58:25.525" v="13" actId="1076"/>
          <ac:spMkLst>
            <pc:docMk/>
            <pc:sldMk cId="0" sldId="266"/>
            <ac:spMk id="40" creationId="{00000000-0000-0000-0000-000000000000}"/>
          </ac:spMkLst>
        </pc:spChg>
        <pc:spChg chg="mod">
          <ac:chgData name="Meenakshi Rethinam" userId="15ee4164152191a7" providerId="Windows Live" clId="Web-{93A8081C-3E31-40BA-8CB7-9B3FE12620FE}" dt="2026-08-06T05:57:53.727" v="9" actId="1076"/>
          <ac:spMkLst>
            <pc:docMk/>
            <pc:sldMk cId="0" sldId="266"/>
            <ac:spMk id="55" creationId="{00000000-0000-0000-0000-000000000000}"/>
          </ac:spMkLst>
        </pc:spChg>
        <pc:spChg chg="mod">
          <ac:chgData name="Meenakshi Rethinam" userId="15ee4164152191a7" providerId="Windows Live" clId="Web-{93A8081C-3E31-40BA-8CB7-9B3FE12620FE}" dt="2026-08-06T05:57:27.492" v="8" actId="20577"/>
          <ac:spMkLst>
            <pc:docMk/>
            <pc:sldMk cId="0" sldId="266"/>
            <ac:spMk id="57" creationId="{00000000-0000-0000-0000-000000000000}"/>
          </ac:spMkLst>
        </pc:spChg>
      </pc:sldChg>
      <pc:sldChg chg="modNotes">
        <pc:chgData name="Meenakshi Rethinam" userId="15ee4164152191a7" providerId="Windows Live" clId="Web-{93A8081C-3E31-40BA-8CB7-9B3FE12620FE}" dt="2026-08-06T06:15:21.118" v="51"/>
        <pc:sldMkLst>
          <pc:docMk/>
          <pc:sldMk cId="0" sldId="267"/>
        </pc:sldMkLst>
      </pc:sldChg>
      <pc:sldChg chg="modNotes">
        <pc:chgData name="Meenakshi Rethinam" userId="15ee4164152191a7" providerId="Windows Live" clId="Web-{93A8081C-3E31-40BA-8CB7-9B3FE12620FE}" dt="2026-08-06T06:15:54.885" v="55"/>
        <pc:sldMkLst>
          <pc:docMk/>
          <pc:sldMk cId="0" sldId="268"/>
        </pc:sldMkLst>
      </pc:sldChg>
      <pc:sldChg chg="modNotes">
        <pc:chgData name="Meenakshi Rethinam" userId="15ee4164152191a7" providerId="Windows Live" clId="Web-{93A8081C-3E31-40BA-8CB7-9B3FE12620FE}" dt="2026-08-06T06:16:24.792" v="58"/>
        <pc:sldMkLst>
          <pc:docMk/>
          <pc:sldMk cId="0" sldId="269"/>
        </pc:sldMkLst>
      </pc:sldChg>
      <pc:sldChg chg="modNotes">
        <pc:chgData name="Meenakshi Rethinam" userId="15ee4164152191a7" providerId="Windows Live" clId="Web-{93A8081C-3E31-40BA-8CB7-9B3FE12620FE}" dt="2026-08-06T06:17:08.200" v="61"/>
        <pc:sldMkLst>
          <pc:docMk/>
          <pc:sldMk cId="0" sldId="270"/>
        </pc:sldMkLst>
      </pc:sldChg>
      <pc:sldChg chg="modSp modNotes">
        <pc:chgData name="Meenakshi Rethinam" userId="15ee4164152191a7" providerId="Windows Live" clId="Web-{93A8081C-3E31-40BA-8CB7-9B3FE12620FE}" dt="2026-08-06T06:25:25.152" v="138"/>
        <pc:sldMkLst>
          <pc:docMk/>
          <pc:sldMk cId="0" sldId="271"/>
        </pc:sldMkLst>
        <pc:spChg chg="mod">
          <ac:chgData name="Meenakshi Rethinam" userId="15ee4164152191a7" providerId="Windows Live" clId="Web-{93A8081C-3E31-40BA-8CB7-9B3FE12620FE}" dt="2026-08-06T06:18:24.155" v="66" actId="20577"/>
          <ac:spMkLst>
            <pc:docMk/>
            <pc:sldMk cId="0" sldId="271"/>
            <ac:spMk id="7" creationId="{00000000-0000-0000-0000-000000000000}"/>
          </ac:spMkLst>
        </pc:spChg>
        <pc:graphicFrameChg chg="mod modGraphic">
          <ac:chgData name="Meenakshi Rethinam" userId="15ee4164152191a7" providerId="Windows Live" clId="Web-{93A8081C-3E31-40BA-8CB7-9B3FE12620FE}" dt="2026-08-06T06:23:20.211" v="132"/>
          <ac:graphicFrameMkLst>
            <pc:docMk/>
            <pc:sldMk cId="0" sldId="271"/>
            <ac:graphicFrameMk id="17"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5BFB288A-0922-4371-BA64-7DDBAC2539B3}" type="datetimeFigureOut">
              <a:t>8/6/2026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2F499F1B-EA70-4DB5-A25F-6685E04BFE0A}" type="slidenum">
              <a:t>‹#›</a:t>
            </a:fld>
            <a:endParaRPr lang="en-US"/>
          </a:p>
        </p:txBody>
      </p:sp>
    </p:spTree>
    <p:extLst>
      <p:ext uri="{BB962C8B-B14F-4D97-AF65-F5344CB8AC3E}">
        <p14:creationId xmlns:p14="http://schemas.microsoft.com/office/powerpoint/2010/main" val="2595444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Introduce the central research question:</a:t>
            </a:r>
            <a:r>
              <a:rPr lang="en-US"/>
              <a:t> Can a quantum feature map, used as the input representation in a Physics-Informed Neural Network (PINN), reduce spectral bias and improve shock-region accuracy on the viscous Burgers' equation? Explain that the objective is not to claim an unconditional quantum advantage, but to understand how representation, optimization, and architectural choices influence learning behavior in a controlled setting. Introduce the authors, institution, and mention that this work was carried out for the </a:t>
            </a:r>
            <a:r>
              <a:rPr lang="en-US" b="1"/>
              <a:t>BQP WISER Summer Challenge 2026</a:t>
            </a:r>
            <a:r>
              <a:rPr lang="en-US"/>
              <a:t>. This presentation is intended as a mechanistic investigation rather than a product demonstration.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Explain the practical motivation for the study.</a:t>
            </a:r>
            <a:r>
              <a:rPr lang="en-US"/>
              <a:t> Computational Fluid Dynamics (CFD) is fundamental to applications such as aircraft design, hypersonic vehicles, spacecraft, gas turbines, and defense systems, where accurately modeling shock-wave phenomena is computationally demanding. Physics-Informed Neural Networks (PINNs) provide a mesh-free learning framework by embedding the governing partial differential equations directly into the training process. This motivates the central question of this work: </a:t>
            </a:r>
            <a:r>
              <a:rPr lang="en-US" b="1"/>
              <a:t>can incorporating a quantum computational layer meaningfully influence how a PINN learns complex physical phenomena?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State the research objective and frame the scope of the work.</a:t>
            </a:r>
            <a:r>
              <a:rPr lang="en-US"/>
              <a:t> Clarify that the purpose of this study is </a:t>
            </a:r>
            <a:r>
              <a:rPr lang="en-US" b="1"/>
              <a:t>not</a:t>
            </a:r>
            <a:r>
              <a:rPr lang="en-US"/>
              <a:t> to claim an unconditional quantum advantage over classical PINNs. Instead, the objective is to investigate how quantum feature-map design, optimization strategies, and architectural choices influence the learning behavior of Quantum-Assisted Physics-Informed Neural Networks (QAPINNs). Briefly introduce the four research questions explored in this work—representation capability, optimization behavior, architectural sensitivity, and convergence characteristics—and conclude by emphasizing that the study is designed as a </a:t>
            </a:r>
            <a:r>
              <a:rPr lang="en-US" b="1"/>
              <a:t>controlled experimental investigation</a:t>
            </a:r>
            <a:r>
              <a:rPr lang="en-US"/>
              <a:t> to identify which factors genuinely affect performance.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Introduce the hypotheses that guide the entire investigation.</a:t>
            </a:r>
            <a:r>
              <a:rPr lang="en-US"/>
              <a:t> Explain that, rather than testing a single claim of quantum advantage, this work evaluates eight falsifiable hypotheses covering four aspects of the proposed QAPINN: representation capability, quantum circuit resources, optimization strategy, and data sampling. Emphasize that these hypotheses define the experimental roadmap for the study, and that every subsequent experiment is designed to test one or more of them systematically. Mention that the outcomes of these hypotheses will be revisited collectively in the Discussion section, where the final conclusions are drawn from the experimental evidence.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Present the architectures of both models and highlight the key architectural difference investigated in this work.</a:t>
            </a:r>
            <a:r>
              <a:rPr lang="en-US"/>
              <a:t> Explain that Model A is a conventional Physics-Informed Neural Network consisting of a five-hidden-layer multilayer perceptron with 64 neurons per layer, tanh activation, and 16,897 trainable parameters. In contrast, Model B replaces the classical input projection with a quantum feature-mapping stage, meaning the spatial and temporal inputs are encoded directly into a parameterized quantum circuit before any classical processing occurs. Unlike hybrid approaches that first apply a classical preprocessing layer, this implementation uses </a:t>
            </a:r>
            <a:r>
              <a:rPr lang="en-US" b="1"/>
              <a:t>direct quantum encoding</a:t>
            </a:r>
            <a:r>
              <a:rPr lang="en-US"/>
              <a:t> as the first computational operation. This design choice was intentionally investigated to study how the input representation itself influences the learning behavior of a Quantum-Assisted Physics-Informed Neural Network.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Explain how the controlled experimental design was maintained throughout the study.</a:t>
            </a:r>
            <a:r>
              <a:rPr lang="en-US"/>
              <a:t> Both models follow the same training pipeline: the viscous Burgers' equation defines the physics, Latin Hypercube Sampling generates the collocation points, the composite loss combines PDE, initial-condition, and boundary-condition constraints, optimization uses the standard Adam followed by L-BFGS schedule, and performance is evaluated against an independent numerical reference solution. The only intentional difference between the two models is the input representation stage. Model A processes the spatial and temporal coordinates directly through a classical neural network, whereas Model B first maps the inputs into a parameterized quantum circuit using quantum feature encoding before the classical readout network. All remaining components—including sampling, physics constraints, optimization strategy, evaluation protocol, and visualization—are shared between both models, ensuring that the comparison isolates the effect of the quantum representation itself.</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Present the detailed architecture of the implemented Quantum-Assisted PINN.</a:t>
            </a:r>
            <a:r>
              <a:rPr lang="en-US" dirty="0"/>
              <a:t> Explain that the left side illustrates the complete data flow used in the implementation: the spatial and temporal inputs are encoded directly into a four-qubit parameterized quantum circuit using the selected quantum feature map, followed by variational quantum layers, expectation-value measurements, and a lightweight classical readout network that predicts the solution u(</a:t>
            </a:r>
            <a:r>
              <a:rPr lang="en-US" dirty="0" err="1"/>
              <a:t>x,t</a:t>
            </a:r>
            <a:r>
              <a:rPr lang="en-US" dirty="0"/>
              <a:t>)u(</a:t>
            </a:r>
            <a:r>
              <a:rPr lang="en-US" dirty="0" err="1"/>
              <a:t>x,t</a:t>
            </a:r>
            <a:r>
              <a:rPr lang="en-US" dirty="0"/>
              <a:t>)u(</a:t>
            </a:r>
            <a:r>
              <a:rPr lang="en-US" dirty="0" err="1"/>
              <a:t>x,t</a:t>
            </a:r>
            <a:r>
              <a:rPr lang="en-US" dirty="0"/>
              <a:t>). The right side expands the quantum circuit itself, highlighting the default configuration used throughout the baseline experiments—</a:t>
            </a:r>
            <a:r>
              <a:rPr lang="en-US" b="1" dirty="0"/>
              <a:t>angle re-uploading encoding</a:t>
            </a:r>
            <a:r>
              <a:rPr lang="en-US" dirty="0"/>
              <a:t>, </a:t>
            </a:r>
            <a:r>
              <a:rPr lang="en-US" b="1" dirty="0"/>
              <a:t>circular entanglement</a:t>
            </a:r>
            <a:r>
              <a:rPr lang="en-US" dirty="0"/>
              <a:t>, </a:t>
            </a:r>
            <a:r>
              <a:rPr lang="en-US" b="1" dirty="0"/>
              <a:t>four qubits</a:t>
            </a:r>
            <a:r>
              <a:rPr lang="en-US" dirty="0"/>
              <a:t>, and </a:t>
            </a:r>
            <a:r>
              <a:rPr lang="en-US" b="1" dirty="0"/>
              <a:t>three variational layers</a:t>
            </a:r>
            <a:r>
              <a:rPr lang="en-US" dirty="0"/>
              <a:t>. Emphasize that these settings form the baseline configuration, while the ablation study systematically varies one architectural component at a time. The </a:t>
            </a:r>
            <a:r>
              <a:rPr lang="en-US" b="1" dirty="0"/>
              <a:t>85 trainable parameters</a:t>
            </a:r>
            <a:r>
              <a:rPr lang="en-US" dirty="0"/>
              <a:t> are distributed across the variational quantum circuit and the classical readout network, whereas the quantum encoding stage itself remains fixed and is not trainable.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Introduce the experimental design used for the ablation study.</a:t>
            </a:r>
            <a:r>
              <a:rPr lang="en-US"/>
              <a:t> Explain that the table summarizes the baseline configuration together with the range explored for each experimental factor. During each ablation experiment, only one variable is changed while all remaining settings are held constant, ensuring a controlled comparison. The investigated factors include quantum encoding strategy, qubit count, circuit depth, entanglement pattern, optimization schedule, and collocation density. For the qubit, depth, and entanglement studies, a reduced training budget of </a:t>
            </a:r>
            <a:r>
              <a:rPr lang="en-US" b="1"/>
              <a:t>800 collocation points, 300 Adam epochs, and no L-BFGS refinement</a:t>
            </a:r>
            <a:r>
              <a:rPr lang="en-US"/>
              <a:t> was adopted to make the twelve-run experimental sweep computationally feasible. Emphasize that this reduced-budget setting is explicitly considered when interpreting the results and motivates the matched-budget validation presented later.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Introduce the evaluation metrics used throughout the study and explain why multiple metrics are necessary.</a:t>
            </a:r>
            <a:r>
              <a:rPr lang="en-US" dirty="0"/>
              <a:t> Clarify that these are the exact quantitative metrics computed for every experiment in this project. No single metric is sufficient to evaluate a Physics-Informed Neural Network: a model may reduce the PDE residual while still producing an inaccurate </a:t>
            </a:r>
            <a:r>
              <a:rPr lang="en-US" dirty="0" err="1"/>
              <a:t>solution, or</a:t>
            </a:r>
            <a:r>
              <a:rPr lang="en-US" dirty="0"/>
              <a:t> reproduce the low-frequency components of the solution while failing to capture the sharp shock region accurately. Therefore, global and shock-region errors, PDE residual statistics, Fourier-spectrum error, and model complexity are evaluated together to provide a comprehensive assessment. Emphasize that the </a:t>
            </a:r>
            <a:r>
              <a:rPr lang="en-US" b="1" dirty="0"/>
              <a:t>Fourier-spectrum error</a:t>
            </a:r>
            <a:r>
              <a:rPr lang="en-US" dirty="0"/>
              <a:t> directly tests the central hypothesis of this work by measuring how effectively different quantum feature representations capture higher-frequency solution components associated with spectral bias.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Explain the progression of the research as it was actually conducted.</a:t>
            </a:r>
            <a:r>
              <a:rPr lang="en-US"/>
              <a:t> Emphasize that this workflow reflects the chronological development of the project, with each experiment motivated by the findings of the previous stage rather than following a predetermined sequence. The initial comparison between the Classical PINN and the QAPINN revealed a near-trivial solution behavior in the baseline quantum model, motivating a systematic ablation study to identify the underlying cause. The ablation results identified quantum encoding as the most influential architectural factor, leading to a controlled investigation of the interaction between encoding strategy and optimization. Additional experiments then evaluated the effects of collocation density and matched training budgets to rule out potential confounding factors. Finally, the evidence from all experimental stages was integrated to develop the overall conclusions regarding representation, optimization, and learning behavior in Quantum-Assisted Physics-Informed Neural Networks.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Present the results of the architectural ablation study.</a:t>
            </a:r>
            <a:r>
              <a:rPr lang="en-US"/>
              <a:t> Explain that each panel shows the global relative L2 error for one experimental factor using a common vertical scale, allowing direct comparison across all ablation experiments. The results demonstrate that varying the </a:t>
            </a:r>
            <a:r>
              <a:rPr lang="en-US" b="1"/>
              <a:t>number of qubits</a:t>
            </a:r>
            <a:r>
              <a:rPr lang="en-US"/>
              <a:t>, </a:t>
            </a:r>
            <a:r>
              <a:rPr lang="en-US" b="1"/>
              <a:t>circuit depth</a:t>
            </a:r>
            <a:r>
              <a:rPr lang="en-US"/>
              <a:t>, or </a:t>
            </a:r>
            <a:r>
              <a:rPr lang="en-US" b="1"/>
              <a:t>entanglement pattern</a:t>
            </a:r>
            <a:r>
              <a:rPr lang="en-US"/>
              <a:t> produces only minor changes, with all configurations remaining close to the same high-error region, indicating similar near-trivial solution behavior. In contrast, the </a:t>
            </a:r>
            <a:r>
              <a:rPr lang="en-US" b="1"/>
              <a:t>encoding strategy</a:t>
            </a:r>
            <a:r>
              <a:rPr lang="en-US"/>
              <a:t> produces a substantially different outcome. </a:t>
            </a:r>
            <a:r>
              <a:rPr lang="en-US" b="1"/>
              <a:t>Amplitude encoding</a:t>
            </a:r>
            <a:r>
              <a:rPr lang="en-US"/>
              <a:t> achieves a global relative L2 error of approximately </a:t>
            </a:r>
            <a:r>
              <a:rPr lang="en-US" b="1"/>
              <a:t>0.80</a:t>
            </a:r>
            <a:r>
              <a:rPr lang="en-US"/>
              <a:t> under the reduced training budget, whereas the angle-based encoding methods remain close to </a:t>
            </a:r>
            <a:r>
              <a:rPr lang="en-US" b="1"/>
              <a:t>1.0</a:t>
            </a:r>
            <a:r>
              <a:rPr lang="en-US"/>
              <a:t>. This identifies the </a:t>
            </a:r>
            <a:r>
              <a:rPr lang="en-US" b="1"/>
              <a:t>quantum feature representation</a:t>
            </a:r>
            <a:r>
              <a:rPr lang="en-US"/>
              <a:t> as the dominant architectural factor influencing performance and provides the strongest evidence supporting the representation hypothesis investigated in this work.</a:t>
            </a:r>
          </a:p>
          <a:p>
            <a:endParaRPr lang="en-US"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Present the key finding of this study: the controlled interaction between quantum representation and optimization.</a:t>
            </a:r>
            <a:r>
              <a:rPr lang="en-US"/>
              <a:t> Explain that this experiment evaluates a fully controlled </a:t>
            </a:r>
            <a:r>
              <a:rPr lang="en-US" b="1"/>
              <a:t>2 × 2 comparison</a:t>
            </a:r>
            <a:r>
              <a:rPr lang="en-US"/>
              <a:t>, where the encoding strategy and optimization method are varied while all other training conditions—including </a:t>
            </a:r>
            <a:r>
              <a:rPr lang="en-US" b="1"/>
              <a:t>800 collocation points, 300 Adam epochs, and 100 L-BFGS iterations</a:t>
            </a:r>
            <a:r>
              <a:rPr lang="en-US"/>
              <a:t>—remain identical. Under the same computational budget, </a:t>
            </a:r>
            <a:r>
              <a:rPr lang="en-US" b="1"/>
              <a:t>L-BFGS provides only a marginal improvement for angle re-uploading encoding</a:t>
            </a:r>
            <a:r>
              <a:rPr lang="en-US"/>
              <a:t>, with the global relative L2 error changing from </a:t>
            </a:r>
            <a:r>
              <a:rPr lang="en-US" b="1"/>
              <a:t>1.0004 to 0.9835</a:t>
            </a:r>
            <a:r>
              <a:rPr lang="en-US"/>
              <a:t> and the shock-region error remaining essentially unchanged. In contrast, </a:t>
            </a:r>
            <a:r>
              <a:rPr lang="en-US" b="1"/>
              <a:t>amplitude encoding benefits substantially from L-BFGS refinement</a:t>
            </a:r>
            <a:r>
              <a:rPr lang="en-US"/>
              <a:t>, reducing the global relative L2 error from </a:t>
            </a:r>
            <a:r>
              <a:rPr lang="en-US" b="1"/>
              <a:t>0.7996 to 0.5547</a:t>
            </a:r>
            <a:r>
              <a:rPr lang="en-US"/>
              <a:t>, together with consistent improvements across the remaining evaluation metrics. This demonstrates that optimization effectiveness depends strongly on the chosen quantum representation, identifying a clear interaction between </a:t>
            </a:r>
            <a:r>
              <a:rPr lang="en-US" b="1"/>
              <a:t>feature encoding</a:t>
            </a:r>
            <a:r>
              <a:rPr lang="en-US"/>
              <a:t> and </a:t>
            </a:r>
            <a:r>
              <a:rPr lang="en-US" b="1"/>
              <a:t>optimization strategy</a:t>
            </a:r>
            <a:r>
              <a:rPr lang="en-US"/>
              <a:t>, rather than either factor acting independently.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Discuss the most important insights gained from the experimental results, including findings that differed from the initial expectations.</a:t>
            </a:r>
            <a:r>
              <a:rPr lang="en-US"/>
              <a:t> First, increasing the collocation density from </a:t>
            </a:r>
            <a:r>
              <a:rPr lang="en-US" b="1"/>
              <a:t>800 to 4,000 points</a:t>
            </a:r>
            <a:r>
              <a:rPr lang="en-US"/>
              <a:t> produced only minor changes in prediction accuracy, indicating that data sampling was not the primary limitation under the evaluated conditions. Second, lower PDE residuals did not consistently correspond to lower prediction errors across the ablation experiments, demonstrating that satisfying the governing equation more closely does not necessarily guarantee better solution accuracy. Finally, an interesting open research question emerged from the encoding experiments. While conventional expectations in quantum machine learning often favor </a:t>
            </a:r>
            <a:r>
              <a:rPr lang="en-US" b="1"/>
              <a:t>angle-based feature encoding</a:t>
            </a:r>
            <a:r>
              <a:rPr lang="en-US"/>
              <a:t>, </a:t>
            </a:r>
            <a:r>
              <a:rPr lang="en-US" b="1"/>
              <a:t>amplitude encoding</a:t>
            </a:r>
            <a:r>
              <a:rPr lang="en-US"/>
              <a:t> consistently produced the best performance throughout this study. Rather than treating this as a contradiction, the result is presented as an opportunity for future investigation into how different quantum feature representations influence learning behavior in Physics-Informed Neural Networks.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Summarize the outcomes of the eight research hypotheses and conclude the experimental investigation.</a:t>
            </a:r>
            <a:r>
              <a:rPr lang="en-US"/>
              <a:t> Explain that the experimental evidence strongly supports the hypotheses related to </a:t>
            </a:r>
            <a:r>
              <a:rPr lang="en-US" b="1"/>
              <a:t>quantum feature representation</a:t>
            </a:r>
            <a:r>
              <a:rPr lang="en-US"/>
              <a:t> and the </a:t>
            </a:r>
            <a:r>
              <a:rPr lang="en-US" b="1"/>
              <a:t>interaction between representation and optimization</a:t>
            </a:r>
            <a:r>
              <a:rPr lang="en-US"/>
              <a:t>, identifying these as the most influential factors affecting QAPINN performance. In contrast, varying the </a:t>
            </a:r>
            <a:r>
              <a:rPr lang="en-US" b="1"/>
              <a:t>number of qubits</a:t>
            </a:r>
            <a:r>
              <a:rPr lang="en-US"/>
              <a:t>, </a:t>
            </a:r>
            <a:r>
              <a:rPr lang="en-US" b="1"/>
              <a:t>circuit depth</a:t>
            </a:r>
            <a:r>
              <a:rPr lang="en-US"/>
              <a:t>, </a:t>
            </a:r>
            <a:r>
              <a:rPr lang="en-US" b="1"/>
              <a:t>entanglement pattern</a:t>
            </a:r>
            <a:r>
              <a:rPr lang="en-US"/>
              <a:t>, and </a:t>
            </a:r>
            <a:r>
              <a:rPr lang="en-US" b="1"/>
              <a:t>collocation density</a:t>
            </a:r>
            <a:r>
              <a:rPr lang="en-US"/>
              <a:t> produced only limited changes in prediction accuracy under the evaluated conditions, providing no evidence that these factors alone significantly improve performance. The study also shows that a lower PDE residual does not consistently correspond to lower prediction error, indicating that the residual should not be used as the sole indicator of model accuracy. Finally, the comparison with the classical baseline demonstrates that, although the proposed QAPINN achieved substantial improvements through architectural refinement and optimization, the </a:t>
            </a:r>
            <a:r>
              <a:rPr lang="en-US" b="1"/>
              <a:t>Classical PINN remained the most accurate model</a:t>
            </a:r>
            <a:r>
              <a:rPr lang="en-US"/>
              <a:t> in this study. Overall, the findings shift the focus from asking whether quantum models are universally superior to understanding </a:t>
            </a:r>
            <a:r>
              <a:rPr lang="en-US" b="1"/>
              <a:t>which architectural and optimization choices genuinely influence learning behavior in Quantum-Assisted Physics-Informed Neural Networks.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Conclude the study by directly answering the central research question.</a:t>
            </a:r>
            <a:r>
              <a:rPr lang="en-US"/>
              <a:t> Explain that the experimental evidence shows </a:t>
            </a:r>
            <a:r>
              <a:rPr lang="en-US" b="1"/>
              <a:t>quantum feature representation and optimization strategy significantly influence the learning behavior of Quantum-Assisted Physics-Informed Neural Networks</a:t>
            </a:r>
            <a:r>
              <a:rPr lang="en-US"/>
              <a:t>, with amplitude encoding and L-BFGS refinement substantially improving the baseline QAPINN without increasing the model complexity. These architectural refinements reduced the performance gap between the quantum and classical models considerably; however, the </a:t>
            </a:r>
            <a:r>
              <a:rPr lang="en-US" b="1"/>
              <a:t>Classical PINN consistently remained the most accurate model</a:t>
            </a:r>
            <a:r>
              <a:rPr lang="en-US"/>
              <a:t> across all evaluation metrics under the conditions investigated in this work. Emphasize that the principal contribution of this research is </a:t>
            </a:r>
            <a:r>
              <a:rPr lang="en-US" b="1"/>
              <a:t>not the demonstration of a universal quantum advantage</a:t>
            </a:r>
            <a:r>
              <a:rPr lang="en-US"/>
              <a:t>, but a systematic and reproducible investigation identifying which architectural and optimization choices genuinely affect QAPINN performance. Conclude with the key takeaway: </a:t>
            </a:r>
            <a:r>
              <a:rPr lang="en-US" b="1"/>
              <a:t>understanding how quantum representations interact with optimization provides a stronger foundation for future Quantum-Assisted PINNs than simply pursuing larger quantum circuits or additional computational resources.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Conclude with the reproducibility information supporting this research.</a:t>
            </a:r>
            <a:r>
              <a:rPr lang="en-US" dirty="0"/>
              <a:t> Explain that all experiments were conducted using a fixed random seed, documented software versions, and a consistent quantum simulation environment to ensure that the reported results can be independently reproduced. The computational environment—including Python, </a:t>
            </a:r>
            <a:r>
              <a:rPr lang="en-US" dirty="0" err="1"/>
              <a:t>PyTorch</a:t>
            </a:r>
            <a:r>
              <a:rPr lang="en-US" dirty="0"/>
              <a:t>, PennyLane, operating system, processor specifications, and the </a:t>
            </a:r>
            <a:r>
              <a:rPr lang="en-US" dirty="0" err="1"/>
              <a:t>default.qubit</a:t>
            </a:r>
            <a:r>
              <a:rPr lang="en-US" dirty="0"/>
              <a:t> simulator backend—is fully documented, together with the public GitHub repository containing the complete implementation, trained models, experimental configurations, and supporting materials. Emphasize that reproducibility was treated as an integral part of the research methodology, enabling every experiment presented in this study to be independently verified and extended in future work.</a:t>
            </a:r>
            <a:br>
              <a:rPr lang="en-US" dirty="0">
                <a:cs typeface="+mn-lt"/>
              </a:rPr>
            </a:br>
            <a:r>
              <a:rPr lang="en-US" b="1" dirty="0"/>
              <a:t>Thank you for your attention. We welcome your questions and feedback.</a:t>
            </a:r>
            <a:endParaRPr lang="en-US" b="1" dirty="0">
              <a:ea typeface="Calibri"/>
              <a:cs typeface="Calibri"/>
            </a:endParaRP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hyperlink" Target="https://github.com/meenakshi-re18/qapinn-bqp-challenge" TargetMode="Externa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1C3A"/>
        </a:solidFill>
        <a:effectLst/>
      </p:bgPr>
    </p:bg>
    <p:spTree>
      <p:nvGrpSpPr>
        <p:cNvPr id="1" name=""/>
        <p:cNvGrpSpPr/>
        <p:nvPr/>
      </p:nvGrpSpPr>
      <p:grpSpPr>
        <a:xfrm>
          <a:off x="0" y="0"/>
          <a:ext cx="0" cy="0"/>
          <a:chOff x="0" y="0"/>
          <a:chExt cx="0" cy="0"/>
        </a:xfrm>
      </p:grpSpPr>
      <p:sp>
        <p:nvSpPr>
          <p:cNvPr id="2" name="Shape 0"/>
          <p:cNvSpPr/>
          <p:nvPr/>
        </p:nvSpPr>
        <p:spPr>
          <a:xfrm rot="1440000">
            <a:off x="7863840" y="-1371600"/>
            <a:ext cx="146304" cy="10058400"/>
          </a:xfrm>
          <a:prstGeom prst="rect">
            <a:avLst/>
          </a:prstGeom>
          <a:solidFill>
            <a:srgbClr val="5B8DEF">
              <a:alpha val="12000"/>
            </a:srgbClr>
          </a:solidFill>
          <a:ln/>
        </p:spPr>
      </p:sp>
      <p:sp>
        <p:nvSpPr>
          <p:cNvPr id="3" name="Shape 1"/>
          <p:cNvSpPr/>
          <p:nvPr/>
        </p:nvSpPr>
        <p:spPr>
          <a:xfrm rot="1440000">
            <a:off x="8247888" y="-1371600"/>
            <a:ext cx="146304" cy="10058400"/>
          </a:xfrm>
          <a:prstGeom prst="rect">
            <a:avLst/>
          </a:prstGeom>
          <a:solidFill>
            <a:srgbClr val="22D3EE">
              <a:alpha val="13000"/>
            </a:srgbClr>
          </a:solidFill>
          <a:ln/>
        </p:spPr>
      </p:sp>
      <p:sp>
        <p:nvSpPr>
          <p:cNvPr id="4" name="Shape 2"/>
          <p:cNvSpPr/>
          <p:nvPr/>
        </p:nvSpPr>
        <p:spPr>
          <a:xfrm rot="1440000">
            <a:off x="8631936" y="-1371600"/>
            <a:ext cx="146304" cy="10058400"/>
          </a:xfrm>
          <a:prstGeom prst="rect">
            <a:avLst/>
          </a:prstGeom>
          <a:solidFill>
            <a:srgbClr val="5B8DEF">
              <a:alpha val="14000"/>
            </a:srgbClr>
          </a:solidFill>
          <a:ln/>
        </p:spPr>
      </p:sp>
      <p:sp>
        <p:nvSpPr>
          <p:cNvPr id="5" name="Shape 3"/>
          <p:cNvSpPr/>
          <p:nvPr/>
        </p:nvSpPr>
        <p:spPr>
          <a:xfrm rot="1440000">
            <a:off x="9015984" y="-1371600"/>
            <a:ext cx="146304" cy="10058400"/>
          </a:xfrm>
          <a:prstGeom prst="rect">
            <a:avLst/>
          </a:prstGeom>
          <a:solidFill>
            <a:srgbClr val="22D3EE">
              <a:alpha val="15000"/>
            </a:srgbClr>
          </a:solidFill>
          <a:ln/>
        </p:spPr>
      </p:sp>
      <p:sp>
        <p:nvSpPr>
          <p:cNvPr id="6" name="Shape 4"/>
          <p:cNvSpPr/>
          <p:nvPr/>
        </p:nvSpPr>
        <p:spPr>
          <a:xfrm rot="1440000">
            <a:off x="9400032" y="-1371600"/>
            <a:ext cx="146304" cy="10058400"/>
          </a:xfrm>
          <a:prstGeom prst="rect">
            <a:avLst/>
          </a:prstGeom>
          <a:solidFill>
            <a:srgbClr val="5B8DEF">
              <a:alpha val="16000"/>
            </a:srgbClr>
          </a:solidFill>
          <a:ln/>
        </p:spPr>
      </p:sp>
      <p:sp>
        <p:nvSpPr>
          <p:cNvPr id="7" name="Shape 5"/>
          <p:cNvSpPr/>
          <p:nvPr/>
        </p:nvSpPr>
        <p:spPr>
          <a:xfrm rot="1440000">
            <a:off x="9784080" y="-1371600"/>
            <a:ext cx="146304" cy="10058400"/>
          </a:xfrm>
          <a:prstGeom prst="rect">
            <a:avLst/>
          </a:prstGeom>
          <a:solidFill>
            <a:srgbClr val="22D3EE">
              <a:alpha val="17000"/>
            </a:srgbClr>
          </a:solidFill>
          <a:ln/>
        </p:spPr>
      </p:sp>
      <p:sp>
        <p:nvSpPr>
          <p:cNvPr id="8" name="Shape 6"/>
          <p:cNvSpPr/>
          <p:nvPr/>
        </p:nvSpPr>
        <p:spPr>
          <a:xfrm rot="1440000">
            <a:off x="10168128" y="-1371600"/>
            <a:ext cx="146304" cy="10058400"/>
          </a:xfrm>
          <a:prstGeom prst="rect">
            <a:avLst/>
          </a:prstGeom>
          <a:solidFill>
            <a:srgbClr val="5B8DEF">
              <a:alpha val="18000"/>
            </a:srgbClr>
          </a:solidFill>
          <a:ln/>
        </p:spPr>
      </p:sp>
      <p:sp>
        <p:nvSpPr>
          <p:cNvPr id="9" name="Shape 7"/>
          <p:cNvSpPr/>
          <p:nvPr/>
        </p:nvSpPr>
        <p:spPr>
          <a:xfrm rot="1440000">
            <a:off x="10552176" y="-1371600"/>
            <a:ext cx="146304" cy="10058400"/>
          </a:xfrm>
          <a:prstGeom prst="rect">
            <a:avLst/>
          </a:prstGeom>
          <a:solidFill>
            <a:srgbClr val="22D3EE">
              <a:alpha val="19000"/>
            </a:srgbClr>
          </a:solidFill>
          <a:ln/>
        </p:spPr>
      </p:sp>
      <p:sp>
        <p:nvSpPr>
          <p:cNvPr id="10" name="Shape 8"/>
          <p:cNvSpPr/>
          <p:nvPr/>
        </p:nvSpPr>
        <p:spPr>
          <a:xfrm rot="1440000">
            <a:off x="10936224" y="-1371600"/>
            <a:ext cx="146304" cy="10058400"/>
          </a:xfrm>
          <a:prstGeom prst="rect">
            <a:avLst/>
          </a:prstGeom>
          <a:solidFill>
            <a:srgbClr val="5B8DEF">
              <a:alpha val="20000"/>
            </a:srgbClr>
          </a:solidFill>
          <a:ln/>
        </p:spPr>
      </p:sp>
      <p:sp>
        <p:nvSpPr>
          <p:cNvPr id="11" name="Shape 9"/>
          <p:cNvSpPr/>
          <p:nvPr/>
        </p:nvSpPr>
        <p:spPr>
          <a:xfrm>
            <a:off x="0" y="0"/>
            <a:ext cx="12191695" cy="6858000"/>
          </a:xfrm>
          <a:prstGeom prst="rect">
            <a:avLst/>
          </a:prstGeom>
          <a:solidFill>
            <a:srgbClr val="081C3A">
              <a:alpha val="72000"/>
            </a:srgbClr>
          </a:solidFill>
          <a:ln/>
        </p:spPr>
      </p:sp>
      <p:sp>
        <p:nvSpPr>
          <p:cNvPr id="12" name="Shape 10"/>
          <p:cNvSpPr/>
          <p:nvPr/>
        </p:nvSpPr>
        <p:spPr>
          <a:xfrm>
            <a:off x="502920" y="640080"/>
            <a:ext cx="3246120" cy="365760"/>
          </a:xfrm>
          <a:prstGeom prst="roundRect">
            <a:avLst>
              <a:gd name="adj" fmla="val 50000"/>
            </a:avLst>
          </a:prstGeom>
          <a:solidFill>
            <a:srgbClr val="0F3A5F"/>
          </a:solidFill>
          <a:ln w="12700">
            <a:solidFill>
              <a:srgbClr val="22D3EE"/>
            </a:solidFill>
            <a:prstDash val="solid"/>
          </a:ln>
        </p:spPr>
      </p:sp>
      <p:sp>
        <p:nvSpPr>
          <p:cNvPr id="13" name="Text 11"/>
          <p:cNvSpPr/>
          <p:nvPr/>
        </p:nvSpPr>
        <p:spPr>
          <a:xfrm>
            <a:off x="502920" y="640080"/>
            <a:ext cx="3246120" cy="365760"/>
          </a:xfrm>
          <a:prstGeom prst="rect">
            <a:avLst/>
          </a:prstGeom>
          <a:noFill/>
          <a:ln/>
        </p:spPr>
        <p:txBody>
          <a:bodyPr wrap="square" rtlCol="0" anchor="ctr"/>
          <a:lstStyle/>
          <a:p>
            <a:pPr marL="0" indent="0" algn="ctr">
              <a:buNone/>
            </a:pPr>
            <a:r>
              <a:rPr lang="en-US" sz="1050" b="1" kern="0" spc="100" dirty="0">
                <a:solidFill>
                  <a:srgbClr val="67E8F9"/>
                </a:solidFill>
                <a:latin typeface="Calibri" pitchFamily="34" charset="0"/>
                <a:ea typeface="Calibri" pitchFamily="34" charset="-122"/>
                <a:cs typeface="Calibri" pitchFamily="34" charset="-120"/>
              </a:rPr>
              <a:t>BQP · WISER SUMMER CHALLENGE 2026</a:t>
            </a:r>
            <a:endParaRPr lang="en-US" sz="1050" dirty="0"/>
          </a:p>
        </p:txBody>
      </p:sp>
      <p:sp>
        <p:nvSpPr>
          <p:cNvPr id="14" name="Text 12"/>
          <p:cNvSpPr/>
          <p:nvPr/>
        </p:nvSpPr>
        <p:spPr>
          <a:xfrm>
            <a:off x="502920" y="1737360"/>
            <a:ext cx="8778240" cy="2286000"/>
          </a:xfrm>
          <a:prstGeom prst="rect">
            <a:avLst/>
          </a:prstGeom>
          <a:noFill/>
          <a:ln/>
        </p:spPr>
        <p:txBody>
          <a:bodyPr wrap="square" rtlCol="0" anchor="ctr"/>
          <a:lstStyle/>
          <a:p>
            <a:pPr marL="0" indent="0">
              <a:lnSpc>
                <a:spcPct val="108000"/>
              </a:lnSpc>
              <a:buNone/>
            </a:pPr>
            <a:r>
              <a:rPr lang="en-US" sz="3400" b="1" dirty="0">
                <a:solidFill>
                  <a:srgbClr val="FFFFFF"/>
                </a:solidFill>
                <a:latin typeface="Arial" pitchFamily="34" charset="0"/>
                <a:ea typeface="Arial" pitchFamily="34" charset="-122"/>
                <a:cs typeface="Arial" pitchFamily="34" charset="-120"/>
              </a:rPr>
              <a:t>Quantum-Assisted Physics-Informed</a:t>
            </a:r>
            <a:endParaRPr lang="en-US" sz="3400" dirty="0"/>
          </a:p>
          <a:p>
            <a:pPr marL="0" indent="0">
              <a:lnSpc>
                <a:spcPct val="108000"/>
              </a:lnSpc>
              <a:buNone/>
            </a:pPr>
            <a:r>
              <a:rPr lang="en-US" sz="3400" b="1" dirty="0">
                <a:solidFill>
                  <a:srgbClr val="FFFFFF"/>
                </a:solidFill>
                <a:latin typeface="Arial" pitchFamily="34" charset="0"/>
                <a:ea typeface="Arial" pitchFamily="34" charset="-122"/>
                <a:cs typeface="Arial" pitchFamily="34" charset="-120"/>
              </a:rPr>
              <a:t>Neural Networks for Aerospace</a:t>
            </a:r>
            <a:endParaRPr lang="en-US" sz="3400" dirty="0"/>
          </a:p>
          <a:p>
            <a:pPr marL="0" indent="0">
              <a:lnSpc>
                <a:spcPct val="108000"/>
              </a:lnSpc>
              <a:buNone/>
            </a:pPr>
            <a:r>
              <a:rPr lang="en-US" sz="3400" b="1" dirty="0">
                <a:solidFill>
                  <a:srgbClr val="FFFFFF"/>
                </a:solidFill>
                <a:latin typeface="Arial" pitchFamily="34" charset="0"/>
                <a:ea typeface="Arial" pitchFamily="34" charset="-122"/>
                <a:cs typeface="Arial" pitchFamily="34" charset="-120"/>
              </a:rPr>
              <a:t>Shock-Wave Modeling</a:t>
            </a:r>
            <a:endParaRPr lang="en-US" sz="3400" dirty="0"/>
          </a:p>
        </p:txBody>
      </p:sp>
      <p:sp>
        <p:nvSpPr>
          <p:cNvPr id="15" name="Text 13"/>
          <p:cNvSpPr/>
          <p:nvPr/>
        </p:nvSpPr>
        <p:spPr>
          <a:xfrm>
            <a:off x="502920" y="4114800"/>
            <a:ext cx="8595360" cy="502920"/>
          </a:xfrm>
          <a:prstGeom prst="rect">
            <a:avLst/>
          </a:prstGeom>
          <a:noFill/>
          <a:ln/>
        </p:spPr>
        <p:txBody>
          <a:bodyPr wrap="square" rtlCol="0" anchor="ctr"/>
          <a:lstStyle/>
          <a:p>
            <a:pPr marL="0" indent="0">
              <a:buNone/>
            </a:pPr>
            <a:r>
              <a:rPr lang="en-US" sz="1600" i="1" dirty="0">
                <a:solidFill>
                  <a:srgbClr val="67E8F9"/>
                </a:solidFill>
                <a:latin typeface="Calibri" pitchFamily="34" charset="0"/>
                <a:ea typeface="Calibri" pitchFamily="34" charset="-122"/>
                <a:cs typeface="Calibri" pitchFamily="34" charset="-120"/>
              </a:rPr>
              <a:t>A Mechanistic Investigation of Representation, Optimization and Spectral Bias</a:t>
            </a:r>
            <a:endParaRPr lang="en-US" sz="1600" dirty="0"/>
          </a:p>
        </p:txBody>
      </p:sp>
      <p:sp>
        <p:nvSpPr>
          <p:cNvPr id="16" name="Shape 14"/>
          <p:cNvSpPr/>
          <p:nvPr/>
        </p:nvSpPr>
        <p:spPr>
          <a:xfrm>
            <a:off x="502920" y="4983480"/>
            <a:ext cx="9052560" cy="1371600"/>
          </a:xfrm>
          <a:prstGeom prst="roundRect">
            <a:avLst>
              <a:gd name="adj" fmla="val 5333"/>
            </a:avLst>
          </a:prstGeom>
          <a:solidFill>
            <a:srgbClr val="0A2247"/>
          </a:solidFill>
          <a:ln w="12700">
            <a:solidFill>
              <a:srgbClr val="1E3F6B"/>
            </a:solidFill>
            <a:prstDash val="solid"/>
          </a:ln>
        </p:spPr>
      </p:sp>
      <p:sp>
        <p:nvSpPr>
          <p:cNvPr id="17" name="Text 15"/>
          <p:cNvSpPr/>
          <p:nvPr/>
        </p:nvSpPr>
        <p:spPr>
          <a:xfrm>
            <a:off x="777240" y="5138928"/>
            <a:ext cx="8503920" cy="1051560"/>
          </a:xfrm>
          <a:prstGeom prst="rect">
            <a:avLst/>
          </a:prstGeom>
          <a:noFill/>
          <a:ln/>
        </p:spPr>
        <p:txBody>
          <a:bodyPr wrap="square" rtlCol="0" anchor="ctr"/>
          <a:lstStyle/>
          <a:p>
            <a:pPr marL="0" indent="0">
              <a:lnSpc>
                <a:spcPct val="135000"/>
              </a:lnSpc>
              <a:buNone/>
            </a:pPr>
            <a:r>
              <a:rPr lang="en-US" sz="1250" b="1" dirty="0">
                <a:solidFill>
                  <a:srgbClr val="22D3EE"/>
                </a:solidFill>
                <a:latin typeface="Calibri" pitchFamily="34" charset="0"/>
                <a:ea typeface="Calibri" pitchFamily="34" charset="-122"/>
                <a:cs typeface="Calibri" pitchFamily="34" charset="-120"/>
              </a:rPr>
              <a:t>Authors:  </a:t>
            </a:r>
            <a:r>
              <a:rPr lang="en-US" sz="1250" dirty="0">
                <a:solidFill>
                  <a:srgbClr val="FFFFFF"/>
                </a:solidFill>
                <a:latin typeface="Calibri" pitchFamily="34" charset="0"/>
                <a:ea typeface="Calibri" pitchFamily="34" charset="-122"/>
                <a:cs typeface="Calibri" pitchFamily="34" charset="-120"/>
              </a:rPr>
              <a:t>Meenakshi R.  ·  Krishna Priya Kaku  ·  Mallampati Geethika
</a:t>
            </a:r>
            <a:r>
              <a:rPr lang="en-US" sz="1250" b="1" dirty="0">
                <a:solidFill>
                  <a:srgbClr val="22D3EE"/>
                </a:solidFill>
                <a:latin typeface="Calibri" pitchFamily="34" charset="0"/>
                <a:ea typeface="Calibri" pitchFamily="34" charset="-122"/>
                <a:cs typeface="Calibri" pitchFamily="34" charset="-120"/>
              </a:rPr>
              <a:t>Institution:  </a:t>
            </a:r>
            <a:r>
              <a:rPr lang="en-US" sz="1250" dirty="0">
                <a:solidFill>
                  <a:srgbClr val="FFFFFF"/>
                </a:solidFill>
                <a:latin typeface="Calibri" pitchFamily="34" charset="0"/>
                <a:ea typeface="Calibri" pitchFamily="34" charset="-122"/>
                <a:cs typeface="Calibri" pitchFamily="34" charset="-120"/>
              </a:rPr>
              <a:t>Dept. of Artificial Intelligence and Data Science, Panimalar Engineering College</a:t>
            </a:r>
            <a:endParaRPr lang="en-US" sz="1250" dirty="0"/>
          </a:p>
        </p:txBody>
      </p:sp>
      <p:sp>
        <p:nvSpPr>
          <p:cNvPr id="18" name="Text 16"/>
          <p:cNvSpPr/>
          <p:nvPr/>
        </p:nvSpPr>
        <p:spPr>
          <a:xfrm>
            <a:off x="502920" y="6446520"/>
            <a:ext cx="9144000" cy="274320"/>
          </a:xfrm>
          <a:prstGeom prst="rect">
            <a:avLst/>
          </a:prstGeom>
          <a:noFill/>
          <a:ln/>
        </p:spPr>
        <p:txBody>
          <a:bodyPr wrap="square" rtlCol="0" anchor="ctr"/>
          <a:lstStyle/>
          <a:p>
            <a:pPr marL="0" indent="0">
              <a:buNone/>
            </a:pPr>
            <a:r>
              <a:rPr lang="en-US" sz="1050" dirty="0">
                <a:solidFill>
                  <a:srgbClr val="6E86A6"/>
                </a:solidFill>
                <a:latin typeface="Calibri" pitchFamily="34" charset="0"/>
                <a:ea typeface="Calibri" pitchFamily="34" charset="-122"/>
                <a:cs typeface="Calibri" pitchFamily="34" charset="-120"/>
              </a:rPr>
              <a:t>Benchmark: Viscous Burgers' Equation  ·  Physics-Informed Learning  ·  Quantum Machine Learning</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Why Computational Fluid Dynamics Matters</a:t>
            </a:r>
            <a:endParaRPr lang="en-US" sz="2700" dirty="0"/>
          </a:p>
        </p:txBody>
      </p:sp>
      <p:sp>
        <p:nvSpPr>
          <p:cNvPr id="4" name="Shape 2"/>
          <p:cNvSpPr/>
          <p:nvPr/>
        </p:nvSpPr>
        <p:spPr>
          <a:xfrm>
            <a:off x="502920" y="1417320"/>
            <a:ext cx="2099462" cy="777240"/>
          </a:xfrm>
          <a:prstGeom prst="roundRect">
            <a:avLst>
              <a:gd name="adj" fmla="val 9412"/>
            </a:avLst>
          </a:prstGeom>
          <a:solidFill>
            <a:srgbClr val="0E2A50"/>
          </a:solidFill>
          <a:ln w="12700">
            <a:solidFill>
              <a:srgbClr val="1E3F6B"/>
            </a:solidFill>
            <a:prstDash val="solid"/>
          </a:ln>
        </p:spPr>
      </p:sp>
      <p:sp>
        <p:nvSpPr>
          <p:cNvPr id="5" name="Text 3"/>
          <p:cNvSpPr/>
          <p:nvPr/>
        </p:nvSpPr>
        <p:spPr>
          <a:xfrm>
            <a:off x="576072" y="1481328"/>
            <a:ext cx="1953158"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Aircraft</a:t>
            </a:r>
            <a:endParaRPr lang="en-US" sz="1200" dirty="0"/>
          </a:p>
        </p:txBody>
      </p:sp>
      <p:sp>
        <p:nvSpPr>
          <p:cNvPr id="6" name="Text 4"/>
          <p:cNvSpPr/>
          <p:nvPr/>
        </p:nvSpPr>
        <p:spPr>
          <a:xfrm>
            <a:off x="576072" y="1810512"/>
            <a:ext cx="1953158" cy="347472"/>
          </a:xfrm>
          <a:prstGeom prst="rect">
            <a:avLst/>
          </a:prstGeom>
          <a:noFill/>
          <a:ln/>
        </p:spPr>
        <p:txBody>
          <a:bodyPr wrap="square" rtlCol="0" anchor="ctr"/>
          <a:lstStyle/>
          <a:p>
            <a:pPr marL="0" indent="0" algn="ctr">
              <a:buNone/>
            </a:pPr>
            <a:r>
              <a:rPr lang="en-US" sz="950" i="1" dirty="0">
                <a:solidFill>
                  <a:srgbClr val="67E8F9"/>
                </a:solidFill>
                <a:latin typeface="Calibri" pitchFamily="34" charset="0"/>
                <a:ea typeface="Calibri" pitchFamily="34" charset="-122"/>
                <a:cs typeface="Calibri" pitchFamily="34" charset="-120"/>
              </a:rPr>
              <a:t>Shock-wave prediction</a:t>
            </a:r>
            <a:endParaRPr lang="en-US" sz="950" dirty="0"/>
          </a:p>
        </p:txBody>
      </p:sp>
      <p:sp>
        <p:nvSpPr>
          <p:cNvPr id="7" name="Shape 5"/>
          <p:cNvSpPr/>
          <p:nvPr/>
        </p:nvSpPr>
        <p:spPr>
          <a:xfrm>
            <a:off x="2766974" y="1417320"/>
            <a:ext cx="2099462" cy="777240"/>
          </a:xfrm>
          <a:prstGeom prst="roundRect">
            <a:avLst>
              <a:gd name="adj" fmla="val 9412"/>
            </a:avLst>
          </a:prstGeom>
          <a:solidFill>
            <a:srgbClr val="0E2A50"/>
          </a:solidFill>
          <a:ln w="12700">
            <a:solidFill>
              <a:srgbClr val="1E3F6B"/>
            </a:solidFill>
            <a:prstDash val="solid"/>
          </a:ln>
        </p:spPr>
      </p:sp>
      <p:sp>
        <p:nvSpPr>
          <p:cNvPr id="8" name="Text 6"/>
          <p:cNvSpPr/>
          <p:nvPr/>
        </p:nvSpPr>
        <p:spPr>
          <a:xfrm>
            <a:off x="2840126" y="1481328"/>
            <a:ext cx="1953158"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Hypersonics</a:t>
            </a:r>
            <a:endParaRPr lang="en-US" sz="1200" dirty="0"/>
          </a:p>
        </p:txBody>
      </p:sp>
      <p:sp>
        <p:nvSpPr>
          <p:cNvPr id="9" name="Text 7"/>
          <p:cNvSpPr/>
          <p:nvPr/>
        </p:nvSpPr>
        <p:spPr>
          <a:xfrm>
            <a:off x="2840126" y="1810512"/>
            <a:ext cx="1953158" cy="347472"/>
          </a:xfrm>
          <a:prstGeom prst="rect">
            <a:avLst/>
          </a:prstGeom>
          <a:noFill/>
          <a:ln/>
        </p:spPr>
        <p:txBody>
          <a:bodyPr wrap="square" rtlCol="0" anchor="ctr"/>
          <a:lstStyle/>
          <a:p>
            <a:pPr marL="0" indent="0" algn="ctr">
              <a:buNone/>
            </a:pPr>
            <a:r>
              <a:rPr lang="en-US" sz="950" i="1" dirty="0">
                <a:solidFill>
                  <a:srgbClr val="67E8F9"/>
                </a:solidFill>
                <a:latin typeface="Calibri" pitchFamily="34" charset="0"/>
                <a:ea typeface="Calibri" pitchFamily="34" charset="-122"/>
                <a:cs typeface="Calibri" pitchFamily="34" charset="-120"/>
              </a:rPr>
              <a:t>Compressible flow</a:t>
            </a:r>
            <a:endParaRPr lang="en-US" sz="950" dirty="0"/>
          </a:p>
        </p:txBody>
      </p:sp>
      <p:sp>
        <p:nvSpPr>
          <p:cNvPr id="10" name="Shape 8"/>
          <p:cNvSpPr/>
          <p:nvPr/>
        </p:nvSpPr>
        <p:spPr>
          <a:xfrm>
            <a:off x="5031029" y="1417320"/>
            <a:ext cx="2099462" cy="777240"/>
          </a:xfrm>
          <a:prstGeom prst="roundRect">
            <a:avLst>
              <a:gd name="adj" fmla="val 9412"/>
            </a:avLst>
          </a:prstGeom>
          <a:solidFill>
            <a:srgbClr val="0E2A50"/>
          </a:solidFill>
          <a:ln w="12700">
            <a:solidFill>
              <a:srgbClr val="1E3F6B"/>
            </a:solidFill>
            <a:prstDash val="solid"/>
          </a:ln>
        </p:spPr>
      </p:sp>
      <p:sp>
        <p:nvSpPr>
          <p:cNvPr id="11" name="Text 9"/>
          <p:cNvSpPr/>
          <p:nvPr/>
        </p:nvSpPr>
        <p:spPr>
          <a:xfrm>
            <a:off x="5104181" y="1481328"/>
            <a:ext cx="1953158"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Spacecraft</a:t>
            </a:r>
            <a:endParaRPr lang="en-US" sz="1200" dirty="0"/>
          </a:p>
        </p:txBody>
      </p:sp>
      <p:sp>
        <p:nvSpPr>
          <p:cNvPr id="12" name="Text 10"/>
          <p:cNvSpPr/>
          <p:nvPr/>
        </p:nvSpPr>
        <p:spPr>
          <a:xfrm>
            <a:off x="5104181" y="1810512"/>
            <a:ext cx="1953158" cy="347472"/>
          </a:xfrm>
          <a:prstGeom prst="rect">
            <a:avLst/>
          </a:prstGeom>
          <a:noFill/>
          <a:ln/>
        </p:spPr>
        <p:txBody>
          <a:bodyPr wrap="square" rtlCol="0" anchor="ctr"/>
          <a:lstStyle/>
          <a:p>
            <a:pPr marL="0" indent="0" algn="ctr">
              <a:buNone/>
            </a:pPr>
            <a:r>
              <a:rPr lang="en-US" sz="950" i="1" dirty="0">
                <a:solidFill>
                  <a:srgbClr val="67E8F9"/>
                </a:solidFill>
                <a:latin typeface="Calibri" pitchFamily="34" charset="0"/>
                <a:ea typeface="Calibri" pitchFamily="34" charset="-122"/>
                <a:cs typeface="Calibri" pitchFamily="34" charset="-120"/>
              </a:rPr>
              <a:t>Re-entry aerodynamics</a:t>
            </a:r>
            <a:endParaRPr lang="en-US" sz="950" dirty="0"/>
          </a:p>
        </p:txBody>
      </p:sp>
      <p:sp>
        <p:nvSpPr>
          <p:cNvPr id="13" name="Shape 11"/>
          <p:cNvSpPr/>
          <p:nvPr/>
        </p:nvSpPr>
        <p:spPr>
          <a:xfrm>
            <a:off x="7295083" y="1417320"/>
            <a:ext cx="2099462" cy="777240"/>
          </a:xfrm>
          <a:prstGeom prst="roundRect">
            <a:avLst>
              <a:gd name="adj" fmla="val 9412"/>
            </a:avLst>
          </a:prstGeom>
          <a:solidFill>
            <a:srgbClr val="0E2A50"/>
          </a:solidFill>
          <a:ln w="12700">
            <a:solidFill>
              <a:srgbClr val="1E3F6B"/>
            </a:solidFill>
            <a:prstDash val="solid"/>
          </a:ln>
        </p:spPr>
      </p:sp>
      <p:sp>
        <p:nvSpPr>
          <p:cNvPr id="14" name="Text 12"/>
          <p:cNvSpPr/>
          <p:nvPr/>
        </p:nvSpPr>
        <p:spPr>
          <a:xfrm>
            <a:off x="7368235" y="1481328"/>
            <a:ext cx="1953158"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Gas Turbines</a:t>
            </a:r>
            <a:endParaRPr lang="en-US" sz="1200" dirty="0"/>
          </a:p>
        </p:txBody>
      </p:sp>
      <p:sp>
        <p:nvSpPr>
          <p:cNvPr id="15" name="Text 13"/>
          <p:cNvSpPr/>
          <p:nvPr/>
        </p:nvSpPr>
        <p:spPr>
          <a:xfrm>
            <a:off x="7368235" y="1810512"/>
            <a:ext cx="1953158" cy="347472"/>
          </a:xfrm>
          <a:prstGeom prst="rect">
            <a:avLst/>
          </a:prstGeom>
          <a:noFill/>
          <a:ln/>
        </p:spPr>
        <p:txBody>
          <a:bodyPr wrap="square" rtlCol="0" anchor="ctr"/>
          <a:lstStyle/>
          <a:p>
            <a:pPr marL="0" indent="0" algn="ctr">
              <a:buNone/>
            </a:pPr>
            <a:r>
              <a:rPr lang="en-US" sz="950" i="1" dirty="0">
                <a:solidFill>
                  <a:srgbClr val="67E8F9"/>
                </a:solidFill>
                <a:latin typeface="Calibri" pitchFamily="34" charset="0"/>
                <a:ea typeface="Calibri" pitchFamily="34" charset="-122"/>
                <a:cs typeface="Calibri" pitchFamily="34" charset="-120"/>
              </a:rPr>
              <a:t>High-speed combustion</a:t>
            </a:r>
            <a:endParaRPr lang="en-US" sz="950" dirty="0"/>
          </a:p>
        </p:txBody>
      </p:sp>
      <p:sp>
        <p:nvSpPr>
          <p:cNvPr id="16" name="Shape 14"/>
          <p:cNvSpPr/>
          <p:nvPr/>
        </p:nvSpPr>
        <p:spPr>
          <a:xfrm>
            <a:off x="9559138" y="1417320"/>
            <a:ext cx="2099462" cy="777240"/>
          </a:xfrm>
          <a:prstGeom prst="roundRect">
            <a:avLst>
              <a:gd name="adj" fmla="val 9412"/>
            </a:avLst>
          </a:prstGeom>
          <a:solidFill>
            <a:srgbClr val="0E2A50"/>
          </a:solidFill>
          <a:ln w="12700">
            <a:solidFill>
              <a:srgbClr val="1E3F6B"/>
            </a:solidFill>
            <a:prstDash val="solid"/>
          </a:ln>
        </p:spPr>
      </p:sp>
      <p:sp>
        <p:nvSpPr>
          <p:cNvPr id="17" name="Text 15"/>
          <p:cNvSpPr/>
          <p:nvPr/>
        </p:nvSpPr>
        <p:spPr>
          <a:xfrm>
            <a:off x="9632290" y="1481328"/>
            <a:ext cx="1953158"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Defense</a:t>
            </a:r>
            <a:endParaRPr lang="en-US" sz="1200" dirty="0"/>
          </a:p>
        </p:txBody>
      </p:sp>
      <p:sp>
        <p:nvSpPr>
          <p:cNvPr id="18" name="Text 16"/>
          <p:cNvSpPr/>
          <p:nvPr/>
        </p:nvSpPr>
        <p:spPr>
          <a:xfrm>
            <a:off x="9632290" y="1810512"/>
            <a:ext cx="1953158" cy="347472"/>
          </a:xfrm>
          <a:prstGeom prst="rect">
            <a:avLst/>
          </a:prstGeom>
          <a:noFill/>
          <a:ln/>
        </p:spPr>
        <p:txBody>
          <a:bodyPr wrap="square" rtlCol="0" anchor="ctr"/>
          <a:lstStyle/>
          <a:p>
            <a:pPr marL="0" indent="0" algn="ctr">
              <a:buNone/>
            </a:pPr>
            <a:r>
              <a:rPr lang="en-US" sz="950" i="1" dirty="0">
                <a:solidFill>
                  <a:srgbClr val="67E8F9"/>
                </a:solidFill>
                <a:latin typeface="Calibri" pitchFamily="34" charset="0"/>
                <a:ea typeface="Calibri" pitchFamily="34" charset="-122"/>
                <a:cs typeface="Calibri" pitchFamily="34" charset="-120"/>
              </a:rPr>
              <a:t>High-speed aerodynamics</a:t>
            </a:r>
            <a:endParaRPr lang="en-US" sz="950" dirty="0"/>
          </a:p>
        </p:txBody>
      </p:sp>
      <p:sp>
        <p:nvSpPr>
          <p:cNvPr id="19" name="Text 17"/>
          <p:cNvSpPr/>
          <p:nvPr/>
        </p:nvSpPr>
        <p:spPr>
          <a:xfrm>
            <a:off x="502920" y="2331720"/>
            <a:ext cx="11155680" cy="292608"/>
          </a:xfrm>
          <a:prstGeom prst="rect">
            <a:avLst/>
          </a:prstGeom>
          <a:noFill/>
          <a:ln/>
        </p:spPr>
        <p:txBody>
          <a:bodyPr wrap="square" rtlCol="0" anchor="ctr"/>
          <a:lstStyle/>
          <a:p>
            <a:pPr marL="0" indent="0">
              <a:buNone/>
            </a:pPr>
            <a:r>
              <a:rPr lang="en-US" sz="1100" i="1" dirty="0">
                <a:solidFill>
                  <a:srgbClr val="93AAC7"/>
                </a:solidFill>
                <a:latin typeface="Calibri" pitchFamily="34" charset="0"/>
                <a:ea typeface="Calibri" pitchFamily="34" charset="-122"/>
                <a:cs typeface="Calibri" pitchFamily="34" charset="-120"/>
              </a:rPr>
              <a:t>Shock-dominated, high-speed flow phenomena recur across every one of these domains.</a:t>
            </a:r>
            <a:endParaRPr lang="en-US" sz="1100" dirty="0"/>
          </a:p>
        </p:txBody>
      </p:sp>
      <p:sp>
        <p:nvSpPr>
          <p:cNvPr id="20" name="Shape 18"/>
          <p:cNvSpPr/>
          <p:nvPr/>
        </p:nvSpPr>
        <p:spPr>
          <a:xfrm>
            <a:off x="2743200" y="2788920"/>
            <a:ext cx="6675120" cy="512064"/>
          </a:xfrm>
          <a:prstGeom prst="roundRect">
            <a:avLst>
              <a:gd name="adj" fmla="val 14286"/>
            </a:avLst>
          </a:prstGeom>
          <a:solidFill>
            <a:srgbClr val="123259"/>
          </a:solidFill>
          <a:ln w="12700">
            <a:solidFill>
              <a:srgbClr val="1E3F6B"/>
            </a:solidFill>
            <a:prstDash val="solid"/>
          </a:ln>
        </p:spPr>
      </p:sp>
      <p:sp>
        <p:nvSpPr>
          <p:cNvPr id="21" name="Text 19"/>
          <p:cNvSpPr/>
          <p:nvPr/>
        </p:nvSpPr>
        <p:spPr>
          <a:xfrm>
            <a:off x="2834640" y="2788920"/>
            <a:ext cx="6492240" cy="512064"/>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Computational Fluid Dynamics (CFD)</a:t>
            </a:r>
            <a:endParaRPr lang="en-US" sz="1300" dirty="0"/>
          </a:p>
        </p:txBody>
      </p:sp>
      <p:sp>
        <p:nvSpPr>
          <p:cNvPr id="22" name="Shape 20"/>
          <p:cNvSpPr/>
          <p:nvPr/>
        </p:nvSpPr>
        <p:spPr>
          <a:xfrm>
            <a:off x="5989320" y="3300984"/>
            <a:ext cx="182880" cy="182880"/>
          </a:xfrm>
          <a:prstGeom prst="downArrow">
            <a:avLst/>
          </a:prstGeom>
          <a:solidFill>
            <a:srgbClr val="22D3EE"/>
          </a:solidFill>
          <a:ln/>
        </p:spPr>
      </p:sp>
      <p:sp>
        <p:nvSpPr>
          <p:cNvPr id="23" name="Shape 21"/>
          <p:cNvSpPr/>
          <p:nvPr/>
        </p:nvSpPr>
        <p:spPr>
          <a:xfrm>
            <a:off x="2743200" y="3483864"/>
            <a:ext cx="6675120" cy="512064"/>
          </a:xfrm>
          <a:prstGeom prst="roundRect">
            <a:avLst>
              <a:gd name="adj" fmla="val 14286"/>
            </a:avLst>
          </a:prstGeom>
          <a:solidFill>
            <a:srgbClr val="123259"/>
          </a:solidFill>
          <a:ln w="12700">
            <a:solidFill>
              <a:srgbClr val="1E3F6B"/>
            </a:solidFill>
            <a:prstDash val="solid"/>
          </a:ln>
        </p:spPr>
      </p:sp>
      <p:sp>
        <p:nvSpPr>
          <p:cNvPr id="24" name="Text 22"/>
          <p:cNvSpPr/>
          <p:nvPr/>
        </p:nvSpPr>
        <p:spPr>
          <a:xfrm>
            <a:off x="2834640" y="3483864"/>
            <a:ext cx="6492240" cy="512064"/>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Traditional Numerical Solver</a:t>
            </a:r>
            <a:endParaRPr lang="en-US" sz="1300" dirty="0"/>
          </a:p>
        </p:txBody>
      </p:sp>
      <p:sp>
        <p:nvSpPr>
          <p:cNvPr id="25" name="Shape 23"/>
          <p:cNvSpPr/>
          <p:nvPr/>
        </p:nvSpPr>
        <p:spPr>
          <a:xfrm>
            <a:off x="5989320" y="3995928"/>
            <a:ext cx="182880" cy="182880"/>
          </a:xfrm>
          <a:prstGeom prst="downArrow">
            <a:avLst/>
          </a:prstGeom>
          <a:solidFill>
            <a:srgbClr val="22D3EE"/>
          </a:solidFill>
          <a:ln/>
        </p:spPr>
      </p:sp>
      <p:sp>
        <p:nvSpPr>
          <p:cNvPr id="26" name="Shape 24"/>
          <p:cNvSpPr/>
          <p:nvPr/>
        </p:nvSpPr>
        <p:spPr>
          <a:xfrm>
            <a:off x="2743200" y="4178808"/>
            <a:ext cx="6675120" cy="512064"/>
          </a:xfrm>
          <a:prstGeom prst="roundRect">
            <a:avLst>
              <a:gd name="adj" fmla="val 14286"/>
            </a:avLst>
          </a:prstGeom>
          <a:solidFill>
            <a:srgbClr val="123259"/>
          </a:solidFill>
          <a:ln w="12700">
            <a:solidFill>
              <a:srgbClr val="1E3F6B"/>
            </a:solidFill>
            <a:prstDash val="solid"/>
          </a:ln>
        </p:spPr>
      </p:sp>
      <p:sp>
        <p:nvSpPr>
          <p:cNvPr id="27" name="Text 25"/>
          <p:cNvSpPr/>
          <p:nvPr/>
        </p:nvSpPr>
        <p:spPr>
          <a:xfrm>
            <a:off x="2834640" y="4178808"/>
            <a:ext cx="6492240" cy="512064"/>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High Computational Cost</a:t>
            </a:r>
            <a:endParaRPr lang="en-US" sz="1300" dirty="0"/>
          </a:p>
        </p:txBody>
      </p:sp>
      <p:sp>
        <p:nvSpPr>
          <p:cNvPr id="28" name="Shape 26"/>
          <p:cNvSpPr/>
          <p:nvPr/>
        </p:nvSpPr>
        <p:spPr>
          <a:xfrm>
            <a:off x="5989320" y="4690872"/>
            <a:ext cx="182880" cy="182880"/>
          </a:xfrm>
          <a:prstGeom prst="downArrow">
            <a:avLst/>
          </a:prstGeom>
          <a:solidFill>
            <a:srgbClr val="22D3EE"/>
          </a:solidFill>
          <a:ln/>
        </p:spPr>
      </p:sp>
      <p:sp>
        <p:nvSpPr>
          <p:cNvPr id="29" name="Shape 27"/>
          <p:cNvSpPr/>
          <p:nvPr/>
        </p:nvSpPr>
        <p:spPr>
          <a:xfrm>
            <a:off x="2743200" y="4873752"/>
            <a:ext cx="6675120" cy="512064"/>
          </a:xfrm>
          <a:prstGeom prst="roundRect">
            <a:avLst>
              <a:gd name="adj" fmla="val 14286"/>
            </a:avLst>
          </a:prstGeom>
          <a:solidFill>
            <a:srgbClr val="123259"/>
          </a:solidFill>
          <a:ln w="12700">
            <a:solidFill>
              <a:srgbClr val="1E3F6B"/>
            </a:solidFill>
            <a:prstDash val="solid"/>
          </a:ln>
        </p:spPr>
      </p:sp>
      <p:sp>
        <p:nvSpPr>
          <p:cNvPr id="30" name="Text 28"/>
          <p:cNvSpPr/>
          <p:nvPr/>
        </p:nvSpPr>
        <p:spPr>
          <a:xfrm>
            <a:off x="2834640" y="4873752"/>
            <a:ext cx="6492240" cy="512064"/>
          </a:xfrm>
          <a:prstGeom prst="rect">
            <a:avLst/>
          </a:prstGeom>
          <a:noFill/>
          <a:ln/>
        </p:spPr>
        <p:txBody>
          <a:bodyPr wrap="square" rtlCol="0" anchor="ctr"/>
          <a:lstStyle/>
          <a:p>
            <a:pPr marL="0" indent="0" algn="ctr">
              <a:buNone/>
            </a:pPr>
            <a:r>
              <a:rPr lang="en-US" sz="1300" dirty="0">
                <a:solidFill>
                  <a:srgbClr val="FFFFFF"/>
                </a:solidFill>
                <a:latin typeface="Calibri" pitchFamily="34" charset="0"/>
                <a:ea typeface="Calibri" pitchFamily="34" charset="-122"/>
                <a:cs typeface="Calibri" pitchFamily="34" charset="-120"/>
              </a:rPr>
              <a:t>Physics-Informed Neural Networks (PINNs)</a:t>
            </a:r>
            <a:endParaRPr lang="en-US" sz="1300" dirty="0"/>
          </a:p>
        </p:txBody>
      </p:sp>
      <p:sp>
        <p:nvSpPr>
          <p:cNvPr id="31" name="Shape 29"/>
          <p:cNvSpPr/>
          <p:nvPr/>
        </p:nvSpPr>
        <p:spPr>
          <a:xfrm>
            <a:off x="5989320" y="5385816"/>
            <a:ext cx="182880" cy="182880"/>
          </a:xfrm>
          <a:prstGeom prst="downArrow">
            <a:avLst/>
          </a:prstGeom>
          <a:solidFill>
            <a:srgbClr val="22D3EE"/>
          </a:solidFill>
          <a:ln/>
        </p:spPr>
      </p:sp>
      <p:sp>
        <p:nvSpPr>
          <p:cNvPr id="32" name="Shape 30"/>
          <p:cNvSpPr/>
          <p:nvPr/>
        </p:nvSpPr>
        <p:spPr>
          <a:xfrm>
            <a:off x="2743200" y="5568696"/>
            <a:ext cx="6675120" cy="512064"/>
          </a:xfrm>
          <a:prstGeom prst="roundRect">
            <a:avLst>
              <a:gd name="adj" fmla="val 14286"/>
            </a:avLst>
          </a:prstGeom>
          <a:solidFill>
            <a:srgbClr val="12406B"/>
          </a:solidFill>
          <a:ln w="19050">
            <a:solidFill>
              <a:srgbClr val="22D3EE"/>
            </a:solidFill>
            <a:prstDash val="solid"/>
          </a:ln>
        </p:spPr>
      </p:sp>
      <p:sp>
        <p:nvSpPr>
          <p:cNvPr id="33" name="Text 31"/>
          <p:cNvSpPr/>
          <p:nvPr/>
        </p:nvSpPr>
        <p:spPr>
          <a:xfrm>
            <a:off x="2834640" y="5568696"/>
            <a:ext cx="6492240" cy="512064"/>
          </a:xfrm>
          <a:prstGeom prst="rect">
            <a:avLst/>
          </a:prstGeom>
          <a:noFill/>
          <a:ln/>
        </p:spPr>
        <p:txBody>
          <a:bodyPr wrap="square" rtlCol="0" anchor="ctr"/>
          <a:lstStyle/>
          <a:p>
            <a:pPr marL="0" indent="0" algn="ctr">
              <a:buNone/>
            </a:pPr>
            <a:r>
              <a:rPr lang="en-US" sz="1300" b="1" dirty="0">
                <a:solidFill>
                  <a:srgbClr val="67E8F9"/>
                </a:solidFill>
                <a:latin typeface="Calibri" pitchFamily="34" charset="0"/>
                <a:ea typeface="Calibri" pitchFamily="34" charset="-122"/>
                <a:cs typeface="Calibri" pitchFamily="34" charset="-120"/>
              </a:rPr>
              <a:t>Can Quantum Computing Improve Learning?</a:t>
            </a:r>
            <a:endParaRPr lang="en-US" sz="1300" dirty="0"/>
          </a:p>
        </p:txBody>
      </p:sp>
      <p:sp>
        <p:nvSpPr>
          <p:cNvPr id="34" name="Text 32"/>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35" name="Text 33"/>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Motivation</a:t>
            </a:r>
            <a:endParaRPr lang="en-US" sz="850" dirty="0"/>
          </a:p>
        </p:txBody>
      </p:sp>
      <p:sp>
        <p:nvSpPr>
          <p:cNvPr id="36" name="Text 34"/>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CHALLENGE STATEMENT</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Framing the Research Problem</a:t>
            </a:r>
            <a:endParaRPr lang="en-US" sz="2700" dirty="0"/>
          </a:p>
        </p:txBody>
      </p:sp>
      <p:sp>
        <p:nvSpPr>
          <p:cNvPr id="4" name="Shape 2"/>
          <p:cNvSpPr/>
          <p:nvPr/>
        </p:nvSpPr>
        <p:spPr>
          <a:xfrm>
            <a:off x="502920" y="1417320"/>
            <a:ext cx="11155680" cy="914400"/>
          </a:xfrm>
          <a:prstGeom prst="roundRect">
            <a:avLst>
              <a:gd name="adj" fmla="val 8000"/>
            </a:avLst>
          </a:prstGeom>
          <a:solidFill>
            <a:srgbClr val="241827"/>
          </a:solidFill>
          <a:ln w="15875">
            <a:solidFill>
              <a:srgbClr val="F87171"/>
            </a:solidFill>
            <a:prstDash val="solid"/>
          </a:ln>
        </p:spPr>
      </p:sp>
      <p:sp>
        <p:nvSpPr>
          <p:cNvPr id="5" name="Text 3"/>
          <p:cNvSpPr/>
          <p:nvPr/>
        </p:nvSpPr>
        <p:spPr>
          <a:xfrm>
            <a:off x="822960" y="1417320"/>
            <a:ext cx="10515600" cy="914400"/>
          </a:xfrm>
          <a:prstGeom prst="rect">
            <a:avLst/>
          </a:prstGeom>
          <a:noFill/>
          <a:ln/>
        </p:spPr>
        <p:txBody>
          <a:bodyPr wrap="square" rtlCol="0" anchor="ctr"/>
          <a:lstStyle/>
          <a:p>
            <a:pPr marL="0" indent="0">
              <a:buNone/>
            </a:pPr>
            <a:r>
              <a:rPr lang="en-US" sz="1800" b="1" dirty="0">
                <a:solidFill>
                  <a:srgbClr val="FFFFFF"/>
                </a:solidFill>
                <a:latin typeface="Arial" pitchFamily="34" charset="0"/>
                <a:ea typeface="Arial" pitchFamily="34" charset="-122"/>
                <a:cs typeface="Arial" pitchFamily="34" charset="-120"/>
              </a:rPr>
              <a:t>We are NOT trying to prove quantum is better.</a:t>
            </a:r>
            <a:endParaRPr lang="en-US" sz="1800" dirty="0"/>
          </a:p>
        </p:txBody>
      </p:sp>
      <p:sp>
        <p:nvSpPr>
          <p:cNvPr id="6" name="Text 4"/>
          <p:cNvSpPr/>
          <p:nvPr/>
        </p:nvSpPr>
        <p:spPr>
          <a:xfrm>
            <a:off x="502920" y="2606040"/>
            <a:ext cx="5486400" cy="365760"/>
          </a:xfrm>
          <a:prstGeom prst="rect">
            <a:avLst/>
          </a:prstGeom>
          <a:noFill/>
          <a:ln/>
        </p:spPr>
        <p:txBody>
          <a:bodyPr wrap="square" rtlCol="0" anchor="ctr"/>
          <a:lstStyle/>
          <a:p>
            <a:pPr marL="0" indent="0">
              <a:buNone/>
            </a:pPr>
            <a:r>
              <a:rPr lang="en-US" sz="1400" b="1" dirty="0">
                <a:solidFill>
                  <a:srgbClr val="22D3EE"/>
                </a:solidFill>
                <a:latin typeface="Calibri" pitchFamily="34" charset="0"/>
                <a:ea typeface="Calibri" pitchFamily="34" charset="-122"/>
                <a:cs typeface="Calibri" pitchFamily="34" charset="-120"/>
              </a:rPr>
              <a:t>Instead, we investigate:</a:t>
            </a:r>
            <a:endParaRPr lang="en-US" sz="1400" dirty="0"/>
          </a:p>
        </p:txBody>
      </p:sp>
      <p:sp>
        <p:nvSpPr>
          <p:cNvPr id="7" name="Shape 5"/>
          <p:cNvSpPr/>
          <p:nvPr/>
        </p:nvSpPr>
        <p:spPr>
          <a:xfrm>
            <a:off x="502920" y="3063240"/>
            <a:ext cx="5394960" cy="731520"/>
          </a:xfrm>
          <a:prstGeom prst="roundRect">
            <a:avLst>
              <a:gd name="adj" fmla="val 10000"/>
            </a:avLst>
          </a:prstGeom>
          <a:solidFill>
            <a:srgbClr val="0E2A50"/>
          </a:solidFill>
          <a:ln w="12700">
            <a:solidFill>
              <a:srgbClr val="1E3F6B"/>
            </a:solidFill>
            <a:prstDash val="solid"/>
          </a:ln>
        </p:spPr>
      </p:sp>
      <p:sp>
        <p:nvSpPr>
          <p:cNvPr id="8" name="Text 6"/>
          <p:cNvSpPr/>
          <p:nvPr/>
        </p:nvSpPr>
        <p:spPr>
          <a:xfrm>
            <a:off x="640080" y="3063240"/>
            <a:ext cx="640080" cy="731520"/>
          </a:xfrm>
          <a:prstGeom prst="rect">
            <a:avLst/>
          </a:prstGeom>
          <a:noFill/>
          <a:ln/>
        </p:spPr>
        <p:txBody>
          <a:bodyPr wrap="square" rtlCol="0" anchor="ctr"/>
          <a:lstStyle/>
          <a:p>
            <a:pPr marL="0" indent="0">
              <a:buNone/>
            </a:pPr>
            <a:r>
              <a:rPr lang="en-US" sz="2000" b="1" dirty="0">
                <a:solidFill>
                  <a:srgbClr val="22D3EE"/>
                </a:solidFill>
                <a:latin typeface="Arial" pitchFamily="34" charset="0"/>
                <a:ea typeface="Arial" pitchFamily="34" charset="-122"/>
                <a:cs typeface="Arial" pitchFamily="34" charset="-120"/>
              </a:rPr>
              <a:t>01</a:t>
            </a:r>
            <a:endParaRPr lang="en-US" sz="2000" dirty="0"/>
          </a:p>
        </p:txBody>
      </p:sp>
      <p:sp>
        <p:nvSpPr>
          <p:cNvPr id="9" name="Text 7"/>
          <p:cNvSpPr/>
          <p:nvPr/>
        </p:nvSpPr>
        <p:spPr>
          <a:xfrm>
            <a:off x="1280160" y="3063240"/>
            <a:ext cx="4572000" cy="7315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Whether a quantum feature map reduces spectral bias</a:t>
            </a:r>
            <a:endParaRPr lang="en-US" sz="1300" dirty="0"/>
          </a:p>
        </p:txBody>
      </p:sp>
      <p:sp>
        <p:nvSpPr>
          <p:cNvPr id="10" name="Shape 8"/>
          <p:cNvSpPr/>
          <p:nvPr/>
        </p:nvSpPr>
        <p:spPr>
          <a:xfrm>
            <a:off x="6126480" y="3063240"/>
            <a:ext cx="5394960" cy="731520"/>
          </a:xfrm>
          <a:prstGeom prst="roundRect">
            <a:avLst>
              <a:gd name="adj" fmla="val 10000"/>
            </a:avLst>
          </a:prstGeom>
          <a:solidFill>
            <a:srgbClr val="0E2A50"/>
          </a:solidFill>
          <a:ln w="12700">
            <a:solidFill>
              <a:srgbClr val="1E3F6B"/>
            </a:solidFill>
            <a:prstDash val="solid"/>
          </a:ln>
        </p:spPr>
      </p:sp>
      <p:sp>
        <p:nvSpPr>
          <p:cNvPr id="11" name="Text 9"/>
          <p:cNvSpPr/>
          <p:nvPr/>
        </p:nvSpPr>
        <p:spPr>
          <a:xfrm>
            <a:off x="6263640" y="3063240"/>
            <a:ext cx="640080" cy="731520"/>
          </a:xfrm>
          <a:prstGeom prst="rect">
            <a:avLst/>
          </a:prstGeom>
          <a:noFill/>
          <a:ln/>
        </p:spPr>
        <p:txBody>
          <a:bodyPr wrap="square" rtlCol="0" anchor="ctr"/>
          <a:lstStyle/>
          <a:p>
            <a:pPr marL="0" indent="0">
              <a:buNone/>
            </a:pPr>
            <a:r>
              <a:rPr lang="en-US" sz="2000" b="1" dirty="0">
                <a:solidFill>
                  <a:srgbClr val="22D3EE"/>
                </a:solidFill>
                <a:latin typeface="Arial" pitchFamily="34" charset="0"/>
                <a:ea typeface="Arial" pitchFamily="34" charset="-122"/>
                <a:cs typeface="Arial" pitchFamily="34" charset="-120"/>
              </a:rPr>
              <a:t>02</a:t>
            </a:r>
            <a:endParaRPr lang="en-US" sz="2000" dirty="0"/>
          </a:p>
        </p:txBody>
      </p:sp>
      <p:sp>
        <p:nvSpPr>
          <p:cNvPr id="12" name="Text 10"/>
          <p:cNvSpPr/>
          <p:nvPr/>
        </p:nvSpPr>
        <p:spPr>
          <a:xfrm>
            <a:off x="6903720" y="3063240"/>
            <a:ext cx="4572000" cy="7315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Whether it improves shock-region accuracy</a:t>
            </a:r>
            <a:endParaRPr lang="en-US" sz="1300" dirty="0"/>
          </a:p>
        </p:txBody>
      </p:sp>
      <p:sp>
        <p:nvSpPr>
          <p:cNvPr id="13" name="Shape 11"/>
          <p:cNvSpPr/>
          <p:nvPr/>
        </p:nvSpPr>
        <p:spPr>
          <a:xfrm>
            <a:off x="502920" y="3977640"/>
            <a:ext cx="5394960" cy="731520"/>
          </a:xfrm>
          <a:prstGeom prst="roundRect">
            <a:avLst>
              <a:gd name="adj" fmla="val 10000"/>
            </a:avLst>
          </a:prstGeom>
          <a:solidFill>
            <a:srgbClr val="0E2A50"/>
          </a:solidFill>
          <a:ln w="12700">
            <a:solidFill>
              <a:srgbClr val="1E3F6B"/>
            </a:solidFill>
            <a:prstDash val="solid"/>
          </a:ln>
        </p:spPr>
      </p:sp>
      <p:sp>
        <p:nvSpPr>
          <p:cNvPr id="14" name="Text 12"/>
          <p:cNvSpPr/>
          <p:nvPr/>
        </p:nvSpPr>
        <p:spPr>
          <a:xfrm>
            <a:off x="640080" y="3977640"/>
            <a:ext cx="640080" cy="731520"/>
          </a:xfrm>
          <a:prstGeom prst="rect">
            <a:avLst/>
          </a:prstGeom>
          <a:noFill/>
          <a:ln/>
        </p:spPr>
        <p:txBody>
          <a:bodyPr wrap="square" rtlCol="0" anchor="ctr"/>
          <a:lstStyle/>
          <a:p>
            <a:pPr marL="0" indent="0">
              <a:buNone/>
            </a:pPr>
            <a:r>
              <a:rPr lang="en-US" sz="2000" b="1" dirty="0">
                <a:solidFill>
                  <a:srgbClr val="22D3EE"/>
                </a:solidFill>
                <a:latin typeface="Arial" pitchFamily="34" charset="0"/>
                <a:ea typeface="Arial" pitchFamily="34" charset="-122"/>
                <a:cs typeface="Arial" pitchFamily="34" charset="-120"/>
              </a:rPr>
              <a:t>03</a:t>
            </a:r>
            <a:endParaRPr lang="en-US" sz="2000" dirty="0"/>
          </a:p>
        </p:txBody>
      </p:sp>
      <p:sp>
        <p:nvSpPr>
          <p:cNvPr id="15" name="Text 13"/>
          <p:cNvSpPr/>
          <p:nvPr/>
        </p:nvSpPr>
        <p:spPr>
          <a:xfrm>
            <a:off x="1280160" y="3977640"/>
            <a:ext cx="4572000" cy="7315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If not fully realized, which architectural factors explain why</a:t>
            </a:r>
            <a:endParaRPr lang="en-US" sz="1300" dirty="0"/>
          </a:p>
        </p:txBody>
      </p:sp>
      <p:sp>
        <p:nvSpPr>
          <p:cNvPr id="16" name="Shape 14"/>
          <p:cNvSpPr/>
          <p:nvPr/>
        </p:nvSpPr>
        <p:spPr>
          <a:xfrm>
            <a:off x="6126480" y="3977640"/>
            <a:ext cx="5394960" cy="731520"/>
          </a:xfrm>
          <a:prstGeom prst="roundRect">
            <a:avLst>
              <a:gd name="adj" fmla="val 10000"/>
            </a:avLst>
          </a:prstGeom>
          <a:solidFill>
            <a:srgbClr val="0E2A50"/>
          </a:solidFill>
          <a:ln w="12700">
            <a:solidFill>
              <a:srgbClr val="1E3F6B"/>
            </a:solidFill>
            <a:prstDash val="solid"/>
          </a:ln>
        </p:spPr>
      </p:sp>
      <p:sp>
        <p:nvSpPr>
          <p:cNvPr id="17" name="Text 15"/>
          <p:cNvSpPr/>
          <p:nvPr/>
        </p:nvSpPr>
        <p:spPr>
          <a:xfrm>
            <a:off x="6263640" y="3977640"/>
            <a:ext cx="640080" cy="731520"/>
          </a:xfrm>
          <a:prstGeom prst="rect">
            <a:avLst/>
          </a:prstGeom>
          <a:noFill/>
          <a:ln/>
        </p:spPr>
        <p:txBody>
          <a:bodyPr wrap="square" rtlCol="0" anchor="ctr"/>
          <a:lstStyle/>
          <a:p>
            <a:pPr marL="0" indent="0">
              <a:buNone/>
            </a:pPr>
            <a:r>
              <a:rPr lang="en-US" sz="2000" b="1" dirty="0">
                <a:solidFill>
                  <a:srgbClr val="22D3EE"/>
                </a:solidFill>
                <a:latin typeface="Arial" pitchFamily="34" charset="0"/>
                <a:ea typeface="Arial" pitchFamily="34" charset="-122"/>
                <a:cs typeface="Arial" pitchFamily="34" charset="-120"/>
              </a:rPr>
              <a:t>04</a:t>
            </a:r>
            <a:endParaRPr lang="en-US" sz="2000" dirty="0"/>
          </a:p>
        </p:txBody>
      </p:sp>
      <p:sp>
        <p:nvSpPr>
          <p:cNvPr id="18" name="Text 16"/>
          <p:cNvSpPr/>
          <p:nvPr/>
        </p:nvSpPr>
        <p:spPr>
          <a:xfrm>
            <a:off x="6903720" y="3977640"/>
            <a:ext cx="4572000" cy="731520"/>
          </a:xfrm>
          <a:prstGeom prst="rect">
            <a:avLst/>
          </a:prstGeom>
          <a:noFill/>
          <a:ln/>
        </p:spPr>
        <p:txBody>
          <a:bodyPr wrap="square" rtlCol="0" anchor="ctr"/>
          <a:lstStyle/>
          <a:p>
            <a:pPr marL="0" indent="0">
              <a:buNone/>
            </a:pPr>
            <a:r>
              <a:rPr lang="en-US" sz="1300" dirty="0">
                <a:solidFill>
                  <a:srgbClr val="FFFFFF"/>
                </a:solidFill>
                <a:latin typeface="Calibri" pitchFamily="34" charset="0"/>
                <a:ea typeface="Calibri" pitchFamily="34" charset="-122"/>
                <a:cs typeface="Calibri" pitchFamily="34" charset="-120"/>
              </a:rPr>
              <a:t>Which optimization strategies interact with representation</a:t>
            </a:r>
            <a:endParaRPr lang="en-US" sz="1300" dirty="0"/>
          </a:p>
        </p:txBody>
      </p:sp>
      <p:sp>
        <p:nvSpPr>
          <p:cNvPr id="19" name="Shape 17"/>
          <p:cNvSpPr/>
          <p:nvPr/>
        </p:nvSpPr>
        <p:spPr>
          <a:xfrm>
            <a:off x="502920" y="5074920"/>
            <a:ext cx="11155680" cy="1234440"/>
          </a:xfrm>
          <a:prstGeom prst="roundRect">
            <a:avLst>
              <a:gd name="adj" fmla="val 5926"/>
            </a:avLst>
          </a:prstGeom>
          <a:solidFill>
            <a:srgbClr val="0C3355"/>
          </a:solidFill>
          <a:ln w="15875">
            <a:solidFill>
              <a:srgbClr val="22D3EE"/>
            </a:solidFill>
            <a:prstDash val="solid"/>
          </a:ln>
        </p:spPr>
      </p:sp>
      <p:sp>
        <p:nvSpPr>
          <p:cNvPr id="20" name="Text 18"/>
          <p:cNvSpPr/>
          <p:nvPr/>
        </p:nvSpPr>
        <p:spPr>
          <a:xfrm>
            <a:off x="777240" y="5193792"/>
            <a:ext cx="5486400" cy="320040"/>
          </a:xfrm>
          <a:prstGeom prst="rect">
            <a:avLst/>
          </a:prstGeom>
          <a:noFill/>
          <a:ln/>
        </p:spPr>
        <p:txBody>
          <a:bodyPr wrap="square"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Research Objective</a:t>
            </a:r>
            <a:endParaRPr lang="en-US" sz="1200" dirty="0"/>
          </a:p>
        </p:txBody>
      </p:sp>
      <p:sp>
        <p:nvSpPr>
          <p:cNvPr id="21" name="Text 19"/>
          <p:cNvSpPr/>
          <p:nvPr/>
        </p:nvSpPr>
        <p:spPr>
          <a:xfrm>
            <a:off x="777240" y="5504688"/>
            <a:ext cx="10607040" cy="731520"/>
          </a:xfrm>
          <a:prstGeom prst="rect">
            <a:avLst/>
          </a:prstGeom>
          <a:noFill/>
          <a:ln/>
        </p:spPr>
        <p:txBody>
          <a:bodyPr wrap="square" rtlCol="0" anchor="t"/>
          <a:lstStyle/>
          <a:p>
            <a:pPr marL="0" indent="0">
              <a:buNone/>
            </a:pPr>
            <a:r>
              <a:rPr lang="en-US" sz="1300" dirty="0">
                <a:solidFill>
                  <a:srgbClr val="FFFFFF"/>
                </a:solidFill>
                <a:latin typeface="Calibri" pitchFamily="34" charset="0"/>
                <a:ea typeface="Calibri" pitchFamily="34" charset="-122"/>
                <a:cs typeface="Calibri" pitchFamily="34" charset="-120"/>
              </a:rPr>
              <a:t>Evaluate whether a quantum data-encoding feature map can mitigate spectral bias in a hybrid QAPINN, relative to a classical PINN baseline, on the viscous Burgers' equation — and if the improvement does not fully materialize, identify which architectural and optimization factors explain why.</a:t>
            </a:r>
            <a:endParaRPr lang="en-US" sz="1300" dirty="0"/>
          </a:p>
        </p:txBody>
      </p:sp>
      <p:sp>
        <p:nvSpPr>
          <p:cNvPr id="22" name="Text 20"/>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23" name="Text 21"/>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Challenge Statement</a:t>
            </a:r>
            <a:endParaRPr lang="en-US" sz="850" dirty="0"/>
          </a:p>
        </p:txBody>
      </p:sp>
      <p:sp>
        <p:nvSpPr>
          <p:cNvPr id="24" name="Text 22"/>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SCIENTIFIC QUESTIONS</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Hypotheses Under Test</a:t>
            </a:r>
            <a:endParaRPr lang="en-US" sz="2700" dirty="0"/>
          </a:p>
        </p:txBody>
      </p:sp>
      <p:sp>
        <p:nvSpPr>
          <p:cNvPr id="4" name="Shape 2"/>
          <p:cNvSpPr/>
          <p:nvPr/>
        </p:nvSpPr>
        <p:spPr>
          <a:xfrm>
            <a:off x="502920" y="160020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5" name="Shape 3"/>
          <p:cNvSpPr/>
          <p:nvPr/>
        </p:nvSpPr>
        <p:spPr>
          <a:xfrm>
            <a:off x="667512" y="1764792"/>
            <a:ext cx="502920" cy="502920"/>
          </a:xfrm>
          <a:prstGeom prst="ellipse">
            <a:avLst/>
          </a:prstGeom>
          <a:solidFill>
            <a:srgbClr val="0F3A5F"/>
          </a:solidFill>
          <a:ln w="15875">
            <a:solidFill>
              <a:srgbClr val="22D3EE"/>
            </a:solidFill>
            <a:prstDash val="solid"/>
          </a:ln>
        </p:spPr>
      </p:sp>
      <p:sp>
        <p:nvSpPr>
          <p:cNvPr id="6" name="Text 4"/>
          <p:cNvSpPr/>
          <p:nvPr/>
        </p:nvSpPr>
        <p:spPr>
          <a:xfrm>
            <a:off x="667512" y="176479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H1</a:t>
            </a:r>
            <a:endParaRPr lang="en-US" sz="1300" dirty="0"/>
          </a:p>
        </p:txBody>
      </p:sp>
      <p:sp>
        <p:nvSpPr>
          <p:cNvPr id="7" name="Text 5"/>
          <p:cNvSpPr/>
          <p:nvPr/>
        </p:nvSpPr>
        <p:spPr>
          <a:xfrm>
            <a:off x="667512" y="237744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Encoding affects learning.</a:t>
            </a:r>
            <a:endParaRPr lang="en-US" sz="1200" dirty="0"/>
          </a:p>
        </p:txBody>
      </p:sp>
      <p:sp>
        <p:nvSpPr>
          <p:cNvPr id="8" name="Shape 6"/>
          <p:cNvSpPr/>
          <p:nvPr/>
        </p:nvSpPr>
        <p:spPr>
          <a:xfrm>
            <a:off x="3342132" y="160020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9" name="Shape 7"/>
          <p:cNvSpPr/>
          <p:nvPr/>
        </p:nvSpPr>
        <p:spPr>
          <a:xfrm>
            <a:off x="3506724" y="1764792"/>
            <a:ext cx="502920" cy="502920"/>
          </a:xfrm>
          <a:prstGeom prst="ellipse">
            <a:avLst/>
          </a:prstGeom>
          <a:solidFill>
            <a:srgbClr val="0F3A5F"/>
          </a:solidFill>
          <a:ln w="15875">
            <a:solidFill>
              <a:srgbClr val="22D3EE"/>
            </a:solidFill>
            <a:prstDash val="solid"/>
          </a:ln>
        </p:spPr>
      </p:sp>
      <p:sp>
        <p:nvSpPr>
          <p:cNvPr id="10" name="Text 8"/>
          <p:cNvSpPr/>
          <p:nvPr/>
        </p:nvSpPr>
        <p:spPr>
          <a:xfrm>
            <a:off x="3506724" y="176479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H2</a:t>
            </a:r>
            <a:endParaRPr lang="en-US" sz="1300" dirty="0"/>
          </a:p>
        </p:txBody>
      </p:sp>
      <p:sp>
        <p:nvSpPr>
          <p:cNvPr id="11" name="Text 9"/>
          <p:cNvSpPr/>
          <p:nvPr/>
        </p:nvSpPr>
        <p:spPr>
          <a:xfrm>
            <a:off x="3506724" y="237744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Increasing qubits improves approximation.</a:t>
            </a:r>
            <a:endParaRPr lang="en-US" sz="1200" dirty="0"/>
          </a:p>
        </p:txBody>
      </p:sp>
      <p:sp>
        <p:nvSpPr>
          <p:cNvPr id="12" name="Shape 10"/>
          <p:cNvSpPr/>
          <p:nvPr/>
        </p:nvSpPr>
        <p:spPr>
          <a:xfrm>
            <a:off x="6181344" y="160020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3" name="Shape 11"/>
          <p:cNvSpPr/>
          <p:nvPr/>
        </p:nvSpPr>
        <p:spPr>
          <a:xfrm>
            <a:off x="6345936" y="1764792"/>
            <a:ext cx="502920" cy="502920"/>
          </a:xfrm>
          <a:prstGeom prst="ellipse">
            <a:avLst/>
          </a:prstGeom>
          <a:solidFill>
            <a:srgbClr val="0F3A5F"/>
          </a:solidFill>
          <a:ln w="15875">
            <a:solidFill>
              <a:srgbClr val="22D3EE"/>
            </a:solidFill>
            <a:prstDash val="solid"/>
          </a:ln>
        </p:spPr>
      </p:sp>
      <p:sp>
        <p:nvSpPr>
          <p:cNvPr id="14" name="Text 12"/>
          <p:cNvSpPr/>
          <p:nvPr/>
        </p:nvSpPr>
        <p:spPr>
          <a:xfrm>
            <a:off x="6345936" y="176479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H3</a:t>
            </a:r>
            <a:endParaRPr lang="en-US" sz="1300" dirty="0"/>
          </a:p>
        </p:txBody>
      </p:sp>
      <p:sp>
        <p:nvSpPr>
          <p:cNvPr id="15" name="Text 13"/>
          <p:cNvSpPr/>
          <p:nvPr/>
        </p:nvSpPr>
        <p:spPr>
          <a:xfrm>
            <a:off x="6345936" y="237744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Increasing depth improves learning.</a:t>
            </a:r>
            <a:endParaRPr lang="en-US" sz="1200" dirty="0"/>
          </a:p>
        </p:txBody>
      </p:sp>
      <p:sp>
        <p:nvSpPr>
          <p:cNvPr id="16" name="Shape 14"/>
          <p:cNvSpPr/>
          <p:nvPr/>
        </p:nvSpPr>
        <p:spPr>
          <a:xfrm>
            <a:off x="9020556" y="160020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7" name="Shape 15"/>
          <p:cNvSpPr/>
          <p:nvPr/>
        </p:nvSpPr>
        <p:spPr>
          <a:xfrm>
            <a:off x="9185148" y="1764792"/>
            <a:ext cx="502920" cy="502920"/>
          </a:xfrm>
          <a:prstGeom prst="ellipse">
            <a:avLst/>
          </a:prstGeom>
          <a:solidFill>
            <a:srgbClr val="0F3A5F"/>
          </a:solidFill>
          <a:ln w="15875">
            <a:solidFill>
              <a:srgbClr val="22D3EE"/>
            </a:solidFill>
            <a:prstDash val="solid"/>
          </a:ln>
        </p:spPr>
      </p:sp>
      <p:sp>
        <p:nvSpPr>
          <p:cNvPr id="18" name="Text 16"/>
          <p:cNvSpPr/>
          <p:nvPr/>
        </p:nvSpPr>
        <p:spPr>
          <a:xfrm>
            <a:off x="9185148" y="176479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H4</a:t>
            </a:r>
            <a:endParaRPr lang="en-US" sz="1300" dirty="0"/>
          </a:p>
        </p:txBody>
      </p:sp>
      <p:sp>
        <p:nvSpPr>
          <p:cNvPr id="19" name="Text 17"/>
          <p:cNvSpPr/>
          <p:nvPr/>
        </p:nvSpPr>
        <p:spPr>
          <a:xfrm>
            <a:off x="9185148" y="237744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Entanglement improves performance.</a:t>
            </a:r>
            <a:endParaRPr lang="en-US" sz="1200" dirty="0"/>
          </a:p>
        </p:txBody>
      </p:sp>
      <p:sp>
        <p:nvSpPr>
          <p:cNvPr id="20" name="Shape 18"/>
          <p:cNvSpPr/>
          <p:nvPr/>
        </p:nvSpPr>
        <p:spPr>
          <a:xfrm>
            <a:off x="502920" y="397764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21" name="Shape 19"/>
          <p:cNvSpPr/>
          <p:nvPr/>
        </p:nvSpPr>
        <p:spPr>
          <a:xfrm>
            <a:off x="667512" y="4142232"/>
            <a:ext cx="502920" cy="502920"/>
          </a:xfrm>
          <a:prstGeom prst="ellipse">
            <a:avLst/>
          </a:prstGeom>
          <a:solidFill>
            <a:srgbClr val="0F3A5F"/>
          </a:solidFill>
          <a:ln w="15875">
            <a:solidFill>
              <a:srgbClr val="22D3EE"/>
            </a:solidFill>
            <a:prstDash val="solid"/>
          </a:ln>
        </p:spPr>
      </p:sp>
      <p:sp>
        <p:nvSpPr>
          <p:cNvPr id="22" name="Text 20"/>
          <p:cNvSpPr/>
          <p:nvPr/>
        </p:nvSpPr>
        <p:spPr>
          <a:xfrm>
            <a:off x="667512" y="414223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H5</a:t>
            </a:r>
            <a:endParaRPr lang="en-US" sz="1300" dirty="0"/>
          </a:p>
        </p:txBody>
      </p:sp>
      <p:sp>
        <p:nvSpPr>
          <p:cNvPr id="23" name="Text 21"/>
          <p:cNvSpPr/>
          <p:nvPr/>
        </p:nvSpPr>
        <p:spPr>
          <a:xfrm>
            <a:off x="667512" y="475488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Optimizer interacts with representation.</a:t>
            </a:r>
            <a:endParaRPr lang="en-US" sz="1200" dirty="0"/>
          </a:p>
        </p:txBody>
      </p:sp>
      <p:sp>
        <p:nvSpPr>
          <p:cNvPr id="24" name="Shape 22"/>
          <p:cNvSpPr/>
          <p:nvPr/>
        </p:nvSpPr>
        <p:spPr>
          <a:xfrm>
            <a:off x="3342132" y="397764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25" name="Shape 23"/>
          <p:cNvSpPr/>
          <p:nvPr/>
        </p:nvSpPr>
        <p:spPr>
          <a:xfrm>
            <a:off x="3506724" y="4142232"/>
            <a:ext cx="502920" cy="502920"/>
          </a:xfrm>
          <a:prstGeom prst="ellipse">
            <a:avLst/>
          </a:prstGeom>
          <a:solidFill>
            <a:srgbClr val="0F3A5F"/>
          </a:solidFill>
          <a:ln w="15875">
            <a:solidFill>
              <a:srgbClr val="22D3EE"/>
            </a:solidFill>
            <a:prstDash val="solid"/>
          </a:ln>
        </p:spPr>
      </p:sp>
      <p:sp>
        <p:nvSpPr>
          <p:cNvPr id="26" name="Text 24"/>
          <p:cNvSpPr/>
          <p:nvPr/>
        </p:nvSpPr>
        <p:spPr>
          <a:xfrm>
            <a:off x="3506724" y="414223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H6</a:t>
            </a:r>
            <a:endParaRPr lang="en-US" sz="1300" dirty="0"/>
          </a:p>
        </p:txBody>
      </p:sp>
      <p:sp>
        <p:nvSpPr>
          <p:cNvPr id="27" name="Text 25"/>
          <p:cNvSpPr/>
          <p:nvPr/>
        </p:nvSpPr>
        <p:spPr>
          <a:xfrm>
            <a:off x="3506724" y="475488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Increasing collocation improves learning.</a:t>
            </a:r>
            <a:endParaRPr lang="en-US" sz="1200" dirty="0"/>
          </a:p>
        </p:txBody>
      </p:sp>
      <p:sp>
        <p:nvSpPr>
          <p:cNvPr id="28" name="Shape 26"/>
          <p:cNvSpPr/>
          <p:nvPr/>
        </p:nvSpPr>
        <p:spPr>
          <a:xfrm>
            <a:off x="6181344" y="397764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29" name="Shape 27"/>
          <p:cNvSpPr/>
          <p:nvPr/>
        </p:nvSpPr>
        <p:spPr>
          <a:xfrm>
            <a:off x="6345936" y="4142232"/>
            <a:ext cx="502920" cy="502920"/>
          </a:xfrm>
          <a:prstGeom prst="ellipse">
            <a:avLst/>
          </a:prstGeom>
          <a:solidFill>
            <a:srgbClr val="0F3A5F"/>
          </a:solidFill>
          <a:ln w="15875">
            <a:solidFill>
              <a:srgbClr val="22D3EE"/>
            </a:solidFill>
            <a:prstDash val="solid"/>
          </a:ln>
        </p:spPr>
      </p:sp>
      <p:sp>
        <p:nvSpPr>
          <p:cNvPr id="30" name="Text 28"/>
          <p:cNvSpPr/>
          <p:nvPr/>
        </p:nvSpPr>
        <p:spPr>
          <a:xfrm>
            <a:off x="6345936" y="414223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H7</a:t>
            </a:r>
            <a:endParaRPr lang="en-US" sz="1300" dirty="0"/>
          </a:p>
        </p:txBody>
      </p:sp>
      <p:sp>
        <p:nvSpPr>
          <p:cNvPr id="31" name="Text 29"/>
          <p:cNvSpPr/>
          <p:nvPr/>
        </p:nvSpPr>
        <p:spPr>
          <a:xfrm>
            <a:off x="6345936" y="475488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Lower PDE residual guarantees better prediction.</a:t>
            </a:r>
            <a:endParaRPr lang="en-US" sz="1200" dirty="0"/>
          </a:p>
        </p:txBody>
      </p:sp>
      <p:sp>
        <p:nvSpPr>
          <p:cNvPr id="32" name="Shape 30"/>
          <p:cNvSpPr/>
          <p:nvPr/>
        </p:nvSpPr>
        <p:spPr>
          <a:xfrm>
            <a:off x="9020556" y="3977640"/>
            <a:ext cx="2638044" cy="2103120"/>
          </a:xfrm>
          <a:prstGeom prst="roundRect">
            <a:avLst>
              <a:gd name="adj" fmla="val 3478"/>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33" name="Shape 31"/>
          <p:cNvSpPr/>
          <p:nvPr/>
        </p:nvSpPr>
        <p:spPr>
          <a:xfrm>
            <a:off x="9185148" y="4142232"/>
            <a:ext cx="502920" cy="502920"/>
          </a:xfrm>
          <a:prstGeom prst="ellipse">
            <a:avLst/>
          </a:prstGeom>
          <a:solidFill>
            <a:srgbClr val="0F3A5F"/>
          </a:solidFill>
          <a:ln w="15875">
            <a:solidFill>
              <a:srgbClr val="22D3EE"/>
            </a:solidFill>
            <a:prstDash val="solid"/>
          </a:ln>
        </p:spPr>
      </p:sp>
      <p:sp>
        <p:nvSpPr>
          <p:cNvPr id="34" name="Text 32"/>
          <p:cNvSpPr/>
          <p:nvPr/>
        </p:nvSpPr>
        <p:spPr>
          <a:xfrm>
            <a:off x="9185148" y="4142232"/>
            <a:ext cx="502920" cy="502920"/>
          </a:xfrm>
          <a:prstGeom prst="rect">
            <a:avLst/>
          </a:prstGeom>
          <a:noFill/>
          <a:ln/>
        </p:spPr>
        <p:txBody>
          <a:bodyPr wrap="square" rtlCol="0" anchor="ctr"/>
          <a:lstStyle/>
          <a:p>
            <a:pPr marL="0" indent="0" algn="ctr">
              <a:buNone/>
            </a:pPr>
            <a:r>
              <a:rPr lang="en-US" sz="1300" b="1" dirty="0">
                <a:solidFill>
                  <a:srgbClr val="67E8F9"/>
                </a:solidFill>
                <a:latin typeface="Arial" pitchFamily="34" charset="0"/>
                <a:ea typeface="Arial" pitchFamily="34" charset="-122"/>
                <a:cs typeface="Arial" pitchFamily="34" charset="-120"/>
              </a:rPr>
              <a:t>H8</a:t>
            </a:r>
            <a:endParaRPr lang="en-US" sz="1300" dirty="0"/>
          </a:p>
        </p:txBody>
      </p:sp>
      <p:sp>
        <p:nvSpPr>
          <p:cNvPr id="35" name="Text 33"/>
          <p:cNvSpPr/>
          <p:nvPr/>
        </p:nvSpPr>
        <p:spPr>
          <a:xfrm>
            <a:off x="9185148" y="4754880"/>
            <a:ext cx="2308860" cy="1188720"/>
          </a:xfrm>
          <a:prstGeom prst="rect">
            <a:avLst/>
          </a:prstGeom>
          <a:noFill/>
          <a:ln/>
        </p:spPr>
        <p:txBody>
          <a:bodyPr wrap="square" rtlCol="0" anchor="t"/>
          <a:lstStyle/>
          <a:p>
            <a:pPr marL="0" indent="0">
              <a:buNone/>
            </a:pPr>
            <a:r>
              <a:rPr lang="en-US" sz="1200" dirty="0">
                <a:solidFill>
                  <a:srgbClr val="FFFFFF"/>
                </a:solidFill>
                <a:latin typeface="Calibri" pitchFamily="34" charset="0"/>
                <a:ea typeface="Calibri" pitchFamily="34" charset="-122"/>
                <a:cs typeface="Calibri" pitchFamily="34" charset="-120"/>
              </a:rPr>
              <a:t>A hybrid quantum layer can outperform an equivalent classical representation.</a:t>
            </a:r>
            <a:endParaRPr lang="en-US" sz="1200" dirty="0"/>
          </a:p>
        </p:txBody>
      </p:sp>
      <p:sp>
        <p:nvSpPr>
          <p:cNvPr id="36" name="Text 34"/>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37" name="Text 35"/>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Hypotheses</a:t>
            </a:r>
            <a:endParaRPr lang="en-US" sz="850" dirty="0"/>
          </a:p>
        </p:txBody>
      </p:sp>
      <p:sp>
        <p:nvSpPr>
          <p:cNvPr id="38" name="Text 36"/>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BACKGROUND</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Model A vs. Model B — Implemented Architectures</a:t>
            </a:r>
            <a:endParaRPr lang="en-US" sz="2700" dirty="0"/>
          </a:p>
        </p:txBody>
      </p:sp>
      <p:sp>
        <p:nvSpPr>
          <p:cNvPr id="4" name="Text 2"/>
          <p:cNvSpPr/>
          <p:nvPr/>
        </p:nvSpPr>
        <p:spPr>
          <a:xfrm>
            <a:off x="502920" y="1417320"/>
            <a:ext cx="5303520" cy="292608"/>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Model A — Classical PINN</a:t>
            </a:r>
            <a:endParaRPr lang="en-US" sz="1300" dirty="0"/>
          </a:p>
        </p:txBody>
      </p:sp>
      <p:sp>
        <p:nvSpPr>
          <p:cNvPr id="5" name="Shape 3"/>
          <p:cNvSpPr/>
          <p:nvPr/>
        </p:nvSpPr>
        <p:spPr>
          <a:xfrm>
            <a:off x="502920" y="1783080"/>
            <a:ext cx="5303520" cy="512064"/>
          </a:xfrm>
          <a:prstGeom prst="roundRect">
            <a:avLst>
              <a:gd name="adj" fmla="val 14286"/>
            </a:avLst>
          </a:prstGeom>
          <a:solidFill>
            <a:srgbClr val="123259"/>
          </a:solidFill>
          <a:ln w="12700">
            <a:solidFill>
              <a:srgbClr val="1E3F6B"/>
            </a:solidFill>
            <a:prstDash val="solid"/>
          </a:ln>
        </p:spPr>
      </p:sp>
      <p:sp>
        <p:nvSpPr>
          <p:cNvPr id="6" name="Text 4"/>
          <p:cNvSpPr/>
          <p:nvPr/>
        </p:nvSpPr>
        <p:spPr>
          <a:xfrm>
            <a:off x="594360" y="1783080"/>
            <a:ext cx="5120640" cy="512064"/>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Input (x, t)</a:t>
            </a:r>
            <a:endParaRPr lang="en-US" sz="1150" dirty="0"/>
          </a:p>
        </p:txBody>
      </p:sp>
      <p:sp>
        <p:nvSpPr>
          <p:cNvPr id="7" name="Shape 5"/>
          <p:cNvSpPr/>
          <p:nvPr/>
        </p:nvSpPr>
        <p:spPr>
          <a:xfrm>
            <a:off x="3072384" y="2258568"/>
            <a:ext cx="164592" cy="219456"/>
          </a:xfrm>
          <a:prstGeom prst="downArrow">
            <a:avLst/>
          </a:prstGeom>
          <a:solidFill>
            <a:srgbClr val="22D3EE"/>
          </a:solidFill>
          <a:ln/>
        </p:spPr>
      </p:sp>
      <p:sp>
        <p:nvSpPr>
          <p:cNvPr id="8" name="Shape 6"/>
          <p:cNvSpPr/>
          <p:nvPr/>
        </p:nvSpPr>
        <p:spPr>
          <a:xfrm>
            <a:off x="502920" y="2441448"/>
            <a:ext cx="5303520" cy="512064"/>
          </a:xfrm>
          <a:prstGeom prst="roundRect">
            <a:avLst>
              <a:gd name="adj" fmla="val 14286"/>
            </a:avLst>
          </a:prstGeom>
          <a:solidFill>
            <a:srgbClr val="123259"/>
          </a:solidFill>
          <a:ln w="12700">
            <a:solidFill>
              <a:srgbClr val="1E3F6B"/>
            </a:solidFill>
            <a:prstDash val="solid"/>
          </a:ln>
        </p:spPr>
      </p:sp>
      <p:sp>
        <p:nvSpPr>
          <p:cNvPr id="9" name="Text 7"/>
          <p:cNvSpPr/>
          <p:nvPr/>
        </p:nvSpPr>
        <p:spPr>
          <a:xfrm>
            <a:off x="594360" y="2441448"/>
            <a:ext cx="5120640" cy="512064"/>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Classical Dense Representation</a:t>
            </a:r>
            <a:endParaRPr lang="en-US" sz="1150" dirty="0"/>
          </a:p>
        </p:txBody>
      </p:sp>
      <p:sp>
        <p:nvSpPr>
          <p:cNvPr id="10" name="Shape 8"/>
          <p:cNvSpPr/>
          <p:nvPr/>
        </p:nvSpPr>
        <p:spPr>
          <a:xfrm>
            <a:off x="3072384" y="2916936"/>
            <a:ext cx="164592" cy="219456"/>
          </a:xfrm>
          <a:prstGeom prst="downArrow">
            <a:avLst/>
          </a:prstGeom>
          <a:solidFill>
            <a:srgbClr val="22D3EE"/>
          </a:solidFill>
          <a:ln/>
        </p:spPr>
      </p:sp>
      <p:sp>
        <p:nvSpPr>
          <p:cNvPr id="11" name="Shape 9"/>
          <p:cNvSpPr/>
          <p:nvPr/>
        </p:nvSpPr>
        <p:spPr>
          <a:xfrm>
            <a:off x="502920" y="3099816"/>
            <a:ext cx="5303520" cy="512064"/>
          </a:xfrm>
          <a:prstGeom prst="roundRect">
            <a:avLst>
              <a:gd name="adj" fmla="val 14286"/>
            </a:avLst>
          </a:prstGeom>
          <a:solidFill>
            <a:srgbClr val="123259"/>
          </a:solidFill>
          <a:ln w="12700">
            <a:solidFill>
              <a:srgbClr val="1E3F6B"/>
            </a:solidFill>
            <a:prstDash val="solid"/>
          </a:ln>
        </p:spPr>
      </p:sp>
      <p:sp>
        <p:nvSpPr>
          <p:cNvPr id="12" name="Text 10"/>
          <p:cNvSpPr/>
          <p:nvPr/>
        </p:nvSpPr>
        <p:spPr>
          <a:xfrm>
            <a:off x="594360" y="3099816"/>
            <a:ext cx="5120640" cy="512064"/>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Hidden Layers (5 × 64, tanh)</a:t>
            </a:r>
            <a:endParaRPr lang="en-US" sz="1150" dirty="0"/>
          </a:p>
        </p:txBody>
      </p:sp>
      <p:sp>
        <p:nvSpPr>
          <p:cNvPr id="13" name="Shape 11"/>
          <p:cNvSpPr/>
          <p:nvPr/>
        </p:nvSpPr>
        <p:spPr>
          <a:xfrm>
            <a:off x="3072384" y="3575304"/>
            <a:ext cx="164592" cy="219456"/>
          </a:xfrm>
          <a:prstGeom prst="downArrow">
            <a:avLst/>
          </a:prstGeom>
          <a:solidFill>
            <a:srgbClr val="22D3EE"/>
          </a:solidFill>
          <a:ln/>
        </p:spPr>
      </p:sp>
      <p:sp>
        <p:nvSpPr>
          <p:cNvPr id="14" name="Shape 12"/>
          <p:cNvSpPr/>
          <p:nvPr/>
        </p:nvSpPr>
        <p:spPr>
          <a:xfrm>
            <a:off x="502920" y="3758184"/>
            <a:ext cx="5303520" cy="512064"/>
          </a:xfrm>
          <a:prstGeom prst="roundRect">
            <a:avLst>
              <a:gd name="adj" fmla="val 14286"/>
            </a:avLst>
          </a:prstGeom>
          <a:solidFill>
            <a:srgbClr val="123259"/>
          </a:solidFill>
          <a:ln w="12700">
            <a:solidFill>
              <a:srgbClr val="1E3F6B"/>
            </a:solidFill>
            <a:prstDash val="solid"/>
          </a:ln>
        </p:spPr>
      </p:sp>
      <p:sp>
        <p:nvSpPr>
          <p:cNvPr id="15" name="Text 13"/>
          <p:cNvSpPr/>
          <p:nvPr/>
        </p:nvSpPr>
        <p:spPr>
          <a:xfrm>
            <a:off x="594360" y="3758184"/>
            <a:ext cx="5120640" cy="512064"/>
          </a:xfrm>
          <a:prstGeom prst="rect">
            <a:avLst/>
          </a:prstGeom>
          <a:noFill/>
          <a:ln/>
        </p:spPr>
        <p:txBody>
          <a:bodyPr wrap="square" rtlCol="0" anchor="ctr"/>
          <a:lstStyle/>
          <a:p>
            <a:pPr marL="0" indent="0" algn="ctr">
              <a:buNone/>
            </a:pPr>
            <a:r>
              <a:rPr lang="en-US" sz="1150" dirty="0">
                <a:solidFill>
                  <a:srgbClr val="FFFFFF"/>
                </a:solidFill>
                <a:latin typeface="Calibri" pitchFamily="34" charset="0"/>
                <a:ea typeface="Calibri" pitchFamily="34" charset="-122"/>
                <a:cs typeface="Calibri" pitchFamily="34" charset="-120"/>
              </a:rPr>
              <a:t>Output û(x, t)</a:t>
            </a:r>
            <a:endParaRPr lang="en-US" sz="1150" dirty="0"/>
          </a:p>
        </p:txBody>
      </p:sp>
      <p:sp>
        <p:nvSpPr>
          <p:cNvPr id="16" name="Text 14"/>
          <p:cNvSpPr/>
          <p:nvPr/>
        </p:nvSpPr>
        <p:spPr>
          <a:xfrm>
            <a:off x="502920" y="4434840"/>
            <a:ext cx="5303520" cy="274320"/>
          </a:xfrm>
          <a:prstGeom prst="rect">
            <a:avLst/>
          </a:prstGeom>
          <a:noFill/>
          <a:ln/>
        </p:spPr>
        <p:txBody>
          <a:bodyPr wrap="square" rtlCol="0" anchor="ctr"/>
          <a:lstStyle/>
          <a:p>
            <a:pPr marL="0" indent="0" algn="ctr">
              <a:buNone/>
            </a:pPr>
            <a:r>
              <a:rPr lang="en-US" sz="950" i="1" dirty="0">
                <a:solidFill>
                  <a:srgbClr val="6E86A6"/>
                </a:solidFill>
                <a:latin typeface="Calibri" pitchFamily="34" charset="0"/>
                <a:ea typeface="Calibri" pitchFamily="34" charset="-122"/>
                <a:cs typeface="Calibri" pitchFamily="34" charset="-120"/>
              </a:rPr>
              <a:t>Xavier-normal init  ·  16,897 trainable parameters</a:t>
            </a:r>
            <a:endParaRPr lang="en-US" sz="950" dirty="0"/>
          </a:p>
        </p:txBody>
      </p:sp>
      <p:sp>
        <p:nvSpPr>
          <p:cNvPr id="17" name="Shape 15"/>
          <p:cNvSpPr/>
          <p:nvPr/>
        </p:nvSpPr>
        <p:spPr>
          <a:xfrm>
            <a:off x="6080760" y="1417320"/>
            <a:ext cx="0" cy="4846320"/>
          </a:xfrm>
          <a:prstGeom prst="line">
            <a:avLst/>
          </a:prstGeom>
          <a:noFill/>
          <a:ln w="12700">
            <a:solidFill>
              <a:srgbClr val="1E3F6B"/>
            </a:solidFill>
            <a:prstDash val="dash"/>
          </a:ln>
        </p:spPr>
      </p:sp>
      <p:sp>
        <p:nvSpPr>
          <p:cNvPr id="18" name="Text 16"/>
          <p:cNvSpPr/>
          <p:nvPr/>
        </p:nvSpPr>
        <p:spPr>
          <a:xfrm>
            <a:off x="6400800" y="1417320"/>
            <a:ext cx="5303520" cy="292608"/>
          </a:xfrm>
          <a:prstGeom prst="rect">
            <a:avLst/>
          </a:prstGeom>
          <a:noFill/>
          <a:ln/>
        </p:spPr>
        <p:txBody>
          <a:bodyPr wrap="square" rtlCol="0" anchor="ctr"/>
          <a:lstStyle/>
          <a:p>
            <a:pPr marL="0" indent="0">
              <a:buNone/>
            </a:pPr>
            <a:r>
              <a:rPr lang="en-US" sz="1300" b="1" dirty="0">
                <a:solidFill>
                  <a:srgbClr val="67E8F9"/>
                </a:solidFill>
                <a:latin typeface="Calibri" pitchFamily="34" charset="0"/>
                <a:ea typeface="Calibri" pitchFamily="34" charset="-122"/>
                <a:cs typeface="Calibri" pitchFamily="34" charset="-120"/>
              </a:rPr>
              <a:t>Model B — Quantum-Assisted PINN</a:t>
            </a:r>
            <a:endParaRPr lang="en-US" sz="1300" dirty="0"/>
          </a:p>
        </p:txBody>
      </p:sp>
      <p:sp>
        <p:nvSpPr>
          <p:cNvPr id="19" name="Shape 17"/>
          <p:cNvSpPr/>
          <p:nvPr/>
        </p:nvSpPr>
        <p:spPr>
          <a:xfrm>
            <a:off x="6400800" y="1783080"/>
            <a:ext cx="5303520" cy="420624"/>
          </a:xfrm>
          <a:prstGeom prst="roundRect">
            <a:avLst>
              <a:gd name="adj" fmla="val 17391"/>
            </a:avLst>
          </a:prstGeom>
          <a:solidFill>
            <a:srgbClr val="0C3355"/>
          </a:solidFill>
          <a:ln w="12700">
            <a:solidFill>
              <a:srgbClr val="5B8DEF"/>
            </a:solidFill>
            <a:prstDash val="solid"/>
          </a:ln>
        </p:spPr>
      </p:sp>
      <p:sp>
        <p:nvSpPr>
          <p:cNvPr id="20" name="Text 18"/>
          <p:cNvSpPr/>
          <p:nvPr/>
        </p:nvSpPr>
        <p:spPr>
          <a:xfrm>
            <a:off x="6492240" y="1783080"/>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Input (x, t)</a:t>
            </a:r>
            <a:endParaRPr lang="en-US" sz="1050" dirty="0"/>
          </a:p>
        </p:txBody>
      </p:sp>
      <p:sp>
        <p:nvSpPr>
          <p:cNvPr id="21" name="Shape 19"/>
          <p:cNvSpPr/>
          <p:nvPr/>
        </p:nvSpPr>
        <p:spPr>
          <a:xfrm>
            <a:off x="8970264" y="2139696"/>
            <a:ext cx="164592" cy="219456"/>
          </a:xfrm>
          <a:prstGeom prst="downArrow">
            <a:avLst/>
          </a:prstGeom>
          <a:solidFill>
            <a:srgbClr val="22D3EE"/>
          </a:solidFill>
          <a:ln/>
        </p:spPr>
      </p:sp>
      <p:sp>
        <p:nvSpPr>
          <p:cNvPr id="22" name="Shape 20"/>
          <p:cNvSpPr/>
          <p:nvPr/>
        </p:nvSpPr>
        <p:spPr>
          <a:xfrm>
            <a:off x="6400800" y="2295144"/>
            <a:ext cx="5303520" cy="420624"/>
          </a:xfrm>
          <a:prstGeom prst="roundRect">
            <a:avLst>
              <a:gd name="adj" fmla="val 17391"/>
            </a:avLst>
          </a:prstGeom>
          <a:solidFill>
            <a:srgbClr val="0C3355"/>
          </a:solidFill>
          <a:ln w="12700">
            <a:solidFill>
              <a:srgbClr val="5B8DEF"/>
            </a:solidFill>
            <a:prstDash val="solid"/>
          </a:ln>
        </p:spPr>
      </p:sp>
      <p:sp>
        <p:nvSpPr>
          <p:cNvPr id="23" name="Text 21"/>
          <p:cNvSpPr/>
          <p:nvPr/>
        </p:nvSpPr>
        <p:spPr>
          <a:xfrm>
            <a:off x="6492240" y="2295144"/>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Normalization</a:t>
            </a:r>
            <a:endParaRPr lang="en-US" sz="1050" dirty="0"/>
          </a:p>
        </p:txBody>
      </p:sp>
      <p:sp>
        <p:nvSpPr>
          <p:cNvPr id="24" name="Shape 22"/>
          <p:cNvSpPr/>
          <p:nvPr/>
        </p:nvSpPr>
        <p:spPr>
          <a:xfrm>
            <a:off x="8970264" y="2651760"/>
            <a:ext cx="164592" cy="219456"/>
          </a:xfrm>
          <a:prstGeom prst="downArrow">
            <a:avLst/>
          </a:prstGeom>
          <a:solidFill>
            <a:srgbClr val="22D3EE"/>
          </a:solidFill>
          <a:ln/>
        </p:spPr>
      </p:sp>
      <p:sp>
        <p:nvSpPr>
          <p:cNvPr id="25" name="Shape 23"/>
          <p:cNvSpPr/>
          <p:nvPr/>
        </p:nvSpPr>
        <p:spPr>
          <a:xfrm>
            <a:off x="6400800" y="2807208"/>
            <a:ext cx="5303520" cy="420624"/>
          </a:xfrm>
          <a:prstGeom prst="roundRect">
            <a:avLst>
              <a:gd name="adj" fmla="val 17391"/>
            </a:avLst>
          </a:prstGeom>
          <a:solidFill>
            <a:srgbClr val="0C3355"/>
          </a:solidFill>
          <a:ln w="12700">
            <a:solidFill>
              <a:srgbClr val="5B8DEF"/>
            </a:solidFill>
            <a:prstDash val="solid"/>
          </a:ln>
        </p:spPr>
      </p:sp>
      <p:sp>
        <p:nvSpPr>
          <p:cNvPr id="26" name="Text 24"/>
          <p:cNvSpPr/>
          <p:nvPr/>
        </p:nvSpPr>
        <p:spPr>
          <a:xfrm>
            <a:off x="6492240" y="2807208"/>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Quantum Encoding</a:t>
            </a:r>
            <a:endParaRPr lang="en-US" sz="1050" dirty="0"/>
          </a:p>
        </p:txBody>
      </p:sp>
      <p:sp>
        <p:nvSpPr>
          <p:cNvPr id="27" name="Shape 25"/>
          <p:cNvSpPr/>
          <p:nvPr/>
        </p:nvSpPr>
        <p:spPr>
          <a:xfrm>
            <a:off x="8970264" y="3163824"/>
            <a:ext cx="164592" cy="219456"/>
          </a:xfrm>
          <a:prstGeom prst="downArrow">
            <a:avLst/>
          </a:prstGeom>
          <a:solidFill>
            <a:srgbClr val="22D3EE"/>
          </a:solidFill>
          <a:ln/>
        </p:spPr>
      </p:sp>
      <p:sp>
        <p:nvSpPr>
          <p:cNvPr id="28" name="Shape 26"/>
          <p:cNvSpPr/>
          <p:nvPr/>
        </p:nvSpPr>
        <p:spPr>
          <a:xfrm>
            <a:off x="6400800" y="3319272"/>
            <a:ext cx="5303520" cy="420624"/>
          </a:xfrm>
          <a:prstGeom prst="roundRect">
            <a:avLst>
              <a:gd name="adj" fmla="val 17391"/>
            </a:avLst>
          </a:prstGeom>
          <a:solidFill>
            <a:srgbClr val="0C3355"/>
          </a:solidFill>
          <a:ln w="12700">
            <a:solidFill>
              <a:srgbClr val="5B8DEF"/>
            </a:solidFill>
            <a:prstDash val="solid"/>
          </a:ln>
        </p:spPr>
      </p:sp>
      <p:sp>
        <p:nvSpPr>
          <p:cNvPr id="29" name="Text 27"/>
          <p:cNvSpPr/>
          <p:nvPr/>
        </p:nvSpPr>
        <p:spPr>
          <a:xfrm>
            <a:off x="6492240" y="3319272"/>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Parameterized Quantum Circuit</a:t>
            </a:r>
            <a:endParaRPr lang="en-US" sz="1050" dirty="0"/>
          </a:p>
        </p:txBody>
      </p:sp>
      <p:sp>
        <p:nvSpPr>
          <p:cNvPr id="30" name="Shape 28"/>
          <p:cNvSpPr/>
          <p:nvPr/>
        </p:nvSpPr>
        <p:spPr>
          <a:xfrm>
            <a:off x="8970264" y="3675888"/>
            <a:ext cx="164592" cy="219456"/>
          </a:xfrm>
          <a:prstGeom prst="downArrow">
            <a:avLst/>
          </a:prstGeom>
          <a:solidFill>
            <a:srgbClr val="22D3EE"/>
          </a:solidFill>
          <a:ln/>
        </p:spPr>
      </p:sp>
      <p:sp>
        <p:nvSpPr>
          <p:cNvPr id="31" name="Shape 29"/>
          <p:cNvSpPr/>
          <p:nvPr/>
        </p:nvSpPr>
        <p:spPr>
          <a:xfrm>
            <a:off x="6400800" y="3831336"/>
            <a:ext cx="5303520" cy="420624"/>
          </a:xfrm>
          <a:prstGeom prst="roundRect">
            <a:avLst>
              <a:gd name="adj" fmla="val 17391"/>
            </a:avLst>
          </a:prstGeom>
          <a:solidFill>
            <a:srgbClr val="0C3355"/>
          </a:solidFill>
          <a:ln w="12700">
            <a:solidFill>
              <a:srgbClr val="5B8DEF"/>
            </a:solidFill>
            <a:prstDash val="solid"/>
          </a:ln>
        </p:spPr>
      </p:sp>
      <p:sp>
        <p:nvSpPr>
          <p:cNvPr id="32" name="Text 30"/>
          <p:cNvSpPr/>
          <p:nvPr/>
        </p:nvSpPr>
        <p:spPr>
          <a:xfrm>
            <a:off x="6492240" y="3831336"/>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Measurement</a:t>
            </a:r>
            <a:endParaRPr lang="en-US" sz="1050" dirty="0"/>
          </a:p>
        </p:txBody>
      </p:sp>
      <p:sp>
        <p:nvSpPr>
          <p:cNvPr id="33" name="Shape 31"/>
          <p:cNvSpPr/>
          <p:nvPr/>
        </p:nvSpPr>
        <p:spPr>
          <a:xfrm>
            <a:off x="8970264" y="4187952"/>
            <a:ext cx="164592" cy="219456"/>
          </a:xfrm>
          <a:prstGeom prst="downArrow">
            <a:avLst/>
          </a:prstGeom>
          <a:solidFill>
            <a:srgbClr val="22D3EE"/>
          </a:solidFill>
          <a:ln/>
        </p:spPr>
      </p:sp>
      <p:sp>
        <p:nvSpPr>
          <p:cNvPr id="34" name="Shape 32"/>
          <p:cNvSpPr/>
          <p:nvPr/>
        </p:nvSpPr>
        <p:spPr>
          <a:xfrm>
            <a:off x="6400800" y="4343400"/>
            <a:ext cx="5303520" cy="420624"/>
          </a:xfrm>
          <a:prstGeom prst="roundRect">
            <a:avLst>
              <a:gd name="adj" fmla="val 17391"/>
            </a:avLst>
          </a:prstGeom>
          <a:solidFill>
            <a:srgbClr val="0C3355"/>
          </a:solidFill>
          <a:ln w="12700">
            <a:solidFill>
              <a:srgbClr val="5B8DEF"/>
            </a:solidFill>
            <a:prstDash val="solid"/>
          </a:ln>
        </p:spPr>
      </p:sp>
      <p:sp>
        <p:nvSpPr>
          <p:cNvPr id="35" name="Text 33"/>
          <p:cNvSpPr/>
          <p:nvPr/>
        </p:nvSpPr>
        <p:spPr>
          <a:xfrm>
            <a:off x="6492240" y="4343400"/>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Classical Readout</a:t>
            </a:r>
            <a:endParaRPr lang="en-US" sz="1050" dirty="0"/>
          </a:p>
        </p:txBody>
      </p:sp>
      <p:sp>
        <p:nvSpPr>
          <p:cNvPr id="36" name="Shape 34"/>
          <p:cNvSpPr/>
          <p:nvPr/>
        </p:nvSpPr>
        <p:spPr>
          <a:xfrm>
            <a:off x="8970264" y="4700016"/>
            <a:ext cx="164592" cy="219456"/>
          </a:xfrm>
          <a:prstGeom prst="downArrow">
            <a:avLst/>
          </a:prstGeom>
          <a:solidFill>
            <a:srgbClr val="22D3EE"/>
          </a:solidFill>
          <a:ln/>
        </p:spPr>
      </p:sp>
      <p:sp>
        <p:nvSpPr>
          <p:cNvPr id="37" name="Shape 35"/>
          <p:cNvSpPr/>
          <p:nvPr/>
        </p:nvSpPr>
        <p:spPr>
          <a:xfrm>
            <a:off x="6400800" y="4855464"/>
            <a:ext cx="5303520" cy="420624"/>
          </a:xfrm>
          <a:prstGeom prst="roundRect">
            <a:avLst>
              <a:gd name="adj" fmla="val 17391"/>
            </a:avLst>
          </a:prstGeom>
          <a:solidFill>
            <a:srgbClr val="0C3355"/>
          </a:solidFill>
          <a:ln w="12700">
            <a:solidFill>
              <a:srgbClr val="5B8DEF"/>
            </a:solidFill>
            <a:prstDash val="solid"/>
          </a:ln>
        </p:spPr>
      </p:sp>
      <p:sp>
        <p:nvSpPr>
          <p:cNvPr id="38" name="Text 36"/>
          <p:cNvSpPr/>
          <p:nvPr/>
        </p:nvSpPr>
        <p:spPr>
          <a:xfrm>
            <a:off x="6492240" y="4855464"/>
            <a:ext cx="5120640" cy="420624"/>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Prediction û(x, t)</a:t>
            </a:r>
            <a:endParaRPr lang="en-US" sz="1050" dirty="0"/>
          </a:p>
        </p:txBody>
      </p:sp>
      <p:sp>
        <p:nvSpPr>
          <p:cNvPr id="39" name="Text 37"/>
          <p:cNvSpPr/>
          <p:nvPr/>
        </p:nvSpPr>
        <p:spPr>
          <a:xfrm>
            <a:off x="6400800" y="5468112"/>
            <a:ext cx="5303520" cy="274320"/>
          </a:xfrm>
          <a:prstGeom prst="rect">
            <a:avLst/>
          </a:prstGeom>
          <a:noFill/>
          <a:ln/>
        </p:spPr>
        <p:txBody>
          <a:bodyPr wrap="square" rtlCol="0" anchor="ctr"/>
          <a:lstStyle/>
          <a:p>
            <a:pPr marL="0" indent="0" algn="ctr">
              <a:buNone/>
            </a:pPr>
            <a:r>
              <a:rPr lang="en-US" sz="950" i="1" dirty="0">
                <a:solidFill>
                  <a:srgbClr val="6E86A6"/>
                </a:solidFill>
                <a:latin typeface="Calibri" pitchFamily="34" charset="0"/>
                <a:ea typeface="Calibri" pitchFamily="34" charset="-122"/>
                <a:cs typeface="Calibri" pitchFamily="34" charset="-120"/>
              </a:rPr>
              <a:t>4 qubits · depth 3 · circular entanglement  ·  85 trainable parameters (≈0.50% of Model A)</a:t>
            </a:r>
            <a:endParaRPr lang="en-US" sz="950" dirty="0"/>
          </a:p>
        </p:txBody>
      </p:sp>
      <p:sp>
        <p:nvSpPr>
          <p:cNvPr id="40" name="Shape 38"/>
          <p:cNvSpPr/>
          <p:nvPr/>
        </p:nvSpPr>
        <p:spPr>
          <a:xfrm>
            <a:off x="502920" y="5870448"/>
            <a:ext cx="11201400" cy="621792"/>
          </a:xfrm>
          <a:prstGeom prst="roundRect">
            <a:avLst>
              <a:gd name="adj" fmla="val 11765"/>
            </a:avLst>
          </a:prstGeom>
          <a:solidFill>
            <a:srgbClr val="0C3355"/>
          </a:solidFill>
          <a:ln w="15875">
            <a:solidFill>
              <a:srgbClr val="22D3EE"/>
            </a:solidFill>
            <a:prstDash val="solid"/>
          </a:ln>
        </p:spPr>
      </p:sp>
      <p:sp>
        <p:nvSpPr>
          <p:cNvPr id="41" name="Text 39"/>
          <p:cNvSpPr/>
          <p:nvPr/>
        </p:nvSpPr>
        <p:spPr>
          <a:xfrm>
            <a:off x="777240" y="5870448"/>
            <a:ext cx="10652760" cy="621792"/>
          </a:xfrm>
          <a:prstGeom prst="rect">
            <a:avLst/>
          </a:prstGeom>
          <a:noFill/>
          <a:ln/>
        </p:spPr>
        <p:txBody>
          <a:bodyPr wrap="square"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Key design decision: unlike Model A, Model B's first representation layer is replaced directly by quantum encoding — no classical preprocessing dense layer precedes the quantum circuit.</a:t>
            </a:r>
            <a:endParaRPr lang="en-US" sz="1150" dirty="0"/>
          </a:p>
        </p:txBody>
      </p:sp>
      <p:sp>
        <p:nvSpPr>
          <p:cNvPr id="42" name="Text 40"/>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43" name="Text 41"/>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Background</a:t>
            </a:r>
            <a:endParaRPr lang="en-US" sz="850" dirty="0"/>
          </a:p>
        </p:txBody>
      </p:sp>
      <p:sp>
        <p:nvSpPr>
          <p:cNvPr id="44" name="Text 42"/>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05</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METHODOLOGY</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Controlled Comparison Design</a:t>
            </a:r>
            <a:endParaRPr lang="en-US" sz="2700" dirty="0"/>
          </a:p>
        </p:txBody>
      </p:sp>
      <p:sp>
        <p:nvSpPr>
          <p:cNvPr id="4" name="Shape 2"/>
          <p:cNvSpPr/>
          <p:nvPr/>
        </p:nvSpPr>
        <p:spPr>
          <a:xfrm>
            <a:off x="502920" y="1463040"/>
            <a:ext cx="1737360" cy="914400"/>
          </a:xfrm>
          <a:prstGeom prst="roundRect">
            <a:avLst>
              <a:gd name="adj" fmla="val 8000"/>
            </a:avLst>
          </a:prstGeom>
          <a:solidFill>
            <a:srgbClr val="123259"/>
          </a:solidFill>
          <a:ln w="12700">
            <a:solidFill>
              <a:srgbClr val="1E3F6B"/>
            </a:solidFill>
            <a:prstDash val="solid"/>
          </a:ln>
        </p:spPr>
      </p:sp>
      <p:sp>
        <p:nvSpPr>
          <p:cNvPr id="5" name="Text 3"/>
          <p:cNvSpPr/>
          <p:nvPr/>
        </p:nvSpPr>
        <p:spPr>
          <a:xfrm>
            <a:off x="548640" y="1463040"/>
            <a:ext cx="1645920" cy="91440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Burgers'</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PDE</a:t>
            </a:r>
            <a:endParaRPr lang="en-US" sz="1050" dirty="0"/>
          </a:p>
        </p:txBody>
      </p:sp>
      <p:sp>
        <p:nvSpPr>
          <p:cNvPr id="6" name="Shape 4"/>
          <p:cNvSpPr/>
          <p:nvPr/>
        </p:nvSpPr>
        <p:spPr>
          <a:xfrm>
            <a:off x="2249424" y="1837944"/>
            <a:ext cx="128016" cy="164592"/>
          </a:xfrm>
          <a:prstGeom prst="rightArrow">
            <a:avLst/>
          </a:prstGeom>
          <a:solidFill>
            <a:srgbClr val="22D3EE"/>
          </a:solidFill>
          <a:ln/>
        </p:spPr>
      </p:sp>
      <p:sp>
        <p:nvSpPr>
          <p:cNvPr id="7" name="Shape 5"/>
          <p:cNvSpPr/>
          <p:nvPr/>
        </p:nvSpPr>
        <p:spPr>
          <a:xfrm>
            <a:off x="2386584" y="1463040"/>
            <a:ext cx="1737360" cy="914400"/>
          </a:xfrm>
          <a:prstGeom prst="roundRect">
            <a:avLst>
              <a:gd name="adj" fmla="val 8000"/>
            </a:avLst>
          </a:prstGeom>
          <a:solidFill>
            <a:srgbClr val="123259"/>
          </a:solidFill>
          <a:ln w="12700">
            <a:solidFill>
              <a:srgbClr val="1E3F6B"/>
            </a:solidFill>
            <a:prstDash val="solid"/>
          </a:ln>
        </p:spPr>
      </p:sp>
      <p:sp>
        <p:nvSpPr>
          <p:cNvPr id="8" name="Text 6"/>
          <p:cNvSpPr/>
          <p:nvPr/>
        </p:nvSpPr>
        <p:spPr>
          <a:xfrm>
            <a:off x="2432304" y="1463040"/>
            <a:ext cx="1645920" cy="91440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Collocation</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Points (LHS)</a:t>
            </a:r>
            <a:endParaRPr lang="en-US" sz="1050" dirty="0"/>
          </a:p>
        </p:txBody>
      </p:sp>
      <p:sp>
        <p:nvSpPr>
          <p:cNvPr id="9" name="Shape 7"/>
          <p:cNvSpPr/>
          <p:nvPr/>
        </p:nvSpPr>
        <p:spPr>
          <a:xfrm>
            <a:off x="4133088" y="1837944"/>
            <a:ext cx="128016" cy="164592"/>
          </a:xfrm>
          <a:prstGeom prst="rightArrow">
            <a:avLst/>
          </a:prstGeom>
          <a:solidFill>
            <a:srgbClr val="22D3EE"/>
          </a:solidFill>
          <a:ln/>
        </p:spPr>
      </p:sp>
      <p:sp>
        <p:nvSpPr>
          <p:cNvPr id="10" name="Shape 8"/>
          <p:cNvSpPr/>
          <p:nvPr/>
        </p:nvSpPr>
        <p:spPr>
          <a:xfrm>
            <a:off x="4270248" y="1463040"/>
            <a:ext cx="1737360" cy="914400"/>
          </a:xfrm>
          <a:prstGeom prst="roundRect">
            <a:avLst>
              <a:gd name="adj" fmla="val 8000"/>
            </a:avLst>
          </a:prstGeom>
          <a:solidFill>
            <a:srgbClr val="0C3355"/>
          </a:solidFill>
          <a:ln w="22225">
            <a:solidFill>
              <a:srgbClr val="22D3EE"/>
            </a:solidFill>
            <a:prstDash val="solid"/>
          </a:ln>
          <a:effectLst>
            <a:outerShdw blurRad="101600" dist="38100" dir="5400000" algn="bl" rotWithShape="0">
              <a:srgbClr val="000000">
                <a:alpha val="35000"/>
              </a:srgbClr>
            </a:outerShdw>
          </a:effectLst>
        </p:spPr>
      </p:sp>
      <p:sp>
        <p:nvSpPr>
          <p:cNvPr id="11" name="Text 9"/>
          <p:cNvSpPr/>
          <p:nvPr/>
        </p:nvSpPr>
        <p:spPr>
          <a:xfrm>
            <a:off x="4315968" y="1463040"/>
            <a:ext cx="1645920" cy="914400"/>
          </a:xfrm>
          <a:prstGeom prst="rect">
            <a:avLst/>
          </a:prstGeom>
          <a:noFill/>
          <a:ln/>
        </p:spPr>
        <p:txBody>
          <a:bodyPr wrap="square" rtlCol="0" anchor="ctr"/>
          <a:lstStyle/>
          <a:p>
            <a:pPr marL="0" indent="0" algn="ctr">
              <a:buNone/>
            </a:pPr>
            <a:r>
              <a:rPr lang="en-US" sz="1050" b="1" dirty="0">
                <a:solidFill>
                  <a:srgbClr val="67E8F9"/>
                </a:solidFill>
                <a:latin typeface="Calibri" pitchFamily="34" charset="0"/>
                <a:ea typeface="Calibri" pitchFamily="34" charset="-122"/>
                <a:cs typeface="Calibri" pitchFamily="34" charset="-120"/>
              </a:rPr>
              <a:t>PINN /</a:t>
            </a:r>
            <a:endParaRPr lang="en-US" sz="1050" dirty="0"/>
          </a:p>
          <a:p>
            <a:pPr marL="0" indent="0" algn="ctr">
              <a:buNone/>
            </a:pPr>
            <a:r>
              <a:rPr lang="en-US" sz="1050" b="1" dirty="0">
                <a:solidFill>
                  <a:srgbClr val="67E8F9"/>
                </a:solidFill>
                <a:latin typeface="Calibri" pitchFamily="34" charset="0"/>
                <a:ea typeface="Calibri" pitchFamily="34" charset="-122"/>
                <a:cs typeface="Calibri" pitchFamily="34" charset="-120"/>
              </a:rPr>
              <a:t>QAPINN</a:t>
            </a:r>
            <a:endParaRPr lang="en-US" sz="1050" dirty="0"/>
          </a:p>
        </p:txBody>
      </p:sp>
      <p:sp>
        <p:nvSpPr>
          <p:cNvPr id="12" name="Shape 10"/>
          <p:cNvSpPr/>
          <p:nvPr/>
        </p:nvSpPr>
        <p:spPr>
          <a:xfrm>
            <a:off x="6016752" y="1837944"/>
            <a:ext cx="128016" cy="164592"/>
          </a:xfrm>
          <a:prstGeom prst="rightArrow">
            <a:avLst/>
          </a:prstGeom>
          <a:solidFill>
            <a:srgbClr val="22D3EE"/>
          </a:solidFill>
          <a:ln/>
        </p:spPr>
      </p:sp>
      <p:sp>
        <p:nvSpPr>
          <p:cNvPr id="13" name="Shape 11"/>
          <p:cNvSpPr/>
          <p:nvPr/>
        </p:nvSpPr>
        <p:spPr>
          <a:xfrm>
            <a:off x="6153912" y="1463040"/>
            <a:ext cx="1737360" cy="914400"/>
          </a:xfrm>
          <a:prstGeom prst="roundRect">
            <a:avLst>
              <a:gd name="adj" fmla="val 8000"/>
            </a:avLst>
          </a:prstGeom>
          <a:solidFill>
            <a:srgbClr val="123259"/>
          </a:solidFill>
          <a:ln w="12700">
            <a:solidFill>
              <a:srgbClr val="1E3F6B"/>
            </a:solidFill>
            <a:prstDash val="solid"/>
          </a:ln>
        </p:spPr>
      </p:sp>
      <p:sp>
        <p:nvSpPr>
          <p:cNvPr id="14" name="Text 12"/>
          <p:cNvSpPr/>
          <p:nvPr/>
        </p:nvSpPr>
        <p:spPr>
          <a:xfrm>
            <a:off x="6199632" y="1463040"/>
            <a:ext cx="1645920" cy="91440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PDE + IC + BC</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Loss</a:t>
            </a:r>
            <a:endParaRPr lang="en-US" sz="1050" dirty="0"/>
          </a:p>
        </p:txBody>
      </p:sp>
      <p:sp>
        <p:nvSpPr>
          <p:cNvPr id="15" name="Shape 13"/>
          <p:cNvSpPr/>
          <p:nvPr/>
        </p:nvSpPr>
        <p:spPr>
          <a:xfrm>
            <a:off x="7900416" y="1837944"/>
            <a:ext cx="128016" cy="164592"/>
          </a:xfrm>
          <a:prstGeom prst="rightArrow">
            <a:avLst/>
          </a:prstGeom>
          <a:solidFill>
            <a:srgbClr val="22D3EE"/>
          </a:solidFill>
          <a:ln/>
        </p:spPr>
      </p:sp>
      <p:sp>
        <p:nvSpPr>
          <p:cNvPr id="16" name="Shape 14"/>
          <p:cNvSpPr/>
          <p:nvPr/>
        </p:nvSpPr>
        <p:spPr>
          <a:xfrm>
            <a:off x="8037576" y="1463040"/>
            <a:ext cx="1737360" cy="914400"/>
          </a:xfrm>
          <a:prstGeom prst="roundRect">
            <a:avLst>
              <a:gd name="adj" fmla="val 8000"/>
            </a:avLst>
          </a:prstGeom>
          <a:solidFill>
            <a:srgbClr val="123259"/>
          </a:solidFill>
          <a:ln w="12700">
            <a:solidFill>
              <a:srgbClr val="1E3F6B"/>
            </a:solidFill>
            <a:prstDash val="solid"/>
          </a:ln>
        </p:spPr>
      </p:sp>
      <p:sp>
        <p:nvSpPr>
          <p:cNvPr id="17" name="Text 15"/>
          <p:cNvSpPr/>
          <p:nvPr/>
        </p:nvSpPr>
        <p:spPr>
          <a:xfrm>
            <a:off x="8083296" y="1463040"/>
            <a:ext cx="1645920" cy="91440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Adam →</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L-BFGS</a:t>
            </a:r>
            <a:endParaRPr lang="en-US" sz="1050" dirty="0"/>
          </a:p>
        </p:txBody>
      </p:sp>
      <p:sp>
        <p:nvSpPr>
          <p:cNvPr id="18" name="Shape 16"/>
          <p:cNvSpPr/>
          <p:nvPr/>
        </p:nvSpPr>
        <p:spPr>
          <a:xfrm>
            <a:off x="9784080" y="1837944"/>
            <a:ext cx="128016" cy="164592"/>
          </a:xfrm>
          <a:prstGeom prst="rightArrow">
            <a:avLst/>
          </a:prstGeom>
          <a:solidFill>
            <a:srgbClr val="22D3EE"/>
          </a:solidFill>
          <a:ln/>
        </p:spPr>
      </p:sp>
      <p:sp>
        <p:nvSpPr>
          <p:cNvPr id="19" name="Shape 17"/>
          <p:cNvSpPr/>
          <p:nvPr/>
        </p:nvSpPr>
        <p:spPr>
          <a:xfrm>
            <a:off x="9921240" y="1463040"/>
            <a:ext cx="1737360" cy="914400"/>
          </a:xfrm>
          <a:prstGeom prst="roundRect">
            <a:avLst>
              <a:gd name="adj" fmla="val 8000"/>
            </a:avLst>
          </a:prstGeom>
          <a:solidFill>
            <a:srgbClr val="123259"/>
          </a:solidFill>
          <a:ln w="12700">
            <a:solidFill>
              <a:srgbClr val="1E3F6B"/>
            </a:solidFill>
            <a:prstDash val="solid"/>
          </a:ln>
        </p:spPr>
      </p:sp>
      <p:sp>
        <p:nvSpPr>
          <p:cNvPr id="20" name="Text 18"/>
          <p:cNvSpPr/>
          <p:nvPr/>
        </p:nvSpPr>
        <p:spPr>
          <a:xfrm>
            <a:off x="9966960" y="1463040"/>
            <a:ext cx="1645920" cy="914400"/>
          </a:xfrm>
          <a:prstGeom prst="rect">
            <a:avLst/>
          </a:prstGeom>
          <a:noFill/>
          <a:ln/>
        </p:spPr>
        <p:txBody>
          <a:bodyPr wrap="square" rtlCol="0" anchor="ctr"/>
          <a:lstStyle/>
          <a:p>
            <a:pPr marL="0" indent="0" algn="ctr">
              <a:buNone/>
            </a:pPr>
            <a:r>
              <a:rPr lang="en-US" sz="1050" dirty="0">
                <a:solidFill>
                  <a:srgbClr val="FFFFFF"/>
                </a:solidFill>
                <a:latin typeface="Calibri" pitchFamily="34" charset="0"/>
                <a:ea typeface="Calibri" pitchFamily="34" charset="-122"/>
                <a:cs typeface="Calibri" pitchFamily="34" charset="-120"/>
              </a:rPr>
              <a:t>Evaluation</a:t>
            </a:r>
            <a:endParaRPr lang="en-US" sz="1050" dirty="0"/>
          </a:p>
          <a:p>
            <a:pPr marL="0" indent="0" algn="ctr">
              <a:buNone/>
            </a:pPr>
            <a:r>
              <a:rPr lang="en-US" sz="1050" dirty="0">
                <a:solidFill>
                  <a:srgbClr val="FFFFFF"/>
                </a:solidFill>
                <a:latin typeface="Calibri" pitchFamily="34" charset="0"/>
                <a:ea typeface="Calibri" pitchFamily="34" charset="-122"/>
                <a:cs typeface="Calibri" pitchFamily="34" charset="-120"/>
              </a:rPr>
              <a:t>vs. Reference</a:t>
            </a:r>
            <a:endParaRPr lang="en-US" sz="1050" dirty="0"/>
          </a:p>
        </p:txBody>
      </p:sp>
      <p:sp>
        <p:nvSpPr>
          <p:cNvPr id="21" name="Shape 19"/>
          <p:cNvSpPr/>
          <p:nvPr/>
        </p:nvSpPr>
        <p:spPr>
          <a:xfrm>
            <a:off x="5047488" y="2468880"/>
            <a:ext cx="182880" cy="201168"/>
          </a:xfrm>
          <a:prstGeom prst="downArrow">
            <a:avLst/>
          </a:prstGeom>
          <a:solidFill>
            <a:srgbClr val="22D3EE"/>
          </a:solidFill>
          <a:ln/>
        </p:spPr>
      </p:sp>
      <p:sp>
        <p:nvSpPr>
          <p:cNvPr id="22" name="Shape 20"/>
          <p:cNvSpPr/>
          <p:nvPr/>
        </p:nvSpPr>
        <p:spPr>
          <a:xfrm>
            <a:off x="2578608" y="2834640"/>
            <a:ext cx="5120640" cy="0"/>
          </a:xfrm>
          <a:prstGeom prst="line">
            <a:avLst/>
          </a:prstGeom>
          <a:noFill/>
          <a:ln w="19050">
            <a:solidFill>
              <a:srgbClr val="22D3EE"/>
            </a:solidFill>
            <a:prstDash val="solid"/>
          </a:ln>
        </p:spPr>
      </p:sp>
      <p:sp>
        <p:nvSpPr>
          <p:cNvPr id="23" name="Shape 21"/>
          <p:cNvSpPr/>
          <p:nvPr/>
        </p:nvSpPr>
        <p:spPr>
          <a:xfrm>
            <a:off x="475488" y="2962656"/>
            <a:ext cx="4206240" cy="502920"/>
          </a:xfrm>
          <a:prstGeom prst="roundRect">
            <a:avLst>
              <a:gd name="adj" fmla="val 14545"/>
            </a:avLst>
          </a:prstGeom>
          <a:solidFill>
            <a:srgbClr val="0E2A50"/>
          </a:solidFill>
          <a:ln w="12700">
            <a:solidFill>
              <a:srgbClr val="1E3F6B"/>
            </a:solidFill>
            <a:prstDash val="solid"/>
          </a:ln>
        </p:spPr>
      </p:sp>
      <p:sp>
        <p:nvSpPr>
          <p:cNvPr id="24" name="Text 22"/>
          <p:cNvSpPr/>
          <p:nvPr/>
        </p:nvSpPr>
        <p:spPr>
          <a:xfrm>
            <a:off x="475488" y="2962656"/>
            <a:ext cx="4206240" cy="502920"/>
          </a:xfrm>
          <a:prstGeom prst="rect">
            <a:avLst/>
          </a:prstGeom>
          <a:noFill/>
          <a:ln/>
        </p:spPr>
        <p:txBody>
          <a:bodyPr wrap="square"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Model A — Classical Dense Representation</a:t>
            </a:r>
            <a:endParaRPr lang="en-US" sz="1150" dirty="0"/>
          </a:p>
        </p:txBody>
      </p:sp>
      <p:sp>
        <p:nvSpPr>
          <p:cNvPr id="25" name="Shape 23"/>
          <p:cNvSpPr/>
          <p:nvPr/>
        </p:nvSpPr>
        <p:spPr>
          <a:xfrm>
            <a:off x="5596128" y="2962656"/>
            <a:ext cx="4206240" cy="502920"/>
          </a:xfrm>
          <a:prstGeom prst="roundRect">
            <a:avLst>
              <a:gd name="adj" fmla="val 14545"/>
            </a:avLst>
          </a:prstGeom>
          <a:solidFill>
            <a:srgbClr val="0C3355"/>
          </a:solidFill>
          <a:ln w="12700">
            <a:solidFill>
              <a:srgbClr val="5B8DEF"/>
            </a:solidFill>
            <a:prstDash val="solid"/>
          </a:ln>
        </p:spPr>
      </p:sp>
      <p:sp>
        <p:nvSpPr>
          <p:cNvPr id="26" name="Text 24"/>
          <p:cNvSpPr/>
          <p:nvPr/>
        </p:nvSpPr>
        <p:spPr>
          <a:xfrm>
            <a:off x="5596128" y="2962656"/>
            <a:ext cx="4206240" cy="502920"/>
          </a:xfrm>
          <a:prstGeom prst="rect">
            <a:avLst/>
          </a:prstGeom>
          <a:noFill/>
          <a:ln/>
        </p:spPr>
        <p:txBody>
          <a:bodyPr wrap="square" rtlCol="0" anchor="ctr"/>
          <a:lstStyle/>
          <a:p>
            <a:pPr marL="0" indent="0" algn="ctr">
              <a:buNone/>
            </a:pPr>
            <a:r>
              <a:rPr lang="en-US" sz="1150" b="1" dirty="0">
                <a:solidFill>
                  <a:srgbClr val="67E8F9"/>
                </a:solidFill>
                <a:latin typeface="Calibri" pitchFamily="34" charset="0"/>
                <a:ea typeface="Calibri" pitchFamily="34" charset="-122"/>
                <a:cs typeface="Calibri" pitchFamily="34" charset="-120"/>
              </a:rPr>
              <a:t>Model B — Quantum Encoding + Circuit</a:t>
            </a:r>
            <a:endParaRPr lang="en-US" sz="1150" dirty="0"/>
          </a:p>
        </p:txBody>
      </p:sp>
      <p:sp>
        <p:nvSpPr>
          <p:cNvPr id="27" name="Text 25"/>
          <p:cNvSpPr/>
          <p:nvPr/>
        </p:nvSpPr>
        <p:spPr>
          <a:xfrm>
            <a:off x="502920" y="3566160"/>
            <a:ext cx="11155680" cy="292608"/>
          </a:xfrm>
          <a:prstGeom prst="rect">
            <a:avLst/>
          </a:prstGeom>
          <a:noFill/>
          <a:ln/>
        </p:spPr>
        <p:txBody>
          <a:bodyPr wrap="square" rtlCol="0" anchor="ctr"/>
          <a:lstStyle/>
          <a:p>
            <a:pPr marL="0" indent="0" algn="ctr">
              <a:buNone/>
            </a:pPr>
            <a:r>
              <a:rPr lang="en-US" sz="1050" i="1" dirty="0">
                <a:solidFill>
                  <a:srgbClr val="93AAC7"/>
                </a:solidFill>
                <a:latin typeface="Calibri" pitchFamily="34" charset="0"/>
                <a:ea typeface="Calibri" pitchFamily="34" charset="-122"/>
                <a:cs typeface="Calibri" pitchFamily="34" charset="-120"/>
              </a:rPr>
              <a:t>Only this single representation stage differs — every other pipeline stage above is byte-for-byte identical.</a:t>
            </a:r>
            <a:endParaRPr lang="en-US" sz="1050" dirty="0"/>
          </a:p>
        </p:txBody>
      </p:sp>
      <p:sp>
        <p:nvSpPr>
          <p:cNvPr id="28" name="Text 26"/>
          <p:cNvSpPr/>
          <p:nvPr/>
        </p:nvSpPr>
        <p:spPr>
          <a:xfrm>
            <a:off x="502920" y="4160520"/>
            <a:ext cx="5486400" cy="292608"/>
          </a:xfrm>
          <a:prstGeom prst="rect">
            <a:avLst/>
          </a:prstGeom>
          <a:noFill/>
          <a:ln/>
        </p:spPr>
        <p:txBody>
          <a:bodyPr wrap="square"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Shared Across Both Models</a:t>
            </a:r>
            <a:endParaRPr lang="en-US" sz="1250" dirty="0"/>
          </a:p>
        </p:txBody>
      </p:sp>
      <p:sp>
        <p:nvSpPr>
          <p:cNvPr id="29" name="Shape 27"/>
          <p:cNvSpPr/>
          <p:nvPr/>
        </p:nvSpPr>
        <p:spPr>
          <a:xfrm>
            <a:off x="502920" y="4526280"/>
            <a:ext cx="3596640" cy="566928"/>
          </a:xfrm>
          <a:prstGeom prst="roundRect">
            <a:avLst>
              <a:gd name="adj" fmla="val 12903"/>
            </a:avLst>
          </a:prstGeom>
          <a:solidFill>
            <a:srgbClr val="0E2A50"/>
          </a:solidFill>
          <a:ln w="12700">
            <a:solidFill>
              <a:srgbClr val="1E3F6B"/>
            </a:solidFill>
            <a:prstDash val="solid"/>
          </a:ln>
        </p:spPr>
      </p:sp>
      <p:sp>
        <p:nvSpPr>
          <p:cNvPr id="30" name="Text 28"/>
          <p:cNvSpPr/>
          <p:nvPr/>
        </p:nvSpPr>
        <p:spPr>
          <a:xfrm>
            <a:off x="502920" y="4526280"/>
            <a:ext cx="359664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Reference Solution</a:t>
            </a:r>
            <a:endParaRPr lang="en-US" sz="1100" dirty="0"/>
          </a:p>
        </p:txBody>
      </p:sp>
      <p:sp>
        <p:nvSpPr>
          <p:cNvPr id="31" name="Shape 29"/>
          <p:cNvSpPr/>
          <p:nvPr/>
        </p:nvSpPr>
        <p:spPr>
          <a:xfrm>
            <a:off x="4282440" y="4526280"/>
            <a:ext cx="3596640" cy="566928"/>
          </a:xfrm>
          <a:prstGeom prst="roundRect">
            <a:avLst>
              <a:gd name="adj" fmla="val 12903"/>
            </a:avLst>
          </a:prstGeom>
          <a:solidFill>
            <a:srgbClr val="0E2A50"/>
          </a:solidFill>
          <a:ln w="12700">
            <a:solidFill>
              <a:srgbClr val="1E3F6B"/>
            </a:solidFill>
            <a:prstDash val="solid"/>
          </a:ln>
        </p:spPr>
      </p:sp>
      <p:sp>
        <p:nvSpPr>
          <p:cNvPr id="32" name="Text 30"/>
          <p:cNvSpPr/>
          <p:nvPr/>
        </p:nvSpPr>
        <p:spPr>
          <a:xfrm>
            <a:off x="4282440" y="4526280"/>
            <a:ext cx="359664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LHS Sampling</a:t>
            </a:r>
            <a:endParaRPr lang="en-US" sz="1100" dirty="0"/>
          </a:p>
        </p:txBody>
      </p:sp>
      <p:sp>
        <p:nvSpPr>
          <p:cNvPr id="33" name="Shape 31"/>
          <p:cNvSpPr/>
          <p:nvPr/>
        </p:nvSpPr>
        <p:spPr>
          <a:xfrm>
            <a:off x="8061960" y="4526280"/>
            <a:ext cx="3596640" cy="566928"/>
          </a:xfrm>
          <a:prstGeom prst="roundRect">
            <a:avLst>
              <a:gd name="adj" fmla="val 12903"/>
            </a:avLst>
          </a:prstGeom>
          <a:solidFill>
            <a:srgbClr val="0E2A50"/>
          </a:solidFill>
          <a:ln w="12700">
            <a:solidFill>
              <a:srgbClr val="1E3F6B"/>
            </a:solidFill>
            <a:prstDash val="solid"/>
          </a:ln>
        </p:spPr>
      </p:sp>
      <p:sp>
        <p:nvSpPr>
          <p:cNvPr id="34" name="Text 32"/>
          <p:cNvSpPr/>
          <p:nvPr/>
        </p:nvSpPr>
        <p:spPr>
          <a:xfrm>
            <a:off x="8061960" y="4526280"/>
            <a:ext cx="359664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Physics-Informed Loss</a:t>
            </a:r>
            <a:endParaRPr lang="en-US" sz="1100" dirty="0"/>
          </a:p>
        </p:txBody>
      </p:sp>
      <p:sp>
        <p:nvSpPr>
          <p:cNvPr id="35" name="Shape 33"/>
          <p:cNvSpPr/>
          <p:nvPr/>
        </p:nvSpPr>
        <p:spPr>
          <a:xfrm>
            <a:off x="502920" y="5257800"/>
            <a:ext cx="3596640" cy="566928"/>
          </a:xfrm>
          <a:prstGeom prst="roundRect">
            <a:avLst>
              <a:gd name="adj" fmla="val 12903"/>
            </a:avLst>
          </a:prstGeom>
          <a:solidFill>
            <a:srgbClr val="0E2A50"/>
          </a:solidFill>
          <a:ln w="12700">
            <a:solidFill>
              <a:srgbClr val="1E3F6B"/>
            </a:solidFill>
            <a:prstDash val="solid"/>
          </a:ln>
        </p:spPr>
      </p:sp>
      <p:sp>
        <p:nvSpPr>
          <p:cNvPr id="36" name="Text 34"/>
          <p:cNvSpPr/>
          <p:nvPr/>
        </p:nvSpPr>
        <p:spPr>
          <a:xfrm>
            <a:off x="502920" y="5257800"/>
            <a:ext cx="359664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Automatic Differentiation</a:t>
            </a:r>
            <a:endParaRPr lang="en-US" sz="1100" dirty="0"/>
          </a:p>
        </p:txBody>
      </p:sp>
      <p:sp>
        <p:nvSpPr>
          <p:cNvPr id="37" name="Shape 35"/>
          <p:cNvSpPr/>
          <p:nvPr/>
        </p:nvSpPr>
        <p:spPr>
          <a:xfrm>
            <a:off x="4282440" y="5257800"/>
            <a:ext cx="3596640" cy="566928"/>
          </a:xfrm>
          <a:prstGeom prst="roundRect">
            <a:avLst>
              <a:gd name="adj" fmla="val 12903"/>
            </a:avLst>
          </a:prstGeom>
          <a:solidFill>
            <a:srgbClr val="0E2A50"/>
          </a:solidFill>
          <a:ln w="12700">
            <a:solidFill>
              <a:srgbClr val="1E3F6B"/>
            </a:solidFill>
            <a:prstDash val="solid"/>
          </a:ln>
        </p:spPr>
      </p:sp>
      <p:sp>
        <p:nvSpPr>
          <p:cNvPr id="38" name="Text 36"/>
          <p:cNvSpPr/>
          <p:nvPr/>
        </p:nvSpPr>
        <p:spPr>
          <a:xfrm>
            <a:off x="4282440" y="5257800"/>
            <a:ext cx="359664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Training Schedule</a:t>
            </a:r>
            <a:endParaRPr lang="en-US" sz="1100" dirty="0"/>
          </a:p>
        </p:txBody>
      </p:sp>
      <p:sp>
        <p:nvSpPr>
          <p:cNvPr id="39" name="Shape 37"/>
          <p:cNvSpPr/>
          <p:nvPr/>
        </p:nvSpPr>
        <p:spPr>
          <a:xfrm>
            <a:off x="8061960" y="5257800"/>
            <a:ext cx="3596640" cy="566928"/>
          </a:xfrm>
          <a:prstGeom prst="roundRect">
            <a:avLst>
              <a:gd name="adj" fmla="val 12903"/>
            </a:avLst>
          </a:prstGeom>
          <a:solidFill>
            <a:srgbClr val="0E2A50"/>
          </a:solidFill>
          <a:ln w="12700">
            <a:solidFill>
              <a:srgbClr val="1E3F6B"/>
            </a:solidFill>
            <a:prstDash val="solid"/>
          </a:ln>
        </p:spPr>
      </p:sp>
      <p:sp>
        <p:nvSpPr>
          <p:cNvPr id="40" name="Text 38"/>
          <p:cNvSpPr/>
          <p:nvPr/>
        </p:nvSpPr>
        <p:spPr>
          <a:xfrm>
            <a:off x="8061960" y="5257800"/>
            <a:ext cx="3596640" cy="566928"/>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Evaluation Protocol</a:t>
            </a:r>
            <a:endParaRPr lang="en-US" sz="1100" dirty="0"/>
          </a:p>
        </p:txBody>
      </p:sp>
      <p:sp>
        <p:nvSpPr>
          <p:cNvPr id="41" name="Shape 39"/>
          <p:cNvSpPr/>
          <p:nvPr/>
        </p:nvSpPr>
        <p:spPr>
          <a:xfrm>
            <a:off x="502920" y="6016752"/>
            <a:ext cx="11155680" cy="420624"/>
          </a:xfrm>
          <a:prstGeom prst="roundRect">
            <a:avLst>
              <a:gd name="adj" fmla="val 17391"/>
            </a:avLst>
          </a:prstGeom>
          <a:solidFill>
            <a:srgbClr val="0A2247"/>
          </a:solidFill>
          <a:ln w="12700">
            <a:solidFill>
              <a:srgbClr val="22D3EE"/>
            </a:solidFill>
            <a:prstDash val="solid"/>
          </a:ln>
        </p:spPr>
      </p:sp>
      <p:sp>
        <p:nvSpPr>
          <p:cNvPr id="42" name="Text 40"/>
          <p:cNvSpPr/>
          <p:nvPr/>
        </p:nvSpPr>
        <p:spPr>
          <a:xfrm>
            <a:off x="777240" y="6016752"/>
            <a:ext cx="10607040" cy="420624"/>
          </a:xfrm>
          <a:prstGeom prst="rect">
            <a:avLst/>
          </a:prstGeom>
          <a:noFill/>
          <a:ln/>
        </p:spPr>
        <p:txBody>
          <a:bodyPr wrap="square" rtlCol="0" anchor="ctr"/>
          <a:lstStyle/>
          <a:p>
            <a:pPr marL="0" indent="0">
              <a:buNone/>
            </a:pPr>
            <a:r>
              <a:rPr lang="en-US" sz="1050" i="1" dirty="0">
                <a:solidFill>
                  <a:srgbClr val="FFFFFF"/>
                </a:solidFill>
                <a:latin typeface="Calibri" pitchFamily="34" charset="0"/>
                <a:ea typeface="Calibri" pitchFamily="34" charset="-122"/>
                <a:cs typeface="Calibri" pitchFamily="34" charset="-120"/>
              </a:rPr>
              <a:t>Experimental fairness: any measured difference is attributable to representation, not to a confounded pipeline.</a:t>
            </a:r>
            <a:endParaRPr lang="en-US" sz="1050" dirty="0"/>
          </a:p>
        </p:txBody>
      </p:sp>
      <p:sp>
        <p:nvSpPr>
          <p:cNvPr id="43" name="Text 41"/>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44" name="Text 42"/>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Methodology</a:t>
            </a:r>
            <a:endParaRPr lang="en-US" sz="850" dirty="0"/>
          </a:p>
        </p:txBody>
      </p:sp>
      <p:sp>
        <p:nvSpPr>
          <p:cNvPr id="45" name="Text 43"/>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ARCHITECTURE</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Implemented QAPINN Pipeline (Model B)</a:t>
            </a:r>
            <a:endParaRPr lang="en-US" sz="2700" dirty="0"/>
          </a:p>
        </p:txBody>
      </p:sp>
      <p:sp>
        <p:nvSpPr>
          <p:cNvPr id="4" name="Text 2"/>
          <p:cNvSpPr/>
          <p:nvPr/>
        </p:nvSpPr>
        <p:spPr>
          <a:xfrm>
            <a:off x="502920" y="1417320"/>
            <a:ext cx="5486400" cy="292608"/>
          </a:xfrm>
          <a:prstGeom prst="rect">
            <a:avLst/>
          </a:prstGeom>
          <a:noFill/>
          <a:ln/>
        </p:spPr>
        <p:txBody>
          <a:bodyPr wrap="square"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End-to-End Pipeline</a:t>
            </a:r>
            <a:endParaRPr lang="en-US" sz="1250" dirty="0"/>
          </a:p>
        </p:txBody>
      </p:sp>
      <p:sp>
        <p:nvSpPr>
          <p:cNvPr id="5" name="Shape 3"/>
          <p:cNvSpPr/>
          <p:nvPr/>
        </p:nvSpPr>
        <p:spPr>
          <a:xfrm>
            <a:off x="502920" y="1783080"/>
            <a:ext cx="5303520" cy="457200"/>
          </a:xfrm>
          <a:prstGeom prst="roundRect">
            <a:avLst>
              <a:gd name="adj" fmla="val 16000"/>
            </a:avLst>
          </a:prstGeom>
          <a:solidFill>
            <a:srgbClr val="123259"/>
          </a:solidFill>
          <a:ln w="12700">
            <a:solidFill>
              <a:srgbClr val="1E3F6B"/>
            </a:solidFill>
            <a:prstDash val="solid"/>
          </a:ln>
        </p:spPr>
      </p:sp>
      <p:sp>
        <p:nvSpPr>
          <p:cNvPr id="6" name="Text 4"/>
          <p:cNvSpPr/>
          <p:nvPr/>
        </p:nvSpPr>
        <p:spPr>
          <a:xfrm>
            <a:off x="594360" y="1783080"/>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Input (x, t)</a:t>
            </a:r>
            <a:endParaRPr lang="en-US" sz="1100" dirty="0"/>
          </a:p>
        </p:txBody>
      </p:sp>
      <p:sp>
        <p:nvSpPr>
          <p:cNvPr id="7" name="Shape 5"/>
          <p:cNvSpPr/>
          <p:nvPr/>
        </p:nvSpPr>
        <p:spPr>
          <a:xfrm>
            <a:off x="3072384" y="2194560"/>
            <a:ext cx="164592" cy="219456"/>
          </a:xfrm>
          <a:prstGeom prst="downArrow">
            <a:avLst/>
          </a:prstGeom>
          <a:solidFill>
            <a:srgbClr val="22D3EE"/>
          </a:solidFill>
          <a:ln/>
        </p:spPr>
      </p:sp>
      <p:sp>
        <p:nvSpPr>
          <p:cNvPr id="8" name="Shape 6"/>
          <p:cNvSpPr/>
          <p:nvPr/>
        </p:nvSpPr>
        <p:spPr>
          <a:xfrm>
            <a:off x="502920" y="2368296"/>
            <a:ext cx="5303520" cy="457200"/>
          </a:xfrm>
          <a:prstGeom prst="roundRect">
            <a:avLst>
              <a:gd name="adj" fmla="val 16000"/>
            </a:avLst>
          </a:prstGeom>
          <a:solidFill>
            <a:srgbClr val="123259"/>
          </a:solidFill>
          <a:ln w="12700">
            <a:solidFill>
              <a:srgbClr val="1E3F6B"/>
            </a:solidFill>
            <a:prstDash val="solid"/>
          </a:ln>
        </p:spPr>
      </p:sp>
      <p:sp>
        <p:nvSpPr>
          <p:cNvPr id="9" name="Text 7"/>
          <p:cNvSpPr/>
          <p:nvPr/>
        </p:nvSpPr>
        <p:spPr>
          <a:xfrm>
            <a:off x="594360" y="2368296"/>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Normalization</a:t>
            </a:r>
            <a:endParaRPr lang="en-US" sz="1100" dirty="0"/>
          </a:p>
        </p:txBody>
      </p:sp>
      <p:sp>
        <p:nvSpPr>
          <p:cNvPr id="10" name="Shape 8"/>
          <p:cNvSpPr/>
          <p:nvPr/>
        </p:nvSpPr>
        <p:spPr>
          <a:xfrm>
            <a:off x="3072384" y="2779776"/>
            <a:ext cx="164592" cy="219456"/>
          </a:xfrm>
          <a:prstGeom prst="downArrow">
            <a:avLst/>
          </a:prstGeom>
          <a:solidFill>
            <a:srgbClr val="22D3EE"/>
          </a:solidFill>
          <a:ln/>
        </p:spPr>
      </p:sp>
      <p:sp>
        <p:nvSpPr>
          <p:cNvPr id="11" name="Shape 9"/>
          <p:cNvSpPr/>
          <p:nvPr/>
        </p:nvSpPr>
        <p:spPr>
          <a:xfrm>
            <a:off x="502920" y="2953512"/>
            <a:ext cx="5303520" cy="457200"/>
          </a:xfrm>
          <a:prstGeom prst="roundRect">
            <a:avLst>
              <a:gd name="adj" fmla="val 16000"/>
            </a:avLst>
          </a:prstGeom>
          <a:solidFill>
            <a:srgbClr val="123259"/>
          </a:solidFill>
          <a:ln w="12700">
            <a:solidFill>
              <a:srgbClr val="1E3F6B"/>
            </a:solidFill>
            <a:prstDash val="solid"/>
          </a:ln>
        </p:spPr>
      </p:sp>
      <p:sp>
        <p:nvSpPr>
          <p:cNvPr id="12" name="Text 10"/>
          <p:cNvSpPr/>
          <p:nvPr/>
        </p:nvSpPr>
        <p:spPr>
          <a:xfrm>
            <a:off x="594360" y="2953512"/>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Quantum Encoding</a:t>
            </a:r>
            <a:endParaRPr lang="en-US" sz="1100" dirty="0"/>
          </a:p>
        </p:txBody>
      </p:sp>
      <p:sp>
        <p:nvSpPr>
          <p:cNvPr id="13" name="Shape 11"/>
          <p:cNvSpPr/>
          <p:nvPr/>
        </p:nvSpPr>
        <p:spPr>
          <a:xfrm>
            <a:off x="3072384" y="3364992"/>
            <a:ext cx="164592" cy="219456"/>
          </a:xfrm>
          <a:prstGeom prst="downArrow">
            <a:avLst/>
          </a:prstGeom>
          <a:solidFill>
            <a:srgbClr val="22D3EE"/>
          </a:solidFill>
          <a:ln/>
        </p:spPr>
      </p:sp>
      <p:sp>
        <p:nvSpPr>
          <p:cNvPr id="14" name="Shape 12"/>
          <p:cNvSpPr/>
          <p:nvPr/>
        </p:nvSpPr>
        <p:spPr>
          <a:xfrm>
            <a:off x="502920" y="3538728"/>
            <a:ext cx="5303520" cy="457200"/>
          </a:xfrm>
          <a:prstGeom prst="roundRect">
            <a:avLst>
              <a:gd name="adj" fmla="val 16000"/>
            </a:avLst>
          </a:prstGeom>
          <a:solidFill>
            <a:srgbClr val="123259"/>
          </a:solidFill>
          <a:ln w="12700">
            <a:solidFill>
              <a:srgbClr val="1E3F6B"/>
            </a:solidFill>
            <a:prstDash val="solid"/>
          </a:ln>
        </p:spPr>
      </p:sp>
      <p:sp>
        <p:nvSpPr>
          <p:cNvPr id="15" name="Text 13"/>
          <p:cNvSpPr/>
          <p:nvPr/>
        </p:nvSpPr>
        <p:spPr>
          <a:xfrm>
            <a:off x="594360" y="3538728"/>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Variational Quantum Circuit</a:t>
            </a:r>
            <a:endParaRPr lang="en-US" sz="1100" dirty="0"/>
          </a:p>
        </p:txBody>
      </p:sp>
      <p:sp>
        <p:nvSpPr>
          <p:cNvPr id="16" name="Shape 14"/>
          <p:cNvSpPr/>
          <p:nvPr/>
        </p:nvSpPr>
        <p:spPr>
          <a:xfrm>
            <a:off x="3072384" y="3950208"/>
            <a:ext cx="164592" cy="219456"/>
          </a:xfrm>
          <a:prstGeom prst="downArrow">
            <a:avLst/>
          </a:prstGeom>
          <a:solidFill>
            <a:srgbClr val="22D3EE"/>
          </a:solidFill>
          <a:ln/>
        </p:spPr>
      </p:sp>
      <p:sp>
        <p:nvSpPr>
          <p:cNvPr id="17" name="Shape 15"/>
          <p:cNvSpPr/>
          <p:nvPr/>
        </p:nvSpPr>
        <p:spPr>
          <a:xfrm>
            <a:off x="502920" y="4123944"/>
            <a:ext cx="5303520" cy="457200"/>
          </a:xfrm>
          <a:prstGeom prst="roundRect">
            <a:avLst>
              <a:gd name="adj" fmla="val 16000"/>
            </a:avLst>
          </a:prstGeom>
          <a:solidFill>
            <a:srgbClr val="123259"/>
          </a:solidFill>
          <a:ln w="12700">
            <a:solidFill>
              <a:srgbClr val="1E3F6B"/>
            </a:solidFill>
            <a:prstDash val="solid"/>
          </a:ln>
        </p:spPr>
      </p:sp>
      <p:sp>
        <p:nvSpPr>
          <p:cNvPr id="18" name="Text 16"/>
          <p:cNvSpPr/>
          <p:nvPr/>
        </p:nvSpPr>
        <p:spPr>
          <a:xfrm>
            <a:off x="594360" y="4123944"/>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Measurement ⟨Z⟩</a:t>
            </a:r>
            <a:endParaRPr lang="en-US" sz="1100" dirty="0"/>
          </a:p>
        </p:txBody>
      </p:sp>
      <p:sp>
        <p:nvSpPr>
          <p:cNvPr id="19" name="Shape 17"/>
          <p:cNvSpPr/>
          <p:nvPr/>
        </p:nvSpPr>
        <p:spPr>
          <a:xfrm>
            <a:off x="3072384" y="4535424"/>
            <a:ext cx="164592" cy="219456"/>
          </a:xfrm>
          <a:prstGeom prst="downArrow">
            <a:avLst/>
          </a:prstGeom>
          <a:solidFill>
            <a:srgbClr val="22D3EE"/>
          </a:solidFill>
          <a:ln/>
        </p:spPr>
      </p:sp>
      <p:sp>
        <p:nvSpPr>
          <p:cNvPr id="20" name="Shape 18"/>
          <p:cNvSpPr/>
          <p:nvPr/>
        </p:nvSpPr>
        <p:spPr>
          <a:xfrm>
            <a:off x="502920" y="4709160"/>
            <a:ext cx="5303520" cy="457200"/>
          </a:xfrm>
          <a:prstGeom prst="roundRect">
            <a:avLst>
              <a:gd name="adj" fmla="val 16000"/>
            </a:avLst>
          </a:prstGeom>
          <a:solidFill>
            <a:srgbClr val="123259"/>
          </a:solidFill>
          <a:ln w="12700">
            <a:solidFill>
              <a:srgbClr val="1E3F6B"/>
            </a:solidFill>
            <a:prstDash val="solid"/>
          </a:ln>
        </p:spPr>
      </p:sp>
      <p:sp>
        <p:nvSpPr>
          <p:cNvPr id="21" name="Text 19"/>
          <p:cNvSpPr/>
          <p:nvPr/>
        </p:nvSpPr>
        <p:spPr>
          <a:xfrm>
            <a:off x="594360" y="4709160"/>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Classical Readout (4→8→1)</a:t>
            </a:r>
            <a:endParaRPr lang="en-US" sz="1100" dirty="0"/>
          </a:p>
        </p:txBody>
      </p:sp>
      <p:sp>
        <p:nvSpPr>
          <p:cNvPr id="22" name="Shape 20"/>
          <p:cNvSpPr/>
          <p:nvPr/>
        </p:nvSpPr>
        <p:spPr>
          <a:xfrm>
            <a:off x="3072384" y="5120640"/>
            <a:ext cx="164592" cy="219456"/>
          </a:xfrm>
          <a:prstGeom prst="downArrow">
            <a:avLst/>
          </a:prstGeom>
          <a:solidFill>
            <a:srgbClr val="22D3EE"/>
          </a:solidFill>
          <a:ln/>
        </p:spPr>
      </p:sp>
      <p:sp>
        <p:nvSpPr>
          <p:cNvPr id="23" name="Shape 21"/>
          <p:cNvSpPr/>
          <p:nvPr/>
        </p:nvSpPr>
        <p:spPr>
          <a:xfrm>
            <a:off x="502920" y="5294376"/>
            <a:ext cx="5303520" cy="457200"/>
          </a:xfrm>
          <a:prstGeom prst="roundRect">
            <a:avLst>
              <a:gd name="adj" fmla="val 16000"/>
            </a:avLst>
          </a:prstGeom>
          <a:solidFill>
            <a:srgbClr val="123259"/>
          </a:solidFill>
          <a:ln w="12700">
            <a:solidFill>
              <a:srgbClr val="1E3F6B"/>
            </a:solidFill>
            <a:prstDash val="solid"/>
          </a:ln>
        </p:spPr>
      </p:sp>
      <p:sp>
        <p:nvSpPr>
          <p:cNvPr id="24" name="Text 22"/>
          <p:cNvSpPr/>
          <p:nvPr/>
        </p:nvSpPr>
        <p:spPr>
          <a:xfrm>
            <a:off x="594360" y="5294376"/>
            <a:ext cx="5120640" cy="457200"/>
          </a:xfrm>
          <a:prstGeom prst="rect">
            <a:avLst/>
          </a:prstGeom>
          <a:noFill/>
          <a:ln/>
        </p:spPr>
        <p:txBody>
          <a:bodyPr wrap="square" rtlCol="0" anchor="ctr"/>
          <a:lstStyle/>
          <a:p>
            <a:pPr marL="0" indent="0" algn="ctr">
              <a:buNone/>
            </a:pPr>
            <a:r>
              <a:rPr lang="en-US" sz="1100" dirty="0">
                <a:solidFill>
                  <a:srgbClr val="FFFFFF"/>
                </a:solidFill>
                <a:latin typeface="Calibri" pitchFamily="34" charset="0"/>
                <a:ea typeface="Calibri" pitchFamily="34" charset="-122"/>
                <a:cs typeface="Calibri" pitchFamily="34" charset="-120"/>
              </a:rPr>
              <a:t>Prediction û(x, t)</a:t>
            </a:r>
            <a:endParaRPr lang="en-US" sz="1100" dirty="0"/>
          </a:p>
        </p:txBody>
      </p:sp>
      <p:sp>
        <p:nvSpPr>
          <p:cNvPr id="25" name="Text 23"/>
          <p:cNvSpPr/>
          <p:nvPr/>
        </p:nvSpPr>
        <p:spPr>
          <a:xfrm>
            <a:off x="502920" y="5870448"/>
            <a:ext cx="5303520" cy="274320"/>
          </a:xfrm>
          <a:prstGeom prst="rect">
            <a:avLst/>
          </a:prstGeom>
          <a:noFill/>
          <a:ln/>
        </p:spPr>
        <p:txBody>
          <a:bodyPr wrap="square" rtlCol="0" anchor="ctr"/>
          <a:lstStyle/>
          <a:p>
            <a:pPr marL="0" indent="0" algn="ctr">
              <a:buNone/>
            </a:pPr>
            <a:r>
              <a:rPr lang="en-US" sz="950" i="1" dirty="0">
                <a:solidFill>
                  <a:srgbClr val="6E86A6"/>
                </a:solidFill>
                <a:latin typeface="Calibri" pitchFamily="34" charset="0"/>
                <a:ea typeface="Calibri" pitchFamily="34" charset="-122"/>
                <a:cs typeface="Calibri" pitchFamily="34" charset="-120"/>
              </a:rPr>
              <a:t>85 trainable parameters total — ≈0.50% of Model A's 16,897</a:t>
            </a:r>
            <a:endParaRPr lang="en-US" sz="950" dirty="0"/>
          </a:p>
        </p:txBody>
      </p:sp>
      <p:sp>
        <p:nvSpPr>
          <p:cNvPr id="26" name="Shape 24"/>
          <p:cNvSpPr/>
          <p:nvPr/>
        </p:nvSpPr>
        <p:spPr>
          <a:xfrm>
            <a:off x="6172200" y="1417320"/>
            <a:ext cx="0" cy="4709160"/>
          </a:xfrm>
          <a:prstGeom prst="line">
            <a:avLst/>
          </a:prstGeom>
          <a:noFill/>
          <a:ln w="12700">
            <a:solidFill>
              <a:srgbClr val="1E3F6B"/>
            </a:solidFill>
            <a:prstDash val="dash"/>
          </a:ln>
        </p:spPr>
      </p:sp>
      <p:sp>
        <p:nvSpPr>
          <p:cNvPr id="27" name="Text 25"/>
          <p:cNvSpPr/>
          <p:nvPr/>
        </p:nvSpPr>
        <p:spPr>
          <a:xfrm>
            <a:off x="6492240" y="1417320"/>
            <a:ext cx="5212080" cy="292608"/>
          </a:xfrm>
          <a:prstGeom prst="rect">
            <a:avLst/>
          </a:prstGeom>
          <a:noFill/>
          <a:ln/>
        </p:spPr>
        <p:txBody>
          <a:bodyPr wrap="square"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Zoom — Quantum Circuit Block</a:t>
            </a:r>
            <a:endParaRPr lang="en-US" sz="1250" dirty="0"/>
          </a:p>
        </p:txBody>
      </p:sp>
      <p:sp>
        <p:nvSpPr>
          <p:cNvPr id="28" name="Shape 26"/>
          <p:cNvSpPr/>
          <p:nvPr/>
        </p:nvSpPr>
        <p:spPr>
          <a:xfrm>
            <a:off x="6492240" y="1783080"/>
            <a:ext cx="5212080" cy="4343400"/>
          </a:xfrm>
          <a:prstGeom prst="roundRect">
            <a:avLst>
              <a:gd name="adj" fmla="val 1684"/>
            </a:avLst>
          </a:prstGeom>
          <a:solidFill>
            <a:srgbClr val="0A2247"/>
          </a:solidFill>
          <a:ln w="12700">
            <a:solidFill>
              <a:srgbClr val="1E3F6B"/>
            </a:solidFill>
            <a:prstDash val="solid"/>
          </a:ln>
        </p:spPr>
      </p:sp>
      <p:sp>
        <p:nvSpPr>
          <p:cNvPr id="29" name="Shape 27"/>
          <p:cNvSpPr/>
          <p:nvPr/>
        </p:nvSpPr>
        <p:spPr>
          <a:xfrm>
            <a:off x="6720840" y="1993392"/>
            <a:ext cx="292608" cy="292608"/>
          </a:xfrm>
          <a:prstGeom prst="ellipse">
            <a:avLst/>
          </a:prstGeom>
          <a:solidFill>
            <a:srgbClr val="0F3A5F"/>
          </a:solidFill>
          <a:ln w="12700">
            <a:solidFill>
              <a:srgbClr val="22D3EE"/>
            </a:solidFill>
            <a:prstDash val="solid"/>
          </a:ln>
        </p:spPr>
      </p:sp>
      <p:sp>
        <p:nvSpPr>
          <p:cNvPr id="30" name="Text 28"/>
          <p:cNvSpPr/>
          <p:nvPr/>
        </p:nvSpPr>
        <p:spPr>
          <a:xfrm>
            <a:off x="6720840" y="1993392"/>
            <a:ext cx="292608" cy="292608"/>
          </a:xfrm>
          <a:prstGeom prst="rect">
            <a:avLst/>
          </a:prstGeom>
          <a:noFill/>
          <a:ln/>
        </p:spPr>
        <p:txBody>
          <a:bodyPr wrap="square" rtlCol="0" anchor="ctr"/>
          <a:lstStyle/>
          <a:p>
            <a:pPr marL="0" indent="0" algn="ctr">
              <a:buNone/>
            </a:pPr>
            <a:r>
              <a:rPr lang="en-US" sz="1050" b="1" dirty="0">
                <a:solidFill>
                  <a:srgbClr val="67E8F9"/>
                </a:solidFill>
                <a:latin typeface="Calibri" pitchFamily="34" charset="0"/>
                <a:ea typeface="Calibri" pitchFamily="34" charset="-122"/>
                <a:cs typeface="Calibri" pitchFamily="34" charset="-120"/>
              </a:rPr>
              <a:t>1</a:t>
            </a:r>
            <a:endParaRPr lang="en-US" sz="1050" dirty="0"/>
          </a:p>
        </p:txBody>
      </p:sp>
      <p:sp>
        <p:nvSpPr>
          <p:cNvPr id="31" name="Text 29"/>
          <p:cNvSpPr/>
          <p:nvPr/>
        </p:nvSpPr>
        <p:spPr>
          <a:xfrm>
            <a:off x="7178040" y="1892808"/>
            <a:ext cx="4343400" cy="731520"/>
          </a:xfrm>
          <a:prstGeom prst="rect">
            <a:avLst/>
          </a:prstGeom>
          <a:noFill/>
          <a:ln/>
        </p:spPr>
        <p:txBody>
          <a:bodyPr wrap="square" rtlCol="0" anchor="t"/>
          <a:lstStyle/>
          <a:p>
            <a:pPr marL="0" indent="0">
              <a:lnSpc>
                <a:spcPct val="112000"/>
              </a:lnSpc>
              <a:buNone/>
            </a:pPr>
            <a:r>
              <a:rPr lang="en-US" sz="1150" b="1" dirty="0">
                <a:solidFill>
                  <a:srgbClr val="FFFFFF"/>
                </a:solidFill>
                <a:latin typeface="Calibri" pitchFamily="34" charset="0"/>
                <a:ea typeface="Calibri" pitchFamily="34" charset="-122"/>
                <a:cs typeface="Calibri" pitchFamily="34" charset="-120"/>
              </a:rPr>
              <a:t>Encoding (default: angle re-uploading)
</a:t>
            </a:r>
            <a:r>
              <a:rPr lang="en-US" sz="1000" dirty="0">
                <a:solidFill>
                  <a:srgbClr val="93AAC7"/>
                </a:solidFill>
                <a:latin typeface="Calibri" pitchFamily="34" charset="0"/>
                <a:ea typeface="Calibri" pitchFamily="34" charset="-122"/>
                <a:cs typeface="Calibri" pitchFamily="34" charset="-120"/>
              </a:rPr>
              <a:t>(x,t) re-encoded via RY/RZ rotations before every variational layer</a:t>
            </a:r>
            <a:endParaRPr lang="en-US" sz="1150" dirty="0"/>
          </a:p>
        </p:txBody>
      </p:sp>
      <p:sp>
        <p:nvSpPr>
          <p:cNvPr id="32" name="Shape 30"/>
          <p:cNvSpPr/>
          <p:nvPr/>
        </p:nvSpPr>
        <p:spPr>
          <a:xfrm>
            <a:off x="6720840" y="2816352"/>
            <a:ext cx="292608" cy="292608"/>
          </a:xfrm>
          <a:prstGeom prst="ellipse">
            <a:avLst/>
          </a:prstGeom>
          <a:solidFill>
            <a:srgbClr val="0F3A5F"/>
          </a:solidFill>
          <a:ln w="12700">
            <a:solidFill>
              <a:srgbClr val="22D3EE"/>
            </a:solidFill>
            <a:prstDash val="solid"/>
          </a:ln>
        </p:spPr>
      </p:sp>
      <p:sp>
        <p:nvSpPr>
          <p:cNvPr id="33" name="Text 31"/>
          <p:cNvSpPr/>
          <p:nvPr/>
        </p:nvSpPr>
        <p:spPr>
          <a:xfrm>
            <a:off x="6720840" y="2816352"/>
            <a:ext cx="292608" cy="292608"/>
          </a:xfrm>
          <a:prstGeom prst="rect">
            <a:avLst/>
          </a:prstGeom>
          <a:noFill/>
          <a:ln/>
        </p:spPr>
        <p:txBody>
          <a:bodyPr wrap="square" rtlCol="0" anchor="ctr"/>
          <a:lstStyle/>
          <a:p>
            <a:pPr marL="0" indent="0" algn="ctr">
              <a:buNone/>
            </a:pPr>
            <a:r>
              <a:rPr lang="en-US" sz="1050" b="1" dirty="0">
                <a:solidFill>
                  <a:srgbClr val="67E8F9"/>
                </a:solidFill>
                <a:latin typeface="Calibri" pitchFamily="34" charset="0"/>
                <a:ea typeface="Calibri" pitchFamily="34" charset="-122"/>
                <a:cs typeface="Calibri" pitchFamily="34" charset="-120"/>
              </a:rPr>
              <a:t>2</a:t>
            </a:r>
            <a:endParaRPr lang="en-US" sz="1050" dirty="0"/>
          </a:p>
        </p:txBody>
      </p:sp>
      <p:sp>
        <p:nvSpPr>
          <p:cNvPr id="34" name="Text 32"/>
          <p:cNvSpPr/>
          <p:nvPr/>
        </p:nvSpPr>
        <p:spPr>
          <a:xfrm>
            <a:off x="7178040" y="2715768"/>
            <a:ext cx="4343400" cy="731520"/>
          </a:xfrm>
          <a:prstGeom prst="rect">
            <a:avLst/>
          </a:prstGeom>
          <a:noFill/>
          <a:ln/>
        </p:spPr>
        <p:txBody>
          <a:bodyPr wrap="square" rtlCol="0" anchor="t"/>
          <a:lstStyle/>
          <a:p>
            <a:pPr marL="0" indent="0">
              <a:lnSpc>
                <a:spcPct val="112000"/>
              </a:lnSpc>
              <a:buNone/>
            </a:pPr>
            <a:r>
              <a:rPr lang="en-US" sz="1150" b="1" dirty="0">
                <a:solidFill>
                  <a:srgbClr val="FFFFFF"/>
                </a:solidFill>
                <a:latin typeface="Calibri" pitchFamily="34" charset="0"/>
                <a:ea typeface="Calibri" pitchFamily="34" charset="-122"/>
                <a:cs typeface="Calibri" pitchFamily="34" charset="-120"/>
              </a:rPr>
              <a:t>Variational Rotations
</a:t>
            </a:r>
            <a:r>
              <a:rPr lang="en-US" sz="1000" dirty="0">
                <a:solidFill>
                  <a:srgbClr val="93AAC7"/>
                </a:solidFill>
                <a:latin typeface="Calibri" pitchFamily="34" charset="0"/>
                <a:ea typeface="Calibri" pitchFamily="34" charset="-122"/>
                <a:cs typeface="Calibri" pitchFamily="34" charset="-120"/>
              </a:rPr>
              <a:t>Trainable single-qubit rotation gates — 4 qubits × 3 layers</a:t>
            </a:r>
            <a:endParaRPr lang="en-US" sz="1150" dirty="0"/>
          </a:p>
        </p:txBody>
      </p:sp>
      <p:sp>
        <p:nvSpPr>
          <p:cNvPr id="35" name="Shape 33"/>
          <p:cNvSpPr/>
          <p:nvPr/>
        </p:nvSpPr>
        <p:spPr>
          <a:xfrm>
            <a:off x="6720840" y="3639312"/>
            <a:ext cx="292608" cy="292608"/>
          </a:xfrm>
          <a:prstGeom prst="ellipse">
            <a:avLst/>
          </a:prstGeom>
          <a:solidFill>
            <a:srgbClr val="0F3A5F"/>
          </a:solidFill>
          <a:ln w="12700">
            <a:solidFill>
              <a:srgbClr val="22D3EE"/>
            </a:solidFill>
            <a:prstDash val="solid"/>
          </a:ln>
        </p:spPr>
      </p:sp>
      <p:sp>
        <p:nvSpPr>
          <p:cNvPr id="36" name="Text 34"/>
          <p:cNvSpPr/>
          <p:nvPr/>
        </p:nvSpPr>
        <p:spPr>
          <a:xfrm>
            <a:off x="6720840" y="3639312"/>
            <a:ext cx="292608" cy="292608"/>
          </a:xfrm>
          <a:prstGeom prst="rect">
            <a:avLst/>
          </a:prstGeom>
          <a:noFill/>
          <a:ln/>
        </p:spPr>
        <p:txBody>
          <a:bodyPr wrap="square" rtlCol="0" anchor="ctr"/>
          <a:lstStyle/>
          <a:p>
            <a:pPr marL="0" indent="0" algn="ctr">
              <a:buNone/>
            </a:pPr>
            <a:r>
              <a:rPr lang="en-US" sz="1050" b="1" dirty="0">
                <a:solidFill>
                  <a:srgbClr val="67E8F9"/>
                </a:solidFill>
                <a:latin typeface="Calibri" pitchFamily="34" charset="0"/>
                <a:ea typeface="Calibri" pitchFamily="34" charset="-122"/>
                <a:cs typeface="Calibri" pitchFamily="34" charset="-120"/>
              </a:rPr>
              <a:t>3</a:t>
            </a:r>
            <a:endParaRPr lang="en-US" sz="1050" dirty="0"/>
          </a:p>
        </p:txBody>
      </p:sp>
      <p:sp>
        <p:nvSpPr>
          <p:cNvPr id="37" name="Text 35"/>
          <p:cNvSpPr/>
          <p:nvPr/>
        </p:nvSpPr>
        <p:spPr>
          <a:xfrm>
            <a:off x="7178040" y="3538728"/>
            <a:ext cx="4343400" cy="731520"/>
          </a:xfrm>
          <a:prstGeom prst="rect">
            <a:avLst/>
          </a:prstGeom>
          <a:noFill/>
          <a:ln/>
        </p:spPr>
        <p:txBody>
          <a:bodyPr wrap="square" rtlCol="0" anchor="t"/>
          <a:lstStyle/>
          <a:p>
            <a:pPr marL="0" indent="0">
              <a:lnSpc>
                <a:spcPct val="112000"/>
              </a:lnSpc>
              <a:buNone/>
            </a:pPr>
            <a:r>
              <a:rPr lang="en-US" sz="1150" b="1" dirty="0">
                <a:solidFill>
                  <a:srgbClr val="FFFFFF"/>
                </a:solidFill>
                <a:latin typeface="Calibri" pitchFamily="34" charset="0"/>
                <a:ea typeface="Calibri" pitchFamily="34" charset="-122"/>
                <a:cs typeface="Calibri" pitchFamily="34" charset="-120"/>
              </a:rPr>
              <a:t>Entanglement (default: circular)
</a:t>
            </a:r>
            <a:r>
              <a:rPr lang="en-US" sz="1000" dirty="0">
                <a:solidFill>
                  <a:srgbClr val="93AAC7"/>
                </a:solidFill>
                <a:latin typeface="Calibri" pitchFamily="34" charset="0"/>
                <a:ea typeface="Calibri" pitchFamily="34" charset="-122"/>
                <a:cs typeface="Calibri" pitchFamily="34" charset="-120"/>
              </a:rPr>
              <a:t>Two-qubit gates couple qubit correlations</a:t>
            </a:r>
            <a:endParaRPr lang="en-US" sz="1150" dirty="0"/>
          </a:p>
        </p:txBody>
      </p:sp>
      <p:sp>
        <p:nvSpPr>
          <p:cNvPr id="38" name="Shape 36"/>
          <p:cNvSpPr/>
          <p:nvPr/>
        </p:nvSpPr>
        <p:spPr>
          <a:xfrm>
            <a:off x="6720840" y="4462272"/>
            <a:ext cx="292608" cy="292608"/>
          </a:xfrm>
          <a:prstGeom prst="ellipse">
            <a:avLst/>
          </a:prstGeom>
          <a:solidFill>
            <a:srgbClr val="0F3A5F"/>
          </a:solidFill>
          <a:ln w="12700">
            <a:solidFill>
              <a:srgbClr val="22D3EE"/>
            </a:solidFill>
            <a:prstDash val="solid"/>
          </a:ln>
        </p:spPr>
      </p:sp>
      <p:sp>
        <p:nvSpPr>
          <p:cNvPr id="39" name="Text 37"/>
          <p:cNvSpPr/>
          <p:nvPr/>
        </p:nvSpPr>
        <p:spPr>
          <a:xfrm>
            <a:off x="6720840" y="4462272"/>
            <a:ext cx="292608" cy="292608"/>
          </a:xfrm>
          <a:prstGeom prst="rect">
            <a:avLst/>
          </a:prstGeom>
          <a:noFill/>
          <a:ln/>
        </p:spPr>
        <p:txBody>
          <a:bodyPr wrap="square" rtlCol="0" anchor="ctr"/>
          <a:lstStyle/>
          <a:p>
            <a:pPr marL="0" indent="0" algn="ctr">
              <a:buNone/>
            </a:pPr>
            <a:r>
              <a:rPr lang="en-US" sz="1050" b="1" dirty="0">
                <a:solidFill>
                  <a:srgbClr val="67E8F9"/>
                </a:solidFill>
                <a:latin typeface="Calibri" pitchFamily="34" charset="0"/>
                <a:ea typeface="Calibri" pitchFamily="34" charset="-122"/>
                <a:cs typeface="Calibri" pitchFamily="34" charset="-120"/>
              </a:rPr>
              <a:t>4</a:t>
            </a:r>
            <a:endParaRPr lang="en-US" sz="1050" dirty="0"/>
          </a:p>
        </p:txBody>
      </p:sp>
      <p:sp>
        <p:nvSpPr>
          <p:cNvPr id="40" name="Text 38"/>
          <p:cNvSpPr/>
          <p:nvPr/>
        </p:nvSpPr>
        <p:spPr>
          <a:xfrm>
            <a:off x="7178040" y="4361688"/>
            <a:ext cx="4343400" cy="731520"/>
          </a:xfrm>
          <a:prstGeom prst="rect">
            <a:avLst/>
          </a:prstGeom>
          <a:noFill/>
          <a:ln/>
        </p:spPr>
        <p:txBody>
          <a:bodyPr wrap="square" rtlCol="0" anchor="t"/>
          <a:lstStyle/>
          <a:p>
            <a:pPr marL="0" indent="0">
              <a:lnSpc>
                <a:spcPct val="112000"/>
              </a:lnSpc>
              <a:buNone/>
            </a:pPr>
            <a:r>
              <a:rPr lang="en-US" sz="1150" b="1" dirty="0">
                <a:solidFill>
                  <a:srgbClr val="FFFFFF"/>
                </a:solidFill>
                <a:latin typeface="Calibri" pitchFamily="34" charset="0"/>
                <a:ea typeface="Calibri" pitchFamily="34" charset="-122"/>
                <a:cs typeface="Calibri" pitchFamily="34" charset="-120"/>
              </a:rPr>
              <a:t>Measurement
</a:t>
            </a:r>
            <a:r>
              <a:rPr lang="en-US" sz="1000" dirty="0">
                <a:solidFill>
                  <a:srgbClr val="93AAC7"/>
                </a:solidFill>
                <a:latin typeface="Calibri" pitchFamily="34" charset="0"/>
                <a:ea typeface="Calibri" pitchFamily="34" charset="-122"/>
                <a:cs typeface="Calibri" pitchFamily="34" charset="-120"/>
              </a:rPr>
              <a:t>⟨Z⟩ expectation value read out on each qubit</a:t>
            </a:r>
            <a:endParaRPr lang="en-US" sz="1150" dirty="0"/>
          </a:p>
        </p:txBody>
      </p:sp>
      <p:sp>
        <p:nvSpPr>
          <p:cNvPr id="41" name="Shape 39"/>
          <p:cNvSpPr/>
          <p:nvPr/>
        </p:nvSpPr>
        <p:spPr>
          <a:xfrm>
            <a:off x="6720840" y="5285232"/>
            <a:ext cx="292608" cy="292608"/>
          </a:xfrm>
          <a:prstGeom prst="ellipse">
            <a:avLst/>
          </a:prstGeom>
          <a:solidFill>
            <a:srgbClr val="0F3A5F"/>
          </a:solidFill>
          <a:ln w="12700">
            <a:solidFill>
              <a:srgbClr val="22D3EE"/>
            </a:solidFill>
            <a:prstDash val="solid"/>
          </a:ln>
        </p:spPr>
      </p:sp>
      <p:sp>
        <p:nvSpPr>
          <p:cNvPr id="42" name="Text 40"/>
          <p:cNvSpPr/>
          <p:nvPr/>
        </p:nvSpPr>
        <p:spPr>
          <a:xfrm>
            <a:off x="6720840" y="5285232"/>
            <a:ext cx="292608" cy="292608"/>
          </a:xfrm>
          <a:prstGeom prst="rect">
            <a:avLst/>
          </a:prstGeom>
          <a:noFill/>
          <a:ln/>
        </p:spPr>
        <p:txBody>
          <a:bodyPr wrap="square" rtlCol="0" anchor="ctr"/>
          <a:lstStyle/>
          <a:p>
            <a:pPr marL="0" indent="0" algn="ctr">
              <a:buNone/>
            </a:pPr>
            <a:r>
              <a:rPr lang="en-US" sz="1050" b="1" dirty="0">
                <a:solidFill>
                  <a:srgbClr val="67E8F9"/>
                </a:solidFill>
                <a:latin typeface="Calibri" pitchFamily="34" charset="0"/>
                <a:ea typeface="Calibri" pitchFamily="34" charset="-122"/>
                <a:cs typeface="Calibri" pitchFamily="34" charset="-120"/>
              </a:rPr>
              <a:t>5</a:t>
            </a:r>
            <a:endParaRPr lang="en-US" sz="1050" dirty="0"/>
          </a:p>
        </p:txBody>
      </p:sp>
      <p:sp>
        <p:nvSpPr>
          <p:cNvPr id="43" name="Text 41"/>
          <p:cNvSpPr/>
          <p:nvPr/>
        </p:nvSpPr>
        <p:spPr>
          <a:xfrm>
            <a:off x="7178040" y="5184648"/>
            <a:ext cx="4343400" cy="731520"/>
          </a:xfrm>
          <a:prstGeom prst="rect">
            <a:avLst/>
          </a:prstGeom>
          <a:noFill/>
          <a:ln/>
        </p:spPr>
        <p:txBody>
          <a:bodyPr wrap="square" rtlCol="0" anchor="t"/>
          <a:lstStyle/>
          <a:p>
            <a:pPr marL="0" indent="0">
              <a:lnSpc>
                <a:spcPct val="112000"/>
              </a:lnSpc>
              <a:buNone/>
            </a:pPr>
            <a:r>
              <a:rPr lang="en-US" sz="1150" b="1" dirty="0">
                <a:solidFill>
                  <a:srgbClr val="FFFFFF"/>
                </a:solidFill>
                <a:latin typeface="Calibri" pitchFamily="34" charset="0"/>
                <a:ea typeface="Calibri" pitchFamily="34" charset="-122"/>
                <a:cs typeface="Calibri" pitchFamily="34" charset="-120"/>
              </a:rPr>
              <a:t>Classical Interface
</a:t>
            </a:r>
            <a:r>
              <a:rPr lang="en-US" sz="1000" dirty="0">
                <a:solidFill>
                  <a:srgbClr val="93AAC7"/>
                </a:solidFill>
                <a:latin typeface="Calibri" pitchFamily="34" charset="0"/>
                <a:ea typeface="Calibri" pitchFamily="34" charset="-122"/>
                <a:cs typeface="Calibri" pitchFamily="34" charset="-120"/>
              </a:rPr>
              <a:t>Linear head 4→8→1 maps measurements to û(x,t)</a:t>
            </a:r>
            <a:endParaRPr lang="en-US" sz="1150" dirty="0"/>
          </a:p>
        </p:txBody>
      </p:sp>
      <p:sp>
        <p:nvSpPr>
          <p:cNvPr id="44" name="Text 42"/>
          <p:cNvSpPr/>
          <p:nvPr/>
        </p:nvSpPr>
        <p:spPr>
          <a:xfrm>
            <a:off x="6492240" y="6217920"/>
            <a:ext cx="5212080" cy="274320"/>
          </a:xfrm>
          <a:prstGeom prst="rect">
            <a:avLst/>
          </a:prstGeom>
          <a:noFill/>
          <a:ln/>
        </p:spPr>
        <p:txBody>
          <a:bodyPr wrap="square" rtlCol="0" anchor="ctr"/>
          <a:lstStyle/>
          <a:p>
            <a:pPr marL="0" indent="0" algn="ctr">
              <a:buNone/>
            </a:pPr>
            <a:r>
              <a:rPr lang="en-US" sz="900" i="1" dirty="0">
                <a:solidFill>
                  <a:srgbClr val="6E86A6"/>
                </a:solidFill>
                <a:latin typeface="Calibri" pitchFamily="34" charset="0"/>
                <a:ea typeface="Calibri" pitchFamily="34" charset="-122"/>
                <a:cs typeface="Calibri" pitchFamily="34" charset="-120"/>
              </a:rPr>
              <a:t>PennyLane default.qubit simulator · backprop differentiation, verified against 2nd-order PDE derivatives</a:t>
            </a:r>
            <a:endParaRPr lang="en-US" sz="900" dirty="0"/>
          </a:p>
        </p:txBody>
      </p:sp>
      <p:sp>
        <p:nvSpPr>
          <p:cNvPr id="45" name="Text 43"/>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46" name="Text 44"/>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Architecture</a:t>
            </a:r>
            <a:endParaRPr lang="en-US" sz="850" dirty="0"/>
          </a:p>
        </p:txBody>
      </p:sp>
      <p:sp>
        <p:nvSpPr>
          <p:cNvPr id="47" name="Text 45"/>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EXPERIMENTAL DESIGN</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Single-Variable Controlled Ablation</a:t>
            </a:r>
            <a:endParaRPr lang="en-US" sz="2700" dirty="0"/>
          </a:p>
        </p:txBody>
      </p:sp>
      <p:sp>
        <p:nvSpPr>
          <p:cNvPr id="4" name="Shape 2"/>
          <p:cNvSpPr/>
          <p:nvPr/>
        </p:nvSpPr>
        <p:spPr>
          <a:xfrm>
            <a:off x="8778240" y="384048"/>
            <a:ext cx="2880360" cy="384048"/>
          </a:xfrm>
          <a:prstGeom prst="roundRect">
            <a:avLst>
              <a:gd name="adj" fmla="val 50000"/>
            </a:avLst>
          </a:prstGeom>
          <a:solidFill>
            <a:srgbClr val="0F3A5F"/>
          </a:solidFill>
          <a:ln w="12700">
            <a:solidFill>
              <a:srgbClr val="22D3EE"/>
            </a:solidFill>
            <a:prstDash val="solid"/>
          </a:ln>
        </p:spPr>
      </p:sp>
      <p:sp>
        <p:nvSpPr>
          <p:cNvPr id="5" name="Text 3"/>
          <p:cNvSpPr/>
          <p:nvPr/>
        </p:nvSpPr>
        <p:spPr>
          <a:xfrm>
            <a:off x="8778240" y="384048"/>
            <a:ext cx="2880360" cy="384048"/>
          </a:xfrm>
          <a:prstGeom prst="rect">
            <a:avLst/>
          </a:prstGeom>
          <a:noFill/>
          <a:ln/>
        </p:spPr>
        <p:txBody>
          <a:bodyPr wrap="square" rtlCol="0" anchor="ctr"/>
          <a:lstStyle/>
          <a:p>
            <a:pPr marL="0" indent="0" algn="ctr">
              <a:buNone/>
            </a:pPr>
            <a:r>
              <a:rPr lang="en-US" sz="950" b="1" kern="0" spc="100" dirty="0">
                <a:solidFill>
                  <a:srgbClr val="67E8F9"/>
                </a:solidFill>
                <a:latin typeface="Calibri" pitchFamily="34" charset="0"/>
                <a:ea typeface="Calibri" pitchFamily="34" charset="-122"/>
                <a:cs typeface="Calibri" pitchFamily="34" charset="-120"/>
              </a:rPr>
              <a:t>CONTROLLED ABLATION STUDY</a:t>
            </a:r>
            <a:endParaRPr lang="en-US" sz="95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325880"/>
          <a:ext cx="11155680" cy="3200400"/>
        </p:xfrm>
        <a:graphic>
          <a:graphicData uri="http://schemas.openxmlformats.org/drawingml/2006/table">
            <a:tbl>
              <a:tblPr/>
              <a:tblGrid>
                <a:gridCol w="192024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4206240">
                  <a:extLst>
                    <a:ext uri="{9D8B030D-6E8A-4147-A177-3AD203B41FA5}">
                      <a16:colId xmlns:a16="http://schemas.microsoft.com/office/drawing/2014/main" val="20003"/>
                    </a:ext>
                  </a:extLst>
                </a:gridCol>
              </a:tblGrid>
              <a:tr h="457200">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Variable</a:t>
                      </a:r>
                      <a:endParaRPr lang="en-US" sz="110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Role in Study</a:t>
                      </a:r>
                      <a:endParaRPr lang="en-US" sz="110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Baseline (Default)</a:t>
                      </a:r>
                      <a:endParaRPr lang="en-US" sz="110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lgn="l">
                        <a:buNone/>
                      </a:pPr>
                      <a:r>
                        <a:rPr lang="en-US" sz="1100" b="1" dirty="0">
                          <a:solidFill>
                            <a:srgbClr val="22D3EE"/>
                          </a:solidFill>
                          <a:latin typeface="Calibri" pitchFamily="34" charset="0"/>
                          <a:ea typeface="Calibri" pitchFamily="34" charset="-122"/>
                          <a:cs typeface="Calibri" pitchFamily="34" charset="-120"/>
                        </a:rPr>
                        <a:t>Swept Range</a:t>
                      </a:r>
                      <a:endParaRPr lang="en-US" sz="110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extLst>
                  <a:ext uri="{0D108BD9-81ED-4DB2-BD59-A6C34878D82A}">
                    <a16:rowId xmlns:a16="http://schemas.microsoft.com/office/drawing/2014/main" val="10000"/>
                  </a:ext>
                </a:extLst>
              </a:tr>
              <a:tr h="45720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Encoding</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Data representation</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Angle re-uploading</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Angle · Angle re-uploading · Amplitude</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1"/>
                  </a:ext>
                </a:extLst>
              </a:tr>
              <a:tr h="45720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Optimizer</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Convergence strategy</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Adam → L-BFGS</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Adam-only vs. Adam + L-BFGS</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2"/>
                  </a:ext>
                </a:extLst>
              </a:tr>
              <a:tr h="45720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Collocation Points</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Sampling density</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4,000 (Model B default)</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800 · 2,000 · 4,000</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3"/>
                  </a:ext>
                </a:extLst>
              </a:tr>
              <a:tr h="45720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Qubits</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Circuit width</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2 · 4 · 6</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4"/>
                  </a:ext>
                </a:extLst>
              </a:tr>
              <a:tr h="45720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Circuit Depth</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Circuit expressivity</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1 · 2 · 4</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5"/>
                  </a:ext>
                </a:extLst>
              </a:tr>
              <a:tr h="45720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Entanglement</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Correlation structure</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Circular</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Linear · Circular · Full</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6"/>
                  </a:ext>
                </a:extLst>
              </a:tr>
            </a:tbl>
          </a:graphicData>
        </a:graphic>
      </p:graphicFrame>
      <p:sp>
        <p:nvSpPr>
          <p:cNvPr id="7" name="Shape 4"/>
          <p:cNvSpPr/>
          <p:nvPr/>
        </p:nvSpPr>
        <p:spPr>
          <a:xfrm>
            <a:off x="502920" y="5029200"/>
            <a:ext cx="11155680" cy="685800"/>
          </a:xfrm>
          <a:prstGeom prst="roundRect">
            <a:avLst>
              <a:gd name="adj" fmla="val 10667"/>
            </a:avLst>
          </a:prstGeom>
          <a:solidFill>
            <a:srgbClr val="0A2247"/>
          </a:solidFill>
          <a:ln w="15875">
            <a:solidFill>
              <a:srgbClr val="22D3EE"/>
            </a:solidFill>
            <a:prstDash val="solid"/>
          </a:ln>
        </p:spPr>
      </p:sp>
      <p:sp>
        <p:nvSpPr>
          <p:cNvPr id="8" name="Text 5"/>
          <p:cNvSpPr/>
          <p:nvPr/>
        </p:nvSpPr>
        <p:spPr>
          <a:xfrm>
            <a:off x="822960" y="5029200"/>
            <a:ext cx="10515600" cy="685800"/>
          </a:xfrm>
          <a:prstGeom prst="rect">
            <a:avLst/>
          </a:prstGeom>
          <a:noFill/>
          <a:ln/>
        </p:spPr>
        <p:txBody>
          <a:bodyPr wrap="square" rtlCol="0" anchor="ctr"/>
          <a:lstStyle/>
          <a:p>
            <a:pPr marL="0" indent="0">
              <a:buNone/>
            </a:pPr>
            <a:r>
              <a:rPr lang="en-US" sz="1150" i="1" dirty="0">
                <a:solidFill>
                  <a:srgbClr val="FFFFFF"/>
                </a:solidFill>
                <a:latin typeface="Calibri" pitchFamily="34" charset="0"/>
                <a:ea typeface="Calibri" pitchFamily="34" charset="-122"/>
                <a:cs typeface="Calibri" pitchFamily="34" charset="-120"/>
              </a:rPr>
              <a:t>Design rule: only ONE variable changes per experiment. Qubit / depth / entanglement sweeps ran at a reduced budget (800 pts, 300 Adam epochs, L-BFGS off) to make a 12-run sweep tractable.</a:t>
            </a:r>
            <a:endParaRPr lang="en-US" sz="1150" dirty="0"/>
          </a:p>
        </p:txBody>
      </p:sp>
      <p:sp>
        <p:nvSpPr>
          <p:cNvPr id="6" name="Text 6"/>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10" name="Text 7"/>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Experimental Design</a:t>
            </a:r>
            <a:endParaRPr lang="en-US" sz="850" dirty="0"/>
          </a:p>
        </p:txBody>
      </p:sp>
      <p:sp>
        <p:nvSpPr>
          <p:cNvPr id="11" name="Text 8"/>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08</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EVALUATION METRICS</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Only Metrics Actually Measured in This Project</a:t>
            </a:r>
            <a:endParaRPr lang="en-US" sz="2700" dirty="0"/>
          </a:p>
        </p:txBody>
      </p:sp>
      <p:sp>
        <p:nvSpPr>
          <p:cNvPr id="4" name="Shape 2"/>
          <p:cNvSpPr/>
          <p:nvPr/>
        </p:nvSpPr>
        <p:spPr>
          <a:xfrm>
            <a:off x="502920" y="1965960"/>
            <a:ext cx="2617470" cy="3703320"/>
          </a:xfrm>
          <a:prstGeom prst="roundRect">
            <a:avLst>
              <a:gd name="adj" fmla="val 2795"/>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5" name="Shape 3"/>
          <p:cNvSpPr/>
          <p:nvPr/>
        </p:nvSpPr>
        <p:spPr>
          <a:xfrm>
            <a:off x="731520" y="2240280"/>
            <a:ext cx="502920" cy="502920"/>
          </a:xfrm>
          <a:prstGeom prst="roundRect">
            <a:avLst>
              <a:gd name="adj" fmla="val 18182"/>
            </a:avLst>
          </a:prstGeom>
          <a:solidFill>
            <a:srgbClr val="0F3A5F"/>
          </a:solidFill>
          <a:ln w="15875">
            <a:solidFill>
              <a:srgbClr val="22D3EE"/>
            </a:solidFill>
            <a:prstDash val="solid"/>
          </a:ln>
        </p:spPr>
      </p:sp>
      <p:sp>
        <p:nvSpPr>
          <p:cNvPr id="6" name="Text 4"/>
          <p:cNvSpPr/>
          <p:nvPr/>
        </p:nvSpPr>
        <p:spPr>
          <a:xfrm>
            <a:off x="731520" y="2240280"/>
            <a:ext cx="502920" cy="502920"/>
          </a:xfrm>
          <a:prstGeom prst="rect">
            <a:avLst/>
          </a:prstGeom>
          <a:noFill/>
          <a:ln/>
        </p:spPr>
        <p:txBody>
          <a:bodyPr wrap="square" rtlCol="0" anchor="ctr"/>
          <a:lstStyle/>
          <a:p>
            <a:pPr marL="0" indent="0" algn="ctr">
              <a:buNone/>
            </a:pPr>
            <a:r>
              <a:rPr lang="en-US" sz="1600" b="1" dirty="0">
                <a:solidFill>
                  <a:srgbClr val="67E8F9"/>
                </a:solidFill>
                <a:latin typeface="Arial" pitchFamily="34" charset="0"/>
                <a:ea typeface="Arial" pitchFamily="34" charset="-122"/>
                <a:cs typeface="Arial" pitchFamily="34" charset="-120"/>
              </a:rPr>
              <a:t>1</a:t>
            </a:r>
            <a:endParaRPr lang="en-US" sz="1600" dirty="0"/>
          </a:p>
        </p:txBody>
      </p:sp>
      <p:sp>
        <p:nvSpPr>
          <p:cNvPr id="7" name="Text 5"/>
          <p:cNvSpPr/>
          <p:nvPr/>
        </p:nvSpPr>
        <p:spPr>
          <a:xfrm>
            <a:off x="685800" y="2926080"/>
            <a:ext cx="2251710" cy="36576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Prediction</a:t>
            </a:r>
            <a:endParaRPr lang="en-US" sz="1500" dirty="0"/>
          </a:p>
        </p:txBody>
      </p:sp>
      <p:sp>
        <p:nvSpPr>
          <p:cNvPr id="8" name="Text 6"/>
          <p:cNvSpPr/>
          <p:nvPr/>
        </p:nvSpPr>
        <p:spPr>
          <a:xfrm>
            <a:off x="685800" y="3383280"/>
            <a:ext cx="2251710" cy="2743200"/>
          </a:xfrm>
          <a:prstGeom prst="rect">
            <a:avLst/>
          </a:prstGeom>
          <a:noFill/>
          <a:ln/>
        </p:spPr>
        <p:txBody>
          <a:bodyPr wrap="square" rtlCol="0" anchor="t"/>
          <a:lstStyle/>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Relative L2 error (global)</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Shock-region L2 error</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RMSE</a:t>
            </a:r>
            <a:endParaRPr lang="en-US" sz="1100" dirty="0"/>
          </a:p>
        </p:txBody>
      </p:sp>
      <p:sp>
        <p:nvSpPr>
          <p:cNvPr id="9" name="Shape 7"/>
          <p:cNvSpPr/>
          <p:nvPr/>
        </p:nvSpPr>
        <p:spPr>
          <a:xfrm>
            <a:off x="3348990" y="1965960"/>
            <a:ext cx="2617470" cy="3703320"/>
          </a:xfrm>
          <a:prstGeom prst="roundRect">
            <a:avLst>
              <a:gd name="adj" fmla="val 2795"/>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0" name="Shape 8"/>
          <p:cNvSpPr/>
          <p:nvPr/>
        </p:nvSpPr>
        <p:spPr>
          <a:xfrm>
            <a:off x="3577590" y="2240280"/>
            <a:ext cx="502920" cy="502920"/>
          </a:xfrm>
          <a:prstGeom prst="roundRect">
            <a:avLst>
              <a:gd name="adj" fmla="val 18182"/>
            </a:avLst>
          </a:prstGeom>
          <a:solidFill>
            <a:srgbClr val="0F3A5F"/>
          </a:solidFill>
          <a:ln w="15875">
            <a:solidFill>
              <a:srgbClr val="22D3EE"/>
            </a:solidFill>
            <a:prstDash val="solid"/>
          </a:ln>
        </p:spPr>
      </p:sp>
      <p:sp>
        <p:nvSpPr>
          <p:cNvPr id="11" name="Text 9"/>
          <p:cNvSpPr/>
          <p:nvPr/>
        </p:nvSpPr>
        <p:spPr>
          <a:xfrm>
            <a:off x="3577590" y="2240280"/>
            <a:ext cx="502920" cy="502920"/>
          </a:xfrm>
          <a:prstGeom prst="rect">
            <a:avLst/>
          </a:prstGeom>
          <a:noFill/>
          <a:ln/>
        </p:spPr>
        <p:txBody>
          <a:bodyPr wrap="square" rtlCol="0" anchor="ctr"/>
          <a:lstStyle/>
          <a:p>
            <a:pPr marL="0" indent="0" algn="ctr">
              <a:buNone/>
            </a:pPr>
            <a:r>
              <a:rPr lang="en-US" sz="1600" b="1" dirty="0">
                <a:solidFill>
                  <a:srgbClr val="67E8F9"/>
                </a:solidFill>
                <a:latin typeface="Arial" pitchFamily="34" charset="0"/>
                <a:ea typeface="Arial" pitchFamily="34" charset="-122"/>
                <a:cs typeface="Arial" pitchFamily="34" charset="-120"/>
              </a:rPr>
              <a:t>2</a:t>
            </a:r>
            <a:endParaRPr lang="en-US" sz="1600" dirty="0"/>
          </a:p>
        </p:txBody>
      </p:sp>
      <p:sp>
        <p:nvSpPr>
          <p:cNvPr id="12" name="Text 10"/>
          <p:cNvSpPr/>
          <p:nvPr/>
        </p:nvSpPr>
        <p:spPr>
          <a:xfrm>
            <a:off x="3531870" y="2926080"/>
            <a:ext cx="2251710" cy="36576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Physics</a:t>
            </a:r>
            <a:endParaRPr lang="en-US" sz="1500" dirty="0"/>
          </a:p>
        </p:txBody>
      </p:sp>
      <p:sp>
        <p:nvSpPr>
          <p:cNvPr id="13" name="Text 11"/>
          <p:cNvSpPr/>
          <p:nvPr/>
        </p:nvSpPr>
        <p:spPr>
          <a:xfrm>
            <a:off x="3531870" y="3383280"/>
            <a:ext cx="2251710" cy="2743200"/>
          </a:xfrm>
          <a:prstGeom prst="rect">
            <a:avLst/>
          </a:prstGeom>
          <a:noFill/>
          <a:ln/>
        </p:spPr>
        <p:txBody>
          <a:bodyPr wrap="square" rtlCol="0" anchor="t"/>
          <a:lstStyle/>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PDE residual</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Initial-condition loss</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Boundary-condition loss</a:t>
            </a:r>
            <a:endParaRPr lang="en-US" sz="1100" dirty="0"/>
          </a:p>
        </p:txBody>
      </p:sp>
      <p:sp>
        <p:nvSpPr>
          <p:cNvPr id="14" name="Shape 12"/>
          <p:cNvSpPr/>
          <p:nvPr/>
        </p:nvSpPr>
        <p:spPr>
          <a:xfrm>
            <a:off x="6195060" y="1965960"/>
            <a:ext cx="2617470" cy="3703320"/>
          </a:xfrm>
          <a:prstGeom prst="roundRect">
            <a:avLst>
              <a:gd name="adj" fmla="val 2795"/>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5" name="Shape 13"/>
          <p:cNvSpPr/>
          <p:nvPr/>
        </p:nvSpPr>
        <p:spPr>
          <a:xfrm>
            <a:off x="6423660" y="2240280"/>
            <a:ext cx="502920" cy="502920"/>
          </a:xfrm>
          <a:prstGeom prst="roundRect">
            <a:avLst>
              <a:gd name="adj" fmla="val 18182"/>
            </a:avLst>
          </a:prstGeom>
          <a:solidFill>
            <a:srgbClr val="0F3A5F"/>
          </a:solidFill>
          <a:ln w="15875">
            <a:solidFill>
              <a:srgbClr val="22D3EE"/>
            </a:solidFill>
            <a:prstDash val="solid"/>
          </a:ln>
        </p:spPr>
      </p:sp>
      <p:sp>
        <p:nvSpPr>
          <p:cNvPr id="16" name="Text 14"/>
          <p:cNvSpPr/>
          <p:nvPr/>
        </p:nvSpPr>
        <p:spPr>
          <a:xfrm>
            <a:off x="6423660" y="2240280"/>
            <a:ext cx="502920" cy="502920"/>
          </a:xfrm>
          <a:prstGeom prst="rect">
            <a:avLst/>
          </a:prstGeom>
          <a:noFill/>
          <a:ln/>
        </p:spPr>
        <p:txBody>
          <a:bodyPr wrap="square" rtlCol="0" anchor="ctr"/>
          <a:lstStyle/>
          <a:p>
            <a:pPr marL="0" indent="0" algn="ctr">
              <a:buNone/>
            </a:pPr>
            <a:r>
              <a:rPr lang="en-US" sz="1600" b="1" dirty="0">
                <a:solidFill>
                  <a:srgbClr val="67E8F9"/>
                </a:solidFill>
                <a:latin typeface="Arial" pitchFamily="34" charset="0"/>
                <a:ea typeface="Arial" pitchFamily="34" charset="-122"/>
                <a:cs typeface="Arial" pitchFamily="34" charset="-120"/>
              </a:rPr>
              <a:t>3</a:t>
            </a:r>
            <a:endParaRPr lang="en-US" sz="1600" dirty="0"/>
          </a:p>
        </p:txBody>
      </p:sp>
      <p:sp>
        <p:nvSpPr>
          <p:cNvPr id="17" name="Text 15"/>
          <p:cNvSpPr/>
          <p:nvPr/>
        </p:nvSpPr>
        <p:spPr>
          <a:xfrm>
            <a:off x="6377940" y="2926080"/>
            <a:ext cx="2251710" cy="36576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Spectral</a:t>
            </a:r>
            <a:endParaRPr lang="en-US" sz="1500" dirty="0"/>
          </a:p>
        </p:txBody>
      </p:sp>
      <p:sp>
        <p:nvSpPr>
          <p:cNvPr id="18" name="Text 16"/>
          <p:cNvSpPr/>
          <p:nvPr/>
        </p:nvSpPr>
        <p:spPr>
          <a:xfrm>
            <a:off x="6377940" y="3383280"/>
            <a:ext cx="2251710" cy="2743200"/>
          </a:xfrm>
          <a:prstGeom prst="rect">
            <a:avLst/>
          </a:prstGeom>
          <a:noFill/>
          <a:ln/>
        </p:spPr>
        <p:txBody>
          <a:bodyPr wrap="square" rtlCol="0" anchor="t"/>
          <a:lstStyle/>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Fourier spectrum comparison</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High-frequency reconstruction</a:t>
            </a:r>
            <a:endParaRPr lang="en-US" sz="1100" dirty="0"/>
          </a:p>
        </p:txBody>
      </p:sp>
      <p:sp>
        <p:nvSpPr>
          <p:cNvPr id="19" name="Shape 17"/>
          <p:cNvSpPr/>
          <p:nvPr/>
        </p:nvSpPr>
        <p:spPr>
          <a:xfrm>
            <a:off x="9041130" y="1965960"/>
            <a:ext cx="2617470" cy="3703320"/>
          </a:xfrm>
          <a:prstGeom prst="roundRect">
            <a:avLst>
              <a:gd name="adj" fmla="val 2795"/>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20" name="Shape 18"/>
          <p:cNvSpPr/>
          <p:nvPr/>
        </p:nvSpPr>
        <p:spPr>
          <a:xfrm>
            <a:off x="9269730" y="2240280"/>
            <a:ext cx="502920" cy="502920"/>
          </a:xfrm>
          <a:prstGeom prst="roundRect">
            <a:avLst>
              <a:gd name="adj" fmla="val 18182"/>
            </a:avLst>
          </a:prstGeom>
          <a:solidFill>
            <a:srgbClr val="0F3A5F"/>
          </a:solidFill>
          <a:ln w="15875">
            <a:solidFill>
              <a:srgbClr val="22D3EE"/>
            </a:solidFill>
            <a:prstDash val="solid"/>
          </a:ln>
        </p:spPr>
      </p:sp>
      <p:sp>
        <p:nvSpPr>
          <p:cNvPr id="21" name="Text 19"/>
          <p:cNvSpPr/>
          <p:nvPr/>
        </p:nvSpPr>
        <p:spPr>
          <a:xfrm>
            <a:off x="9269730" y="2240280"/>
            <a:ext cx="502920" cy="502920"/>
          </a:xfrm>
          <a:prstGeom prst="rect">
            <a:avLst/>
          </a:prstGeom>
          <a:noFill/>
          <a:ln/>
        </p:spPr>
        <p:txBody>
          <a:bodyPr wrap="square" rtlCol="0" anchor="ctr"/>
          <a:lstStyle/>
          <a:p>
            <a:pPr marL="0" indent="0" algn="ctr">
              <a:buNone/>
            </a:pPr>
            <a:r>
              <a:rPr lang="en-US" sz="1600" b="1" dirty="0">
                <a:solidFill>
                  <a:srgbClr val="67E8F9"/>
                </a:solidFill>
                <a:latin typeface="Arial" pitchFamily="34" charset="0"/>
                <a:ea typeface="Arial" pitchFamily="34" charset="-122"/>
                <a:cs typeface="Arial" pitchFamily="34" charset="-120"/>
              </a:rPr>
              <a:t>4</a:t>
            </a:r>
            <a:endParaRPr lang="en-US" sz="1600" dirty="0"/>
          </a:p>
        </p:txBody>
      </p:sp>
      <p:sp>
        <p:nvSpPr>
          <p:cNvPr id="22" name="Text 20"/>
          <p:cNvSpPr/>
          <p:nvPr/>
        </p:nvSpPr>
        <p:spPr>
          <a:xfrm>
            <a:off x="9224010" y="2926080"/>
            <a:ext cx="2251710" cy="365760"/>
          </a:xfrm>
          <a:prstGeom prst="rect">
            <a:avLst/>
          </a:prstGeom>
          <a:noFill/>
          <a:ln/>
        </p:spPr>
        <p:txBody>
          <a:bodyPr wrap="square" rtlCol="0" anchor="ctr"/>
          <a:lstStyle/>
          <a:p>
            <a:pPr marL="0" indent="0">
              <a:buNone/>
            </a:pPr>
            <a:r>
              <a:rPr lang="en-US" sz="1500" b="1" dirty="0">
                <a:solidFill>
                  <a:srgbClr val="FFFFFF"/>
                </a:solidFill>
                <a:latin typeface="Arial" pitchFamily="34" charset="0"/>
                <a:ea typeface="Arial" pitchFamily="34" charset="-122"/>
                <a:cs typeface="Arial" pitchFamily="34" charset="-120"/>
              </a:rPr>
              <a:t>Efficiency</a:t>
            </a:r>
            <a:endParaRPr lang="en-US" sz="1500" dirty="0"/>
          </a:p>
        </p:txBody>
      </p:sp>
      <p:sp>
        <p:nvSpPr>
          <p:cNvPr id="23" name="Text 21"/>
          <p:cNvSpPr/>
          <p:nvPr/>
        </p:nvSpPr>
        <p:spPr>
          <a:xfrm>
            <a:off x="9224010" y="3383280"/>
            <a:ext cx="2251710" cy="2743200"/>
          </a:xfrm>
          <a:prstGeom prst="rect">
            <a:avLst/>
          </a:prstGeom>
          <a:noFill/>
          <a:ln/>
        </p:spPr>
        <p:txBody>
          <a:bodyPr wrap="square" rtlCol="0" anchor="t"/>
          <a:lstStyle/>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Training time</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Parameter count</a:t>
            </a:r>
            <a:endParaRPr lang="en-US" sz="1100" dirty="0"/>
          </a:p>
          <a:p>
            <a:pPr marL="177800" indent="-177800">
              <a:spcAft>
                <a:spcPts val="1200"/>
              </a:spcAft>
              <a:buSzPct val="100000"/>
              <a:buChar char="•"/>
            </a:pPr>
            <a:r>
              <a:rPr lang="en-US" sz="1100" dirty="0">
                <a:solidFill>
                  <a:srgbClr val="93AAC7"/>
                </a:solidFill>
                <a:latin typeface="Calibri" pitchFamily="34" charset="0"/>
                <a:ea typeface="Calibri" pitchFamily="34" charset="-122"/>
                <a:cs typeface="Calibri" pitchFamily="34" charset="-120"/>
              </a:rPr>
              <a:t>Optimizer convergence</a:t>
            </a:r>
            <a:endParaRPr lang="en-US" sz="1100" dirty="0"/>
          </a:p>
        </p:txBody>
      </p:sp>
      <p:sp>
        <p:nvSpPr>
          <p:cNvPr id="24" name="Text 22"/>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25" name="Text 23"/>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Evaluation Metrics</a:t>
            </a:r>
            <a:endParaRPr lang="en-US" sz="850" dirty="0"/>
          </a:p>
        </p:txBody>
      </p:sp>
      <p:sp>
        <p:nvSpPr>
          <p:cNvPr id="26" name="Text 24"/>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09</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EXPERIMENTAL ROADMAP</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Actual Research Chronology</a:t>
            </a:r>
            <a:endParaRPr lang="en-US" sz="2700" dirty="0"/>
          </a:p>
        </p:txBody>
      </p:sp>
      <p:sp>
        <p:nvSpPr>
          <p:cNvPr id="4" name="Shape 2"/>
          <p:cNvSpPr/>
          <p:nvPr/>
        </p:nvSpPr>
        <p:spPr>
          <a:xfrm>
            <a:off x="960120" y="2788920"/>
            <a:ext cx="10287000" cy="0"/>
          </a:xfrm>
          <a:prstGeom prst="line">
            <a:avLst/>
          </a:prstGeom>
          <a:noFill/>
          <a:ln w="25400">
            <a:solidFill>
              <a:srgbClr val="1E3F6B"/>
            </a:solidFill>
            <a:prstDash val="solid"/>
          </a:ln>
        </p:spPr>
      </p:sp>
      <p:sp>
        <p:nvSpPr>
          <p:cNvPr id="5" name="Shape 3"/>
          <p:cNvSpPr/>
          <p:nvPr/>
        </p:nvSpPr>
        <p:spPr>
          <a:xfrm>
            <a:off x="758952" y="2587752"/>
            <a:ext cx="402336" cy="402336"/>
          </a:xfrm>
          <a:prstGeom prst="ellipse">
            <a:avLst/>
          </a:prstGeom>
          <a:solidFill>
            <a:srgbClr val="0C3355"/>
          </a:solidFill>
          <a:ln w="22225">
            <a:solidFill>
              <a:srgbClr val="22D3EE"/>
            </a:solidFill>
            <a:prstDash val="solid"/>
          </a:ln>
        </p:spPr>
      </p:sp>
      <p:sp>
        <p:nvSpPr>
          <p:cNvPr id="6" name="Text 4"/>
          <p:cNvSpPr/>
          <p:nvPr/>
        </p:nvSpPr>
        <p:spPr>
          <a:xfrm>
            <a:off x="7589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01</a:t>
            </a:r>
            <a:endParaRPr lang="en-US" sz="1150" dirty="0"/>
          </a:p>
        </p:txBody>
      </p:sp>
      <p:sp>
        <p:nvSpPr>
          <p:cNvPr id="7" name="Shape 5"/>
          <p:cNvSpPr/>
          <p:nvPr/>
        </p:nvSpPr>
        <p:spPr>
          <a:xfrm>
            <a:off x="2377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8" name="Text 6"/>
          <p:cNvSpPr/>
          <p:nvPr/>
        </p:nvSpPr>
        <p:spPr>
          <a:xfrm>
            <a:off x="3108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Baseline</a:t>
            </a:r>
            <a:endParaRPr lang="en-US" sz="1100" dirty="0"/>
          </a:p>
        </p:txBody>
      </p:sp>
      <p:sp>
        <p:nvSpPr>
          <p:cNvPr id="9" name="Text 7"/>
          <p:cNvSpPr/>
          <p:nvPr/>
        </p:nvSpPr>
        <p:spPr>
          <a:xfrm>
            <a:off x="3291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Establish Model A &amp; Model B reference performance</a:t>
            </a:r>
            <a:endParaRPr lang="en-US" sz="900" dirty="0"/>
          </a:p>
        </p:txBody>
      </p:sp>
      <p:sp>
        <p:nvSpPr>
          <p:cNvPr id="10" name="Shape 8"/>
          <p:cNvSpPr/>
          <p:nvPr/>
        </p:nvSpPr>
        <p:spPr>
          <a:xfrm>
            <a:off x="2473452" y="2587752"/>
            <a:ext cx="402336" cy="402336"/>
          </a:xfrm>
          <a:prstGeom prst="ellipse">
            <a:avLst/>
          </a:prstGeom>
          <a:solidFill>
            <a:srgbClr val="0C3355"/>
          </a:solidFill>
          <a:ln w="22225">
            <a:solidFill>
              <a:srgbClr val="22D3EE"/>
            </a:solidFill>
            <a:prstDash val="solid"/>
          </a:ln>
        </p:spPr>
      </p:sp>
      <p:sp>
        <p:nvSpPr>
          <p:cNvPr id="11" name="Text 9"/>
          <p:cNvSpPr/>
          <p:nvPr/>
        </p:nvSpPr>
        <p:spPr>
          <a:xfrm>
            <a:off x="24734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02</a:t>
            </a:r>
            <a:endParaRPr lang="en-US" sz="1150" dirty="0"/>
          </a:p>
        </p:txBody>
      </p:sp>
      <p:sp>
        <p:nvSpPr>
          <p:cNvPr id="12" name="Shape 10"/>
          <p:cNvSpPr/>
          <p:nvPr/>
        </p:nvSpPr>
        <p:spPr>
          <a:xfrm>
            <a:off x="19522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3" name="Text 11"/>
          <p:cNvSpPr/>
          <p:nvPr/>
        </p:nvSpPr>
        <p:spPr>
          <a:xfrm>
            <a:off x="20253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Near-Trivial</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Diagnosis</a:t>
            </a:r>
            <a:endParaRPr lang="en-US" sz="1100" dirty="0"/>
          </a:p>
        </p:txBody>
      </p:sp>
      <p:sp>
        <p:nvSpPr>
          <p:cNvPr id="14" name="Text 12"/>
          <p:cNvSpPr/>
          <p:nvPr/>
        </p:nvSpPr>
        <p:spPr>
          <a:xfrm>
            <a:off x="20436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Diagnose Model B's convergence toward u≡0</a:t>
            </a:r>
            <a:endParaRPr lang="en-US" sz="900" dirty="0"/>
          </a:p>
        </p:txBody>
      </p:sp>
      <p:sp>
        <p:nvSpPr>
          <p:cNvPr id="15" name="Shape 13"/>
          <p:cNvSpPr/>
          <p:nvPr/>
        </p:nvSpPr>
        <p:spPr>
          <a:xfrm>
            <a:off x="4187952" y="2587752"/>
            <a:ext cx="402336" cy="402336"/>
          </a:xfrm>
          <a:prstGeom prst="ellipse">
            <a:avLst/>
          </a:prstGeom>
          <a:solidFill>
            <a:srgbClr val="0C3355"/>
          </a:solidFill>
          <a:ln w="22225">
            <a:solidFill>
              <a:srgbClr val="22D3EE"/>
            </a:solidFill>
            <a:prstDash val="solid"/>
          </a:ln>
        </p:spPr>
      </p:sp>
      <p:sp>
        <p:nvSpPr>
          <p:cNvPr id="16" name="Text 14"/>
          <p:cNvSpPr/>
          <p:nvPr/>
        </p:nvSpPr>
        <p:spPr>
          <a:xfrm>
            <a:off x="41879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03</a:t>
            </a:r>
            <a:endParaRPr lang="en-US" sz="1150" dirty="0"/>
          </a:p>
        </p:txBody>
      </p:sp>
      <p:sp>
        <p:nvSpPr>
          <p:cNvPr id="17" name="Shape 15"/>
          <p:cNvSpPr/>
          <p:nvPr/>
        </p:nvSpPr>
        <p:spPr>
          <a:xfrm>
            <a:off x="36667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8" name="Text 16"/>
          <p:cNvSpPr/>
          <p:nvPr/>
        </p:nvSpPr>
        <p:spPr>
          <a:xfrm>
            <a:off x="37398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Controlled</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Ablation</a:t>
            </a:r>
            <a:endParaRPr lang="en-US" sz="1100" dirty="0"/>
          </a:p>
        </p:txBody>
      </p:sp>
      <p:sp>
        <p:nvSpPr>
          <p:cNvPr id="19" name="Text 17"/>
          <p:cNvSpPr/>
          <p:nvPr/>
        </p:nvSpPr>
        <p:spPr>
          <a:xfrm>
            <a:off x="37581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Sweep qubits, depth, entanglement, encoding</a:t>
            </a:r>
            <a:endParaRPr lang="en-US" sz="900" dirty="0"/>
          </a:p>
        </p:txBody>
      </p:sp>
      <p:sp>
        <p:nvSpPr>
          <p:cNvPr id="20" name="Shape 18"/>
          <p:cNvSpPr/>
          <p:nvPr/>
        </p:nvSpPr>
        <p:spPr>
          <a:xfrm>
            <a:off x="5902452" y="2587752"/>
            <a:ext cx="402336" cy="402336"/>
          </a:xfrm>
          <a:prstGeom prst="ellipse">
            <a:avLst/>
          </a:prstGeom>
          <a:solidFill>
            <a:srgbClr val="0C3355"/>
          </a:solidFill>
          <a:ln w="22225">
            <a:solidFill>
              <a:srgbClr val="22D3EE"/>
            </a:solidFill>
            <a:prstDash val="solid"/>
          </a:ln>
        </p:spPr>
      </p:sp>
      <p:sp>
        <p:nvSpPr>
          <p:cNvPr id="21" name="Text 19"/>
          <p:cNvSpPr/>
          <p:nvPr/>
        </p:nvSpPr>
        <p:spPr>
          <a:xfrm>
            <a:off x="59024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04</a:t>
            </a:r>
            <a:endParaRPr lang="en-US" sz="1150" dirty="0"/>
          </a:p>
        </p:txBody>
      </p:sp>
      <p:sp>
        <p:nvSpPr>
          <p:cNvPr id="22" name="Shape 20"/>
          <p:cNvSpPr/>
          <p:nvPr/>
        </p:nvSpPr>
        <p:spPr>
          <a:xfrm>
            <a:off x="53812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23" name="Text 21"/>
          <p:cNvSpPr/>
          <p:nvPr/>
        </p:nvSpPr>
        <p:spPr>
          <a:xfrm>
            <a:off x="54543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Optimizer ×</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Representation</a:t>
            </a:r>
            <a:endParaRPr lang="en-US" sz="1100" dirty="0"/>
          </a:p>
        </p:txBody>
      </p:sp>
      <p:sp>
        <p:nvSpPr>
          <p:cNvPr id="24" name="Text 22"/>
          <p:cNvSpPr/>
          <p:nvPr/>
        </p:nvSpPr>
        <p:spPr>
          <a:xfrm>
            <a:off x="54726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Controlled 2×2: encoding × L-BFGS on/off</a:t>
            </a:r>
            <a:endParaRPr lang="en-US" sz="900" dirty="0"/>
          </a:p>
        </p:txBody>
      </p:sp>
      <p:sp>
        <p:nvSpPr>
          <p:cNvPr id="25" name="Shape 23"/>
          <p:cNvSpPr/>
          <p:nvPr/>
        </p:nvSpPr>
        <p:spPr>
          <a:xfrm>
            <a:off x="7616952" y="2587752"/>
            <a:ext cx="402336" cy="402336"/>
          </a:xfrm>
          <a:prstGeom prst="ellipse">
            <a:avLst/>
          </a:prstGeom>
          <a:solidFill>
            <a:srgbClr val="0C3355"/>
          </a:solidFill>
          <a:ln w="22225">
            <a:solidFill>
              <a:srgbClr val="22D3EE"/>
            </a:solidFill>
            <a:prstDash val="solid"/>
          </a:ln>
        </p:spPr>
      </p:sp>
      <p:sp>
        <p:nvSpPr>
          <p:cNvPr id="26" name="Text 24"/>
          <p:cNvSpPr/>
          <p:nvPr/>
        </p:nvSpPr>
        <p:spPr>
          <a:xfrm>
            <a:off x="76169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05</a:t>
            </a:r>
            <a:endParaRPr lang="en-US" sz="1150" dirty="0"/>
          </a:p>
        </p:txBody>
      </p:sp>
      <p:sp>
        <p:nvSpPr>
          <p:cNvPr id="27" name="Shape 25"/>
          <p:cNvSpPr/>
          <p:nvPr/>
        </p:nvSpPr>
        <p:spPr>
          <a:xfrm>
            <a:off x="70957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28" name="Text 26"/>
          <p:cNvSpPr/>
          <p:nvPr/>
        </p:nvSpPr>
        <p:spPr>
          <a:xfrm>
            <a:off x="71688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Collocation</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Density Study</a:t>
            </a:r>
            <a:endParaRPr lang="en-US" sz="1100" dirty="0"/>
          </a:p>
        </p:txBody>
      </p:sp>
      <p:sp>
        <p:nvSpPr>
          <p:cNvPr id="29" name="Text 27"/>
          <p:cNvSpPr/>
          <p:nvPr/>
        </p:nvSpPr>
        <p:spPr>
          <a:xfrm>
            <a:off x="71871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Test 800–4,000 collocation points</a:t>
            </a:r>
            <a:endParaRPr lang="en-US" sz="900" dirty="0"/>
          </a:p>
        </p:txBody>
      </p:sp>
      <p:sp>
        <p:nvSpPr>
          <p:cNvPr id="30" name="Shape 28"/>
          <p:cNvSpPr/>
          <p:nvPr/>
        </p:nvSpPr>
        <p:spPr>
          <a:xfrm>
            <a:off x="9331452" y="2587752"/>
            <a:ext cx="402336" cy="402336"/>
          </a:xfrm>
          <a:prstGeom prst="ellipse">
            <a:avLst/>
          </a:prstGeom>
          <a:solidFill>
            <a:srgbClr val="0C3355"/>
          </a:solidFill>
          <a:ln w="22225">
            <a:solidFill>
              <a:srgbClr val="22D3EE"/>
            </a:solidFill>
            <a:prstDash val="solid"/>
          </a:ln>
        </p:spPr>
      </p:sp>
      <p:sp>
        <p:nvSpPr>
          <p:cNvPr id="31" name="Text 29"/>
          <p:cNvSpPr/>
          <p:nvPr/>
        </p:nvSpPr>
        <p:spPr>
          <a:xfrm>
            <a:off x="93314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06</a:t>
            </a:r>
            <a:endParaRPr lang="en-US" sz="1150" dirty="0"/>
          </a:p>
        </p:txBody>
      </p:sp>
      <p:sp>
        <p:nvSpPr>
          <p:cNvPr id="32" name="Shape 30"/>
          <p:cNvSpPr/>
          <p:nvPr/>
        </p:nvSpPr>
        <p:spPr>
          <a:xfrm>
            <a:off x="88102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33" name="Text 31"/>
          <p:cNvSpPr/>
          <p:nvPr/>
        </p:nvSpPr>
        <p:spPr>
          <a:xfrm>
            <a:off x="88833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Matched-Budget</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Validation</a:t>
            </a:r>
            <a:endParaRPr lang="en-US" sz="1100" dirty="0"/>
          </a:p>
        </p:txBody>
      </p:sp>
      <p:sp>
        <p:nvSpPr>
          <p:cNvPr id="34" name="Text 32"/>
          <p:cNvSpPr/>
          <p:nvPr/>
        </p:nvSpPr>
        <p:spPr>
          <a:xfrm>
            <a:off x="89016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Amplitude encoding at Model A's exact budget</a:t>
            </a:r>
            <a:endParaRPr lang="en-US" sz="900" dirty="0"/>
          </a:p>
        </p:txBody>
      </p:sp>
      <p:sp>
        <p:nvSpPr>
          <p:cNvPr id="35" name="Shape 33"/>
          <p:cNvSpPr/>
          <p:nvPr/>
        </p:nvSpPr>
        <p:spPr>
          <a:xfrm>
            <a:off x="11045952" y="2587752"/>
            <a:ext cx="402336" cy="402336"/>
          </a:xfrm>
          <a:prstGeom prst="ellipse">
            <a:avLst/>
          </a:prstGeom>
          <a:solidFill>
            <a:srgbClr val="0C3355"/>
          </a:solidFill>
          <a:ln w="22225">
            <a:solidFill>
              <a:srgbClr val="22D3EE"/>
            </a:solidFill>
            <a:prstDash val="solid"/>
          </a:ln>
        </p:spPr>
      </p:sp>
      <p:sp>
        <p:nvSpPr>
          <p:cNvPr id="36" name="Text 34"/>
          <p:cNvSpPr/>
          <p:nvPr/>
        </p:nvSpPr>
        <p:spPr>
          <a:xfrm>
            <a:off x="11045952" y="2587752"/>
            <a:ext cx="402336" cy="402336"/>
          </a:xfrm>
          <a:prstGeom prst="rect">
            <a:avLst/>
          </a:prstGeom>
          <a:noFill/>
          <a:ln/>
        </p:spPr>
        <p:txBody>
          <a:bodyPr wrap="square" rtlCol="0" anchor="ctr"/>
          <a:lstStyle/>
          <a:p>
            <a:pPr marL="0" indent="0" algn="ctr">
              <a:buNone/>
            </a:pPr>
            <a:r>
              <a:rPr lang="en-US" sz="1150" b="1" dirty="0">
                <a:solidFill>
                  <a:srgbClr val="67E8F9"/>
                </a:solidFill>
                <a:latin typeface="Arial" pitchFamily="34" charset="0"/>
                <a:ea typeface="Arial" pitchFamily="34" charset="-122"/>
                <a:cs typeface="Arial" pitchFamily="34" charset="-120"/>
              </a:rPr>
              <a:t>07</a:t>
            </a:r>
            <a:endParaRPr lang="en-US" sz="1150" dirty="0"/>
          </a:p>
        </p:txBody>
      </p:sp>
      <p:sp>
        <p:nvSpPr>
          <p:cNvPr id="37" name="Shape 35"/>
          <p:cNvSpPr/>
          <p:nvPr/>
        </p:nvSpPr>
        <p:spPr>
          <a:xfrm>
            <a:off x="10524744" y="3200400"/>
            <a:ext cx="1444752" cy="2514600"/>
          </a:xfrm>
          <a:prstGeom prst="roundRect">
            <a:avLst>
              <a:gd name="adj" fmla="val 5063"/>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38" name="Text 36"/>
          <p:cNvSpPr/>
          <p:nvPr/>
        </p:nvSpPr>
        <p:spPr>
          <a:xfrm>
            <a:off x="10597896" y="3319272"/>
            <a:ext cx="1298448" cy="777240"/>
          </a:xfrm>
          <a:prstGeom prst="rect">
            <a:avLst/>
          </a:prstGeom>
          <a:noFill/>
          <a:ln/>
        </p:spPr>
        <p:txBody>
          <a:bodyPr wrap="square" rtlCol="0" anchor="t"/>
          <a:lstStyle/>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Final</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Comparative</a:t>
            </a:r>
            <a:endParaRPr lang="en-US" sz="1100" dirty="0"/>
          </a:p>
          <a:p>
            <a:pPr marL="0" indent="0" algn="ctr">
              <a:lnSpc>
                <a:spcPct val="105000"/>
              </a:lnSpc>
              <a:buNone/>
            </a:pPr>
            <a:r>
              <a:rPr lang="en-US" sz="1100" b="1" dirty="0">
                <a:solidFill>
                  <a:srgbClr val="FFFFFF"/>
                </a:solidFill>
                <a:latin typeface="Arial" pitchFamily="34" charset="0"/>
                <a:ea typeface="Arial" pitchFamily="34" charset="-122"/>
                <a:cs typeface="Arial" pitchFamily="34" charset="-120"/>
              </a:rPr>
              <a:t>Analysis</a:t>
            </a:r>
            <a:endParaRPr lang="en-US" sz="1100" dirty="0"/>
          </a:p>
        </p:txBody>
      </p:sp>
      <p:sp>
        <p:nvSpPr>
          <p:cNvPr id="39" name="Text 37"/>
          <p:cNvSpPr/>
          <p:nvPr/>
        </p:nvSpPr>
        <p:spPr>
          <a:xfrm>
            <a:off x="10616184" y="4160520"/>
            <a:ext cx="1261872" cy="1463040"/>
          </a:xfrm>
          <a:prstGeom prst="rect">
            <a:avLst/>
          </a:prstGeom>
          <a:noFill/>
          <a:ln/>
        </p:spPr>
        <p:txBody>
          <a:bodyPr wrap="square" rtlCol="0" anchor="t"/>
          <a:lstStyle/>
          <a:p>
            <a:pPr marL="0" indent="0" algn="ctr">
              <a:buNone/>
            </a:pPr>
            <a:r>
              <a:rPr lang="en-US" sz="900" dirty="0">
                <a:solidFill>
                  <a:srgbClr val="93AAC7"/>
                </a:solidFill>
                <a:latin typeface="Calibri" pitchFamily="34" charset="0"/>
                <a:ea typeface="Calibri" pitchFamily="34" charset="-122"/>
                <a:cs typeface="Calibri" pitchFamily="34" charset="-120"/>
              </a:rPr>
              <a:t>Synthesize findings across all experiments</a:t>
            </a:r>
            <a:endParaRPr lang="en-US" sz="900" dirty="0"/>
          </a:p>
        </p:txBody>
      </p:sp>
      <p:sp>
        <p:nvSpPr>
          <p:cNvPr id="40" name="Text 38"/>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41" name="Text 39"/>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Roadmap</a:t>
            </a:r>
            <a:endParaRPr lang="en-US" sz="850" dirty="0"/>
          </a:p>
        </p:txBody>
      </p:sp>
      <p:sp>
        <p:nvSpPr>
          <p:cNvPr id="42" name="Text 40"/>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10</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CONTROLLED ABLATION RESULTS</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Global L2 Error Range Across Four Sweeps</a:t>
            </a:r>
            <a:endParaRPr lang="en-US" sz="2700" dirty="0"/>
          </a:p>
        </p:txBody>
      </p:sp>
      <p:sp>
        <p:nvSpPr>
          <p:cNvPr id="4" name="Shape 2"/>
          <p:cNvSpPr/>
          <p:nvPr/>
        </p:nvSpPr>
        <p:spPr>
          <a:xfrm>
            <a:off x="502920" y="1417320"/>
            <a:ext cx="5463540" cy="2148840"/>
          </a:xfrm>
          <a:prstGeom prst="roundRect">
            <a:avLst>
              <a:gd name="adj" fmla="val 3404"/>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5" name="Text 3"/>
          <p:cNvSpPr/>
          <p:nvPr/>
        </p:nvSpPr>
        <p:spPr>
          <a:xfrm>
            <a:off x="685800" y="1527048"/>
            <a:ext cx="3817620" cy="320040"/>
          </a:xfrm>
          <a:prstGeom prst="rect">
            <a:avLst/>
          </a:prstGeom>
          <a:noFill/>
          <a:ln/>
        </p:spPr>
        <p:txBody>
          <a:bodyPr wrap="square" rtlCol="0" anchor="ctr"/>
          <a:lstStyle/>
          <a:p>
            <a:pPr marL="0" indent="0">
              <a:buNone/>
            </a:pPr>
            <a:r>
              <a:rPr lang="en-US" sz="1350" b="1" dirty="0">
                <a:solidFill>
                  <a:srgbClr val="FFFFFF"/>
                </a:solidFill>
                <a:latin typeface="Arial" pitchFamily="34" charset="0"/>
                <a:ea typeface="Arial" pitchFamily="34" charset="-122"/>
                <a:cs typeface="Arial" pitchFamily="34" charset="-120"/>
              </a:rPr>
              <a:t>Qubits</a:t>
            </a:r>
            <a:endParaRPr lang="en-US" sz="1350" dirty="0"/>
          </a:p>
        </p:txBody>
      </p:sp>
      <p:sp>
        <p:nvSpPr>
          <p:cNvPr id="6" name="Text 4"/>
          <p:cNvSpPr/>
          <p:nvPr/>
        </p:nvSpPr>
        <p:spPr>
          <a:xfrm>
            <a:off x="685800" y="1856232"/>
            <a:ext cx="5097780" cy="256032"/>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Values tested: 2, 4, 6</a:t>
            </a:r>
            <a:endParaRPr lang="en-US" sz="950" dirty="0"/>
          </a:p>
        </p:txBody>
      </p:sp>
      <p:sp>
        <p:nvSpPr>
          <p:cNvPr id="7" name="Shape 5"/>
          <p:cNvSpPr/>
          <p:nvPr/>
        </p:nvSpPr>
        <p:spPr>
          <a:xfrm>
            <a:off x="822960" y="2898648"/>
            <a:ext cx="4823460" cy="0"/>
          </a:xfrm>
          <a:prstGeom prst="line">
            <a:avLst/>
          </a:prstGeom>
          <a:noFill/>
          <a:ln w="12700">
            <a:solidFill>
              <a:srgbClr val="1E3F6B"/>
            </a:solidFill>
            <a:prstDash val="solid"/>
          </a:ln>
        </p:spPr>
      </p:sp>
      <p:sp>
        <p:nvSpPr>
          <p:cNvPr id="8" name="Shape 6"/>
          <p:cNvSpPr/>
          <p:nvPr/>
        </p:nvSpPr>
        <p:spPr>
          <a:xfrm>
            <a:off x="1716193" y="2898648"/>
            <a:ext cx="0" cy="64008"/>
          </a:xfrm>
          <a:prstGeom prst="line">
            <a:avLst/>
          </a:prstGeom>
          <a:noFill/>
          <a:ln w="12700">
            <a:solidFill>
              <a:srgbClr val="6E86A6"/>
            </a:solidFill>
            <a:prstDash val="solid"/>
          </a:ln>
        </p:spPr>
      </p:sp>
      <p:sp>
        <p:nvSpPr>
          <p:cNvPr id="9" name="Text 7"/>
          <p:cNvSpPr/>
          <p:nvPr/>
        </p:nvSpPr>
        <p:spPr>
          <a:xfrm>
            <a:off x="1441873" y="297180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0.80</a:t>
            </a:r>
            <a:endParaRPr lang="en-US" sz="800" dirty="0"/>
          </a:p>
        </p:txBody>
      </p:sp>
      <p:sp>
        <p:nvSpPr>
          <p:cNvPr id="10" name="Shape 8"/>
          <p:cNvSpPr/>
          <p:nvPr/>
        </p:nvSpPr>
        <p:spPr>
          <a:xfrm>
            <a:off x="3502660" y="2898648"/>
            <a:ext cx="0" cy="64008"/>
          </a:xfrm>
          <a:prstGeom prst="line">
            <a:avLst/>
          </a:prstGeom>
          <a:noFill/>
          <a:ln w="12700">
            <a:solidFill>
              <a:srgbClr val="6E86A6"/>
            </a:solidFill>
            <a:prstDash val="solid"/>
          </a:ln>
        </p:spPr>
      </p:sp>
      <p:sp>
        <p:nvSpPr>
          <p:cNvPr id="11" name="Text 9"/>
          <p:cNvSpPr/>
          <p:nvPr/>
        </p:nvSpPr>
        <p:spPr>
          <a:xfrm>
            <a:off x="3228340" y="297180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0.90</a:t>
            </a:r>
            <a:endParaRPr lang="en-US" sz="800" dirty="0"/>
          </a:p>
        </p:txBody>
      </p:sp>
      <p:sp>
        <p:nvSpPr>
          <p:cNvPr id="12" name="Shape 10"/>
          <p:cNvSpPr/>
          <p:nvPr/>
        </p:nvSpPr>
        <p:spPr>
          <a:xfrm>
            <a:off x="5289127" y="2898648"/>
            <a:ext cx="0" cy="64008"/>
          </a:xfrm>
          <a:prstGeom prst="line">
            <a:avLst/>
          </a:prstGeom>
          <a:noFill/>
          <a:ln w="12700">
            <a:solidFill>
              <a:srgbClr val="6E86A6"/>
            </a:solidFill>
            <a:prstDash val="solid"/>
          </a:ln>
        </p:spPr>
      </p:sp>
      <p:sp>
        <p:nvSpPr>
          <p:cNvPr id="13" name="Text 11"/>
          <p:cNvSpPr/>
          <p:nvPr/>
        </p:nvSpPr>
        <p:spPr>
          <a:xfrm>
            <a:off x="5014807" y="297180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1.00</a:t>
            </a:r>
            <a:endParaRPr lang="en-US" sz="800" dirty="0"/>
          </a:p>
        </p:txBody>
      </p:sp>
      <p:sp>
        <p:nvSpPr>
          <p:cNvPr id="14" name="Shape 12"/>
          <p:cNvSpPr/>
          <p:nvPr/>
        </p:nvSpPr>
        <p:spPr>
          <a:xfrm>
            <a:off x="5253397" y="2620528"/>
            <a:ext cx="54864" cy="347472"/>
          </a:xfrm>
          <a:prstGeom prst="roundRect">
            <a:avLst>
              <a:gd name="adj" fmla="val 100000"/>
            </a:avLst>
          </a:prstGeom>
          <a:solidFill>
            <a:srgbClr val="5B8DEF"/>
          </a:solidFill>
          <a:ln/>
        </p:spPr>
      </p:sp>
      <p:sp>
        <p:nvSpPr>
          <p:cNvPr id="15" name="Text 13"/>
          <p:cNvSpPr/>
          <p:nvPr/>
        </p:nvSpPr>
        <p:spPr>
          <a:xfrm>
            <a:off x="822960" y="2331720"/>
            <a:ext cx="48234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99.8% – 100.0%</a:t>
            </a:r>
            <a:endParaRPr lang="en-US" sz="1200" dirty="0"/>
          </a:p>
        </p:txBody>
      </p:sp>
      <p:sp>
        <p:nvSpPr>
          <p:cNvPr id="16" name="Text 14"/>
          <p:cNvSpPr/>
          <p:nvPr/>
        </p:nvSpPr>
        <p:spPr>
          <a:xfrm>
            <a:off x="685800" y="3227832"/>
            <a:ext cx="5097780" cy="274320"/>
          </a:xfrm>
          <a:prstGeom prst="rect">
            <a:avLst/>
          </a:prstGeom>
          <a:noFill/>
          <a:ln/>
        </p:spPr>
        <p:txBody>
          <a:bodyPr wrap="square" rtlCol="0" anchor="ctr"/>
          <a:lstStyle/>
          <a:p>
            <a:pPr marL="0" indent="0" algn="ctr">
              <a:buNone/>
            </a:pPr>
            <a:r>
              <a:rPr lang="en-US" sz="950" i="1" dirty="0">
                <a:solidFill>
                  <a:srgbClr val="93AAC7"/>
                </a:solidFill>
                <a:latin typeface="Calibri" pitchFamily="34" charset="0"/>
                <a:ea typeface="Calibri" pitchFamily="34" charset="-122"/>
                <a:cs typeface="Calibri" pitchFamily="34" charset="-120"/>
              </a:rPr>
              <a:t>Flat — within shared plateau</a:t>
            </a:r>
            <a:endParaRPr lang="en-US" sz="950" dirty="0"/>
          </a:p>
        </p:txBody>
      </p:sp>
      <p:sp>
        <p:nvSpPr>
          <p:cNvPr id="17" name="Shape 15"/>
          <p:cNvSpPr/>
          <p:nvPr/>
        </p:nvSpPr>
        <p:spPr>
          <a:xfrm>
            <a:off x="6195060" y="1417320"/>
            <a:ext cx="5463540" cy="2148840"/>
          </a:xfrm>
          <a:prstGeom prst="roundRect">
            <a:avLst>
              <a:gd name="adj" fmla="val 3404"/>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18" name="Text 16"/>
          <p:cNvSpPr/>
          <p:nvPr/>
        </p:nvSpPr>
        <p:spPr>
          <a:xfrm>
            <a:off x="6377940" y="1527048"/>
            <a:ext cx="3817620" cy="320040"/>
          </a:xfrm>
          <a:prstGeom prst="rect">
            <a:avLst/>
          </a:prstGeom>
          <a:noFill/>
          <a:ln/>
        </p:spPr>
        <p:txBody>
          <a:bodyPr wrap="square" rtlCol="0" anchor="ctr"/>
          <a:lstStyle/>
          <a:p>
            <a:pPr marL="0" indent="0">
              <a:buNone/>
            </a:pPr>
            <a:r>
              <a:rPr lang="en-US" sz="1350" b="1" dirty="0">
                <a:solidFill>
                  <a:srgbClr val="FFFFFF"/>
                </a:solidFill>
                <a:latin typeface="Arial" pitchFamily="34" charset="0"/>
                <a:ea typeface="Arial" pitchFamily="34" charset="-122"/>
                <a:cs typeface="Arial" pitchFamily="34" charset="-120"/>
              </a:rPr>
              <a:t>Circuit Depth</a:t>
            </a:r>
            <a:endParaRPr lang="en-US" sz="1350" dirty="0"/>
          </a:p>
        </p:txBody>
      </p:sp>
      <p:sp>
        <p:nvSpPr>
          <p:cNvPr id="19" name="Text 17"/>
          <p:cNvSpPr/>
          <p:nvPr/>
        </p:nvSpPr>
        <p:spPr>
          <a:xfrm>
            <a:off x="6377940" y="1856232"/>
            <a:ext cx="5097780" cy="256032"/>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Values tested: 1, 2, 4</a:t>
            </a:r>
            <a:endParaRPr lang="en-US" sz="950" dirty="0"/>
          </a:p>
        </p:txBody>
      </p:sp>
      <p:sp>
        <p:nvSpPr>
          <p:cNvPr id="20" name="Shape 18"/>
          <p:cNvSpPr/>
          <p:nvPr/>
        </p:nvSpPr>
        <p:spPr>
          <a:xfrm>
            <a:off x="6515100" y="2898648"/>
            <a:ext cx="4823460" cy="0"/>
          </a:xfrm>
          <a:prstGeom prst="line">
            <a:avLst/>
          </a:prstGeom>
          <a:noFill/>
          <a:ln w="12700">
            <a:solidFill>
              <a:srgbClr val="1E3F6B"/>
            </a:solidFill>
            <a:prstDash val="solid"/>
          </a:ln>
        </p:spPr>
      </p:sp>
      <p:sp>
        <p:nvSpPr>
          <p:cNvPr id="21" name="Shape 19"/>
          <p:cNvSpPr/>
          <p:nvPr/>
        </p:nvSpPr>
        <p:spPr>
          <a:xfrm>
            <a:off x="7408333" y="2898648"/>
            <a:ext cx="0" cy="64008"/>
          </a:xfrm>
          <a:prstGeom prst="line">
            <a:avLst/>
          </a:prstGeom>
          <a:noFill/>
          <a:ln w="12700">
            <a:solidFill>
              <a:srgbClr val="6E86A6"/>
            </a:solidFill>
            <a:prstDash val="solid"/>
          </a:ln>
        </p:spPr>
      </p:sp>
      <p:sp>
        <p:nvSpPr>
          <p:cNvPr id="22" name="Text 20"/>
          <p:cNvSpPr/>
          <p:nvPr/>
        </p:nvSpPr>
        <p:spPr>
          <a:xfrm>
            <a:off x="7134013" y="297180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0.80</a:t>
            </a:r>
            <a:endParaRPr lang="en-US" sz="800" dirty="0"/>
          </a:p>
        </p:txBody>
      </p:sp>
      <p:sp>
        <p:nvSpPr>
          <p:cNvPr id="23" name="Shape 21"/>
          <p:cNvSpPr/>
          <p:nvPr/>
        </p:nvSpPr>
        <p:spPr>
          <a:xfrm>
            <a:off x="9194800" y="2898648"/>
            <a:ext cx="0" cy="64008"/>
          </a:xfrm>
          <a:prstGeom prst="line">
            <a:avLst/>
          </a:prstGeom>
          <a:noFill/>
          <a:ln w="12700">
            <a:solidFill>
              <a:srgbClr val="6E86A6"/>
            </a:solidFill>
            <a:prstDash val="solid"/>
          </a:ln>
        </p:spPr>
      </p:sp>
      <p:sp>
        <p:nvSpPr>
          <p:cNvPr id="24" name="Text 22"/>
          <p:cNvSpPr/>
          <p:nvPr/>
        </p:nvSpPr>
        <p:spPr>
          <a:xfrm>
            <a:off x="8920480" y="297180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0.90</a:t>
            </a:r>
            <a:endParaRPr lang="en-US" sz="800" dirty="0"/>
          </a:p>
        </p:txBody>
      </p:sp>
      <p:sp>
        <p:nvSpPr>
          <p:cNvPr id="25" name="Shape 23"/>
          <p:cNvSpPr/>
          <p:nvPr/>
        </p:nvSpPr>
        <p:spPr>
          <a:xfrm>
            <a:off x="10981267" y="2898648"/>
            <a:ext cx="0" cy="64008"/>
          </a:xfrm>
          <a:prstGeom prst="line">
            <a:avLst/>
          </a:prstGeom>
          <a:noFill/>
          <a:ln w="12700">
            <a:solidFill>
              <a:srgbClr val="6E86A6"/>
            </a:solidFill>
            <a:prstDash val="solid"/>
          </a:ln>
        </p:spPr>
      </p:sp>
      <p:sp>
        <p:nvSpPr>
          <p:cNvPr id="26" name="Text 24"/>
          <p:cNvSpPr/>
          <p:nvPr/>
        </p:nvSpPr>
        <p:spPr>
          <a:xfrm>
            <a:off x="10706947" y="297180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1.00</a:t>
            </a:r>
            <a:endParaRPr lang="en-US" sz="800" dirty="0"/>
          </a:p>
        </p:txBody>
      </p:sp>
      <p:sp>
        <p:nvSpPr>
          <p:cNvPr id="27" name="Shape 25"/>
          <p:cNvSpPr/>
          <p:nvPr/>
        </p:nvSpPr>
        <p:spPr>
          <a:xfrm>
            <a:off x="10963402" y="2610090"/>
            <a:ext cx="107188" cy="347472"/>
          </a:xfrm>
          <a:prstGeom prst="roundRect">
            <a:avLst>
              <a:gd name="adj" fmla="val 51185"/>
            </a:avLst>
          </a:prstGeom>
          <a:solidFill>
            <a:srgbClr val="5B8DEF"/>
          </a:solidFill>
          <a:ln/>
        </p:spPr>
      </p:sp>
      <p:sp>
        <p:nvSpPr>
          <p:cNvPr id="28" name="Text 26"/>
          <p:cNvSpPr/>
          <p:nvPr/>
        </p:nvSpPr>
        <p:spPr>
          <a:xfrm>
            <a:off x="6515100" y="2331720"/>
            <a:ext cx="48234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99.9% – 100.5%</a:t>
            </a:r>
            <a:endParaRPr lang="en-US" sz="1200" dirty="0"/>
          </a:p>
        </p:txBody>
      </p:sp>
      <p:sp>
        <p:nvSpPr>
          <p:cNvPr id="29" name="Text 27"/>
          <p:cNvSpPr/>
          <p:nvPr/>
        </p:nvSpPr>
        <p:spPr>
          <a:xfrm>
            <a:off x="6377940" y="3227832"/>
            <a:ext cx="5097780" cy="274320"/>
          </a:xfrm>
          <a:prstGeom prst="rect">
            <a:avLst/>
          </a:prstGeom>
          <a:noFill/>
          <a:ln/>
        </p:spPr>
        <p:txBody>
          <a:bodyPr wrap="square" rtlCol="0" anchor="ctr"/>
          <a:lstStyle/>
          <a:p>
            <a:pPr marL="0" indent="0" algn="ctr">
              <a:buNone/>
            </a:pPr>
            <a:r>
              <a:rPr lang="en-US" sz="950" i="1" dirty="0">
                <a:solidFill>
                  <a:srgbClr val="93AAC7"/>
                </a:solidFill>
                <a:latin typeface="Calibri" pitchFamily="34" charset="0"/>
                <a:ea typeface="Calibri" pitchFamily="34" charset="-122"/>
                <a:cs typeface="Calibri" pitchFamily="34" charset="-120"/>
              </a:rPr>
              <a:t>Flat — within shared plateau</a:t>
            </a:r>
            <a:endParaRPr lang="en-US" sz="950" dirty="0"/>
          </a:p>
        </p:txBody>
      </p:sp>
      <p:sp>
        <p:nvSpPr>
          <p:cNvPr id="30" name="Shape 28"/>
          <p:cNvSpPr/>
          <p:nvPr/>
        </p:nvSpPr>
        <p:spPr>
          <a:xfrm>
            <a:off x="502920" y="3840480"/>
            <a:ext cx="5463540" cy="2148840"/>
          </a:xfrm>
          <a:prstGeom prst="roundRect">
            <a:avLst>
              <a:gd name="adj" fmla="val 3404"/>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31" name="Text 29"/>
          <p:cNvSpPr/>
          <p:nvPr/>
        </p:nvSpPr>
        <p:spPr>
          <a:xfrm>
            <a:off x="685800" y="3950208"/>
            <a:ext cx="3817620" cy="320040"/>
          </a:xfrm>
          <a:prstGeom prst="rect">
            <a:avLst/>
          </a:prstGeom>
          <a:noFill/>
          <a:ln/>
        </p:spPr>
        <p:txBody>
          <a:bodyPr wrap="square" rtlCol="0" anchor="ctr"/>
          <a:lstStyle/>
          <a:p>
            <a:pPr marL="0" indent="0">
              <a:buNone/>
            </a:pPr>
            <a:r>
              <a:rPr lang="en-US" sz="1350" b="1" dirty="0">
                <a:solidFill>
                  <a:srgbClr val="FFFFFF"/>
                </a:solidFill>
                <a:latin typeface="Arial" pitchFamily="34" charset="0"/>
                <a:ea typeface="Arial" pitchFamily="34" charset="-122"/>
                <a:cs typeface="Arial" pitchFamily="34" charset="-120"/>
              </a:rPr>
              <a:t>Entanglement</a:t>
            </a:r>
            <a:endParaRPr lang="en-US" sz="1350" dirty="0"/>
          </a:p>
        </p:txBody>
      </p:sp>
      <p:sp>
        <p:nvSpPr>
          <p:cNvPr id="32" name="Text 30"/>
          <p:cNvSpPr/>
          <p:nvPr/>
        </p:nvSpPr>
        <p:spPr>
          <a:xfrm>
            <a:off x="685800" y="4279392"/>
            <a:ext cx="5097780" cy="256032"/>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Values tested: Linear, Circular, Full</a:t>
            </a:r>
            <a:endParaRPr lang="en-US" sz="950" dirty="0"/>
          </a:p>
        </p:txBody>
      </p:sp>
      <p:sp>
        <p:nvSpPr>
          <p:cNvPr id="33" name="Shape 31"/>
          <p:cNvSpPr/>
          <p:nvPr/>
        </p:nvSpPr>
        <p:spPr>
          <a:xfrm>
            <a:off x="822960" y="5321808"/>
            <a:ext cx="4823460" cy="0"/>
          </a:xfrm>
          <a:prstGeom prst="line">
            <a:avLst/>
          </a:prstGeom>
          <a:noFill/>
          <a:ln w="12700">
            <a:solidFill>
              <a:srgbClr val="1E3F6B"/>
            </a:solidFill>
            <a:prstDash val="solid"/>
          </a:ln>
        </p:spPr>
      </p:sp>
      <p:sp>
        <p:nvSpPr>
          <p:cNvPr id="34" name="Shape 32"/>
          <p:cNvSpPr/>
          <p:nvPr/>
        </p:nvSpPr>
        <p:spPr>
          <a:xfrm>
            <a:off x="1716193" y="5321808"/>
            <a:ext cx="0" cy="64008"/>
          </a:xfrm>
          <a:prstGeom prst="line">
            <a:avLst/>
          </a:prstGeom>
          <a:noFill/>
          <a:ln w="12700">
            <a:solidFill>
              <a:srgbClr val="6E86A6"/>
            </a:solidFill>
            <a:prstDash val="solid"/>
          </a:ln>
        </p:spPr>
      </p:sp>
      <p:sp>
        <p:nvSpPr>
          <p:cNvPr id="35" name="Text 33"/>
          <p:cNvSpPr/>
          <p:nvPr/>
        </p:nvSpPr>
        <p:spPr>
          <a:xfrm>
            <a:off x="1441873" y="539496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0.80</a:t>
            </a:r>
            <a:endParaRPr lang="en-US" sz="800" dirty="0"/>
          </a:p>
        </p:txBody>
      </p:sp>
      <p:sp>
        <p:nvSpPr>
          <p:cNvPr id="36" name="Shape 34"/>
          <p:cNvSpPr/>
          <p:nvPr/>
        </p:nvSpPr>
        <p:spPr>
          <a:xfrm>
            <a:off x="3502660" y="5321808"/>
            <a:ext cx="0" cy="64008"/>
          </a:xfrm>
          <a:prstGeom prst="line">
            <a:avLst/>
          </a:prstGeom>
          <a:noFill/>
          <a:ln w="12700">
            <a:solidFill>
              <a:srgbClr val="6E86A6"/>
            </a:solidFill>
            <a:prstDash val="solid"/>
          </a:ln>
        </p:spPr>
      </p:sp>
      <p:sp>
        <p:nvSpPr>
          <p:cNvPr id="37" name="Text 35"/>
          <p:cNvSpPr/>
          <p:nvPr/>
        </p:nvSpPr>
        <p:spPr>
          <a:xfrm>
            <a:off x="3228340" y="539496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0.90</a:t>
            </a:r>
            <a:endParaRPr lang="en-US" sz="800" dirty="0"/>
          </a:p>
        </p:txBody>
      </p:sp>
      <p:sp>
        <p:nvSpPr>
          <p:cNvPr id="38" name="Shape 36"/>
          <p:cNvSpPr/>
          <p:nvPr/>
        </p:nvSpPr>
        <p:spPr>
          <a:xfrm>
            <a:off x="5289127" y="5321808"/>
            <a:ext cx="0" cy="64008"/>
          </a:xfrm>
          <a:prstGeom prst="line">
            <a:avLst/>
          </a:prstGeom>
          <a:noFill/>
          <a:ln w="12700">
            <a:solidFill>
              <a:srgbClr val="6E86A6"/>
            </a:solidFill>
            <a:prstDash val="solid"/>
          </a:ln>
        </p:spPr>
      </p:sp>
      <p:sp>
        <p:nvSpPr>
          <p:cNvPr id="39" name="Text 37"/>
          <p:cNvSpPr/>
          <p:nvPr/>
        </p:nvSpPr>
        <p:spPr>
          <a:xfrm>
            <a:off x="5014807" y="539496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1.00</a:t>
            </a:r>
            <a:endParaRPr lang="en-US" sz="800" dirty="0"/>
          </a:p>
        </p:txBody>
      </p:sp>
      <p:sp>
        <p:nvSpPr>
          <p:cNvPr id="40" name="Shape 38"/>
          <p:cNvSpPr/>
          <p:nvPr/>
        </p:nvSpPr>
        <p:spPr>
          <a:xfrm>
            <a:off x="5225302" y="5012374"/>
            <a:ext cx="178647" cy="347472"/>
          </a:xfrm>
          <a:prstGeom prst="roundRect">
            <a:avLst>
              <a:gd name="adj" fmla="val 30711"/>
            </a:avLst>
          </a:prstGeom>
          <a:solidFill>
            <a:srgbClr val="5B8DEF"/>
          </a:solidFill>
          <a:ln/>
        </p:spPr>
      </p:sp>
      <p:sp>
        <p:nvSpPr>
          <p:cNvPr id="41" name="Text 39"/>
          <p:cNvSpPr/>
          <p:nvPr/>
        </p:nvSpPr>
        <p:spPr>
          <a:xfrm>
            <a:off x="822960" y="4754880"/>
            <a:ext cx="48234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99.0% – 100.0%</a:t>
            </a:r>
            <a:endParaRPr lang="en-US" sz="1200" dirty="0"/>
          </a:p>
        </p:txBody>
      </p:sp>
      <p:sp>
        <p:nvSpPr>
          <p:cNvPr id="42" name="Text 40"/>
          <p:cNvSpPr/>
          <p:nvPr/>
        </p:nvSpPr>
        <p:spPr>
          <a:xfrm>
            <a:off x="685800" y="5650992"/>
            <a:ext cx="5097780" cy="274320"/>
          </a:xfrm>
          <a:prstGeom prst="rect">
            <a:avLst/>
          </a:prstGeom>
          <a:noFill/>
          <a:ln/>
        </p:spPr>
        <p:txBody>
          <a:bodyPr wrap="square" rtlCol="0" anchor="ctr"/>
          <a:lstStyle/>
          <a:p>
            <a:pPr marL="0" indent="0" algn="ctr">
              <a:buNone/>
            </a:pPr>
            <a:r>
              <a:rPr lang="en-US" sz="950" i="1" dirty="0">
                <a:solidFill>
                  <a:srgbClr val="93AAC7"/>
                </a:solidFill>
                <a:latin typeface="Calibri" pitchFamily="34" charset="0"/>
                <a:ea typeface="Calibri" pitchFamily="34" charset="-122"/>
                <a:cs typeface="Calibri" pitchFamily="34" charset="-120"/>
              </a:rPr>
              <a:t>Flat — within shared plateau</a:t>
            </a:r>
            <a:endParaRPr lang="en-US" sz="950" dirty="0"/>
          </a:p>
        </p:txBody>
      </p:sp>
      <p:sp>
        <p:nvSpPr>
          <p:cNvPr id="43" name="Shape 41"/>
          <p:cNvSpPr/>
          <p:nvPr/>
        </p:nvSpPr>
        <p:spPr>
          <a:xfrm>
            <a:off x="6195060" y="3840480"/>
            <a:ext cx="5463540" cy="2148840"/>
          </a:xfrm>
          <a:prstGeom prst="roundRect">
            <a:avLst>
              <a:gd name="adj" fmla="val 3404"/>
            </a:avLst>
          </a:prstGeom>
          <a:solidFill>
            <a:srgbClr val="0C3355"/>
          </a:solidFill>
          <a:ln w="22225">
            <a:solidFill>
              <a:srgbClr val="22D3EE"/>
            </a:solidFill>
            <a:prstDash val="solid"/>
          </a:ln>
          <a:effectLst>
            <a:outerShdw blurRad="101600" dist="38100" dir="5400000" algn="bl" rotWithShape="0">
              <a:srgbClr val="000000">
                <a:alpha val="35000"/>
              </a:srgbClr>
            </a:outerShdw>
          </a:effectLst>
        </p:spPr>
      </p:sp>
      <p:sp>
        <p:nvSpPr>
          <p:cNvPr id="44" name="Text 42"/>
          <p:cNvSpPr/>
          <p:nvPr/>
        </p:nvSpPr>
        <p:spPr>
          <a:xfrm>
            <a:off x="6377940" y="3950208"/>
            <a:ext cx="3817620" cy="320040"/>
          </a:xfrm>
          <a:prstGeom prst="rect">
            <a:avLst/>
          </a:prstGeom>
          <a:noFill/>
          <a:ln/>
        </p:spPr>
        <p:txBody>
          <a:bodyPr wrap="square" rtlCol="0" anchor="ctr"/>
          <a:lstStyle/>
          <a:p>
            <a:pPr marL="0" indent="0">
              <a:buNone/>
            </a:pPr>
            <a:r>
              <a:rPr lang="en-US" sz="1350" b="1" dirty="0">
                <a:solidFill>
                  <a:srgbClr val="67E8F9"/>
                </a:solidFill>
                <a:latin typeface="Arial" pitchFamily="34" charset="0"/>
                <a:ea typeface="Arial" pitchFamily="34" charset="-122"/>
                <a:cs typeface="Arial" pitchFamily="34" charset="-120"/>
              </a:rPr>
              <a:t>Encoding</a:t>
            </a:r>
            <a:endParaRPr lang="en-US" sz="1350" dirty="0"/>
          </a:p>
        </p:txBody>
      </p:sp>
      <p:sp>
        <p:nvSpPr>
          <p:cNvPr id="45" name="Shape 43"/>
          <p:cNvSpPr/>
          <p:nvPr/>
        </p:nvSpPr>
        <p:spPr>
          <a:xfrm>
            <a:off x="9829800" y="3950208"/>
            <a:ext cx="1645920" cy="292608"/>
          </a:xfrm>
          <a:prstGeom prst="roundRect">
            <a:avLst>
              <a:gd name="adj" fmla="val 50000"/>
            </a:avLst>
          </a:prstGeom>
          <a:solidFill>
            <a:srgbClr val="0F3A5F"/>
          </a:solidFill>
          <a:ln w="12700">
            <a:solidFill>
              <a:srgbClr val="22D3EE"/>
            </a:solidFill>
            <a:prstDash val="solid"/>
          </a:ln>
        </p:spPr>
      </p:sp>
      <p:sp>
        <p:nvSpPr>
          <p:cNvPr id="46" name="Text 44"/>
          <p:cNvSpPr/>
          <p:nvPr/>
        </p:nvSpPr>
        <p:spPr>
          <a:xfrm>
            <a:off x="9829800" y="3950208"/>
            <a:ext cx="1645920" cy="292608"/>
          </a:xfrm>
          <a:prstGeom prst="rect">
            <a:avLst/>
          </a:prstGeom>
          <a:noFill/>
          <a:ln/>
        </p:spPr>
        <p:txBody>
          <a:bodyPr wrap="square" rtlCol="0" anchor="ctr"/>
          <a:lstStyle/>
          <a:p>
            <a:pPr marL="0" indent="0" algn="ctr">
              <a:buNone/>
            </a:pPr>
            <a:r>
              <a:rPr lang="en-US" sz="850" b="1" kern="0" spc="100" dirty="0">
                <a:solidFill>
                  <a:srgbClr val="67E8F9"/>
                </a:solidFill>
                <a:latin typeface="Calibri" pitchFamily="34" charset="0"/>
                <a:ea typeface="Calibri" pitchFamily="34" charset="-122"/>
                <a:cs typeface="Calibri" pitchFamily="34" charset="-120"/>
              </a:rPr>
              <a:t>KEY FACTOR</a:t>
            </a:r>
            <a:endParaRPr lang="en-US" sz="850" dirty="0"/>
          </a:p>
        </p:txBody>
      </p:sp>
      <p:sp>
        <p:nvSpPr>
          <p:cNvPr id="47" name="Text 45"/>
          <p:cNvSpPr/>
          <p:nvPr/>
        </p:nvSpPr>
        <p:spPr>
          <a:xfrm>
            <a:off x="6377940" y="4279392"/>
            <a:ext cx="5097780" cy="256032"/>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Values tested: Angle, Angle re-upl., Amplitude</a:t>
            </a:r>
            <a:endParaRPr lang="en-US" sz="950" dirty="0"/>
          </a:p>
        </p:txBody>
      </p:sp>
      <p:sp>
        <p:nvSpPr>
          <p:cNvPr id="48" name="Shape 46"/>
          <p:cNvSpPr/>
          <p:nvPr/>
        </p:nvSpPr>
        <p:spPr>
          <a:xfrm>
            <a:off x="6515100" y="5321808"/>
            <a:ext cx="4823460" cy="0"/>
          </a:xfrm>
          <a:prstGeom prst="line">
            <a:avLst/>
          </a:prstGeom>
          <a:noFill/>
          <a:ln w="12700">
            <a:solidFill>
              <a:srgbClr val="1E3F6B"/>
            </a:solidFill>
            <a:prstDash val="solid"/>
          </a:ln>
        </p:spPr>
      </p:sp>
      <p:sp>
        <p:nvSpPr>
          <p:cNvPr id="49" name="Shape 47"/>
          <p:cNvSpPr/>
          <p:nvPr/>
        </p:nvSpPr>
        <p:spPr>
          <a:xfrm>
            <a:off x="7408333" y="5321808"/>
            <a:ext cx="0" cy="64008"/>
          </a:xfrm>
          <a:prstGeom prst="line">
            <a:avLst/>
          </a:prstGeom>
          <a:noFill/>
          <a:ln w="12700">
            <a:solidFill>
              <a:srgbClr val="6E86A6"/>
            </a:solidFill>
            <a:prstDash val="solid"/>
          </a:ln>
        </p:spPr>
      </p:sp>
      <p:sp>
        <p:nvSpPr>
          <p:cNvPr id="50" name="Text 48"/>
          <p:cNvSpPr/>
          <p:nvPr/>
        </p:nvSpPr>
        <p:spPr>
          <a:xfrm>
            <a:off x="7134013" y="539496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0.80</a:t>
            </a:r>
            <a:endParaRPr lang="en-US" sz="800" dirty="0"/>
          </a:p>
        </p:txBody>
      </p:sp>
      <p:sp>
        <p:nvSpPr>
          <p:cNvPr id="51" name="Shape 49"/>
          <p:cNvSpPr/>
          <p:nvPr/>
        </p:nvSpPr>
        <p:spPr>
          <a:xfrm>
            <a:off x="9194800" y="5321808"/>
            <a:ext cx="0" cy="64008"/>
          </a:xfrm>
          <a:prstGeom prst="line">
            <a:avLst/>
          </a:prstGeom>
          <a:noFill/>
          <a:ln w="12700">
            <a:solidFill>
              <a:srgbClr val="6E86A6"/>
            </a:solidFill>
            <a:prstDash val="solid"/>
          </a:ln>
        </p:spPr>
      </p:sp>
      <p:sp>
        <p:nvSpPr>
          <p:cNvPr id="52" name="Text 50"/>
          <p:cNvSpPr/>
          <p:nvPr/>
        </p:nvSpPr>
        <p:spPr>
          <a:xfrm>
            <a:off x="8920480" y="539496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0.90</a:t>
            </a:r>
            <a:endParaRPr lang="en-US" sz="800" dirty="0"/>
          </a:p>
        </p:txBody>
      </p:sp>
      <p:sp>
        <p:nvSpPr>
          <p:cNvPr id="53" name="Shape 51"/>
          <p:cNvSpPr/>
          <p:nvPr/>
        </p:nvSpPr>
        <p:spPr>
          <a:xfrm>
            <a:off x="10981267" y="5321808"/>
            <a:ext cx="0" cy="64008"/>
          </a:xfrm>
          <a:prstGeom prst="line">
            <a:avLst/>
          </a:prstGeom>
          <a:noFill/>
          <a:ln w="12700">
            <a:solidFill>
              <a:srgbClr val="6E86A6"/>
            </a:solidFill>
            <a:prstDash val="solid"/>
          </a:ln>
        </p:spPr>
      </p:sp>
      <p:sp>
        <p:nvSpPr>
          <p:cNvPr id="54" name="Text 52"/>
          <p:cNvSpPr/>
          <p:nvPr/>
        </p:nvSpPr>
        <p:spPr>
          <a:xfrm>
            <a:off x="10706947" y="5394960"/>
            <a:ext cx="548640" cy="201168"/>
          </a:xfrm>
          <a:prstGeom prst="rect">
            <a:avLst/>
          </a:prstGeom>
          <a:noFill/>
          <a:ln/>
        </p:spPr>
        <p:txBody>
          <a:bodyPr wrap="square" rtlCol="0" anchor="ctr"/>
          <a:lstStyle/>
          <a:p>
            <a:pPr marL="0" indent="0" algn="ctr">
              <a:buNone/>
            </a:pPr>
            <a:r>
              <a:rPr lang="en-US" sz="800" dirty="0">
                <a:solidFill>
                  <a:srgbClr val="6E86A6"/>
                </a:solidFill>
                <a:latin typeface="Calibri" pitchFamily="34" charset="0"/>
                <a:ea typeface="Calibri" pitchFamily="34" charset="-122"/>
                <a:cs typeface="Calibri" pitchFamily="34" charset="-120"/>
              </a:rPr>
              <a:t>1.00</a:t>
            </a:r>
            <a:endParaRPr lang="en-US" sz="800" dirty="0"/>
          </a:p>
        </p:txBody>
      </p:sp>
      <p:sp>
        <p:nvSpPr>
          <p:cNvPr id="55" name="Shape 53"/>
          <p:cNvSpPr/>
          <p:nvPr/>
        </p:nvSpPr>
        <p:spPr>
          <a:xfrm>
            <a:off x="7397895" y="5043688"/>
            <a:ext cx="3572933" cy="347472"/>
          </a:xfrm>
          <a:prstGeom prst="roundRect">
            <a:avLst>
              <a:gd name="adj" fmla="val 15789"/>
            </a:avLst>
          </a:prstGeom>
          <a:solidFill>
            <a:srgbClr val="22D3EE"/>
          </a:solidFill>
          <a:ln/>
        </p:spPr>
      </p:sp>
      <p:sp>
        <p:nvSpPr>
          <p:cNvPr id="56" name="Text 54"/>
          <p:cNvSpPr/>
          <p:nvPr/>
        </p:nvSpPr>
        <p:spPr>
          <a:xfrm>
            <a:off x="6515100" y="4754880"/>
            <a:ext cx="4823460" cy="27432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80.0% – 100.0%</a:t>
            </a:r>
            <a:endParaRPr lang="en-US" sz="1200" dirty="0"/>
          </a:p>
        </p:txBody>
      </p:sp>
      <p:sp>
        <p:nvSpPr>
          <p:cNvPr id="57" name="Text 55"/>
          <p:cNvSpPr/>
          <p:nvPr/>
        </p:nvSpPr>
        <p:spPr>
          <a:xfrm>
            <a:off x="6377940" y="5650992"/>
            <a:ext cx="5097780" cy="274320"/>
          </a:xfrm>
          <a:prstGeom prst="rect">
            <a:avLst/>
          </a:prstGeom>
          <a:noFill/>
          <a:ln/>
        </p:spPr>
        <p:txBody>
          <a:bodyPr wrap="square" lIns="91440" tIns="45720" rIns="91440" bIns="45720" rtlCol="0" anchor="ctr"/>
          <a:lstStyle/>
          <a:p>
            <a:pPr algn="ctr"/>
            <a:r>
              <a:rPr lang="en-US" sz="950" b="1">
                <a:solidFill>
                  <a:srgbClr val="67E8F9"/>
                </a:solidFill>
                <a:latin typeface="Calibri"/>
                <a:ea typeface="Calibri"/>
                <a:cs typeface="Calibri"/>
              </a:rPr>
              <a:t>Signal — amplitude </a:t>
            </a:r>
            <a:r>
              <a:rPr lang="en-US" sz="950" b="1">
                <a:solidFill>
                  <a:srgbClr val="67E8F9"/>
                </a:solidFill>
                <a:ea typeface="+mn-lt"/>
                <a:cs typeface="+mn-lt"/>
              </a:rPr>
              <a:t>partially</a:t>
            </a:r>
            <a:r>
              <a:rPr lang="en-US" sz="950" b="1">
                <a:solidFill>
                  <a:srgbClr val="67E8F9"/>
                </a:solidFill>
                <a:latin typeface="Calibri"/>
                <a:ea typeface="Calibri"/>
                <a:cs typeface="Calibri"/>
              </a:rPr>
              <a:t> escapes the plateau</a:t>
            </a:r>
            <a:endParaRPr lang="en-US" sz="950">
              <a:latin typeface="Calibri"/>
              <a:ea typeface="Calibri"/>
              <a:cs typeface="Calibri"/>
            </a:endParaRPr>
          </a:p>
        </p:txBody>
      </p:sp>
      <p:sp>
        <p:nvSpPr>
          <p:cNvPr id="58" name="Text 56"/>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59" name="Text 57"/>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Ablation Results</a:t>
            </a:r>
            <a:endParaRPr lang="en-US" sz="850" dirty="0"/>
          </a:p>
        </p:txBody>
      </p:sp>
      <p:sp>
        <p:nvSpPr>
          <p:cNvPr id="60" name="Text 58"/>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11</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KEY SCIENTIFIC FINDING</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Optimizer × Representation Interaction</a:t>
            </a:r>
            <a:endParaRPr lang="en-US" sz="2700" dirty="0"/>
          </a:p>
        </p:txBody>
      </p:sp>
      <p:sp>
        <p:nvSpPr>
          <p:cNvPr id="4" name="Shape 2"/>
          <p:cNvSpPr/>
          <p:nvPr/>
        </p:nvSpPr>
        <p:spPr>
          <a:xfrm>
            <a:off x="502920" y="1417320"/>
            <a:ext cx="2546604" cy="1243584"/>
          </a:xfrm>
          <a:prstGeom prst="roundRect">
            <a:avLst>
              <a:gd name="adj" fmla="val 5882"/>
            </a:avLst>
          </a:prstGeom>
          <a:solidFill>
            <a:srgbClr val="123259"/>
          </a:solidFill>
          <a:ln w="12700">
            <a:solidFill>
              <a:srgbClr val="1E3F6B"/>
            </a:solidFill>
            <a:prstDash val="solid"/>
          </a:ln>
          <a:effectLst>
            <a:outerShdw blurRad="101600" dist="38100" dir="5400000" algn="bl" rotWithShape="0">
              <a:srgbClr val="000000">
                <a:alpha val="35000"/>
              </a:srgbClr>
            </a:outerShdw>
          </a:effectLst>
        </p:spPr>
      </p:sp>
      <p:sp>
        <p:nvSpPr>
          <p:cNvPr id="5" name="Text 3"/>
          <p:cNvSpPr/>
          <p:nvPr/>
        </p:nvSpPr>
        <p:spPr>
          <a:xfrm>
            <a:off x="630936" y="1508760"/>
            <a:ext cx="229057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Angle re-uploading</a:t>
            </a:r>
            <a:endParaRPr lang="en-US" sz="1100" dirty="0"/>
          </a:p>
        </p:txBody>
      </p:sp>
      <p:sp>
        <p:nvSpPr>
          <p:cNvPr id="6" name="Text 4"/>
          <p:cNvSpPr/>
          <p:nvPr/>
        </p:nvSpPr>
        <p:spPr>
          <a:xfrm>
            <a:off x="630936" y="1783080"/>
            <a:ext cx="2290572" cy="237744"/>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Adam-only</a:t>
            </a:r>
            <a:endParaRPr lang="en-US" sz="950" dirty="0"/>
          </a:p>
        </p:txBody>
      </p:sp>
      <p:sp>
        <p:nvSpPr>
          <p:cNvPr id="7" name="Text 5"/>
          <p:cNvSpPr/>
          <p:nvPr/>
        </p:nvSpPr>
        <p:spPr>
          <a:xfrm>
            <a:off x="630936" y="2039112"/>
            <a:ext cx="2290572" cy="557784"/>
          </a:xfrm>
          <a:prstGeom prst="rect">
            <a:avLst/>
          </a:prstGeom>
          <a:noFill/>
          <a:ln/>
        </p:spPr>
        <p:txBody>
          <a:bodyPr wrap="square" rtlCol="0" anchor="t"/>
          <a:lstStyle/>
          <a:p>
            <a:pPr marL="0" indent="0">
              <a:lnSpc>
                <a:spcPct val="115000"/>
              </a:lnSpc>
              <a:buNone/>
            </a:pPr>
            <a:r>
              <a:rPr lang="en-US" sz="950" dirty="0">
                <a:solidFill>
                  <a:srgbClr val="93AAC7"/>
                </a:solidFill>
                <a:latin typeface="Calibri" pitchFamily="34" charset="0"/>
                <a:ea typeface="Calibri" pitchFamily="34" charset="-122"/>
                <a:cs typeface="Calibri" pitchFamily="34" charset="-120"/>
              </a:rPr>
              <a:t>Global L2: </a:t>
            </a:r>
            <a:r>
              <a:rPr lang="en-US" sz="1250" b="1" dirty="0">
                <a:solidFill>
                  <a:srgbClr val="93AAC7"/>
                </a:solidFill>
                <a:latin typeface="Calibri" pitchFamily="34" charset="0"/>
                <a:ea typeface="Calibri" pitchFamily="34" charset="-122"/>
                <a:cs typeface="Calibri" pitchFamily="34" charset="-120"/>
              </a:rPr>
              <a:t>100.04%
</a:t>
            </a:r>
            <a:r>
              <a:rPr lang="en-US" sz="950" dirty="0">
                <a:solidFill>
                  <a:srgbClr val="93AAC7"/>
                </a:solidFill>
                <a:latin typeface="Calibri" pitchFamily="34" charset="0"/>
                <a:ea typeface="Calibri" pitchFamily="34" charset="-122"/>
                <a:cs typeface="Calibri" pitchFamily="34" charset="-120"/>
              </a:rPr>
              <a:t>Shock L2: </a:t>
            </a:r>
            <a:r>
              <a:rPr lang="en-US" sz="1250" b="1" dirty="0">
                <a:solidFill>
                  <a:srgbClr val="93AAC7"/>
                </a:solidFill>
                <a:latin typeface="Calibri" pitchFamily="34" charset="0"/>
                <a:ea typeface="Calibri" pitchFamily="34" charset="-122"/>
                <a:cs typeface="Calibri" pitchFamily="34" charset="-120"/>
              </a:rPr>
              <a:t>100.03%</a:t>
            </a:r>
            <a:endParaRPr lang="en-US" sz="950" dirty="0"/>
          </a:p>
        </p:txBody>
      </p:sp>
      <p:sp>
        <p:nvSpPr>
          <p:cNvPr id="8" name="Shape 6"/>
          <p:cNvSpPr/>
          <p:nvPr/>
        </p:nvSpPr>
        <p:spPr>
          <a:xfrm>
            <a:off x="3214116" y="1417320"/>
            <a:ext cx="2546604" cy="1243584"/>
          </a:xfrm>
          <a:prstGeom prst="roundRect">
            <a:avLst>
              <a:gd name="adj" fmla="val 5882"/>
            </a:avLst>
          </a:prstGeom>
          <a:solidFill>
            <a:srgbClr val="123259"/>
          </a:solidFill>
          <a:ln w="12700">
            <a:solidFill>
              <a:srgbClr val="1E3F6B"/>
            </a:solidFill>
            <a:prstDash val="solid"/>
          </a:ln>
          <a:effectLst>
            <a:outerShdw blurRad="101600" dist="38100" dir="5400000" algn="bl" rotWithShape="0">
              <a:srgbClr val="000000">
                <a:alpha val="35000"/>
              </a:srgbClr>
            </a:outerShdw>
          </a:effectLst>
        </p:spPr>
      </p:sp>
      <p:sp>
        <p:nvSpPr>
          <p:cNvPr id="9" name="Text 7"/>
          <p:cNvSpPr/>
          <p:nvPr/>
        </p:nvSpPr>
        <p:spPr>
          <a:xfrm>
            <a:off x="3342132" y="1508760"/>
            <a:ext cx="229057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Angle re-uploading</a:t>
            </a:r>
            <a:endParaRPr lang="en-US" sz="1100" dirty="0"/>
          </a:p>
        </p:txBody>
      </p:sp>
      <p:sp>
        <p:nvSpPr>
          <p:cNvPr id="10" name="Text 8"/>
          <p:cNvSpPr/>
          <p:nvPr/>
        </p:nvSpPr>
        <p:spPr>
          <a:xfrm>
            <a:off x="3342132" y="1783080"/>
            <a:ext cx="2290572" cy="237744"/>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Adam + L-BFGS</a:t>
            </a:r>
            <a:endParaRPr lang="en-US" sz="950" dirty="0"/>
          </a:p>
        </p:txBody>
      </p:sp>
      <p:sp>
        <p:nvSpPr>
          <p:cNvPr id="11" name="Text 9"/>
          <p:cNvSpPr/>
          <p:nvPr/>
        </p:nvSpPr>
        <p:spPr>
          <a:xfrm>
            <a:off x="3342132" y="2039112"/>
            <a:ext cx="2290572" cy="557784"/>
          </a:xfrm>
          <a:prstGeom prst="rect">
            <a:avLst/>
          </a:prstGeom>
          <a:noFill/>
          <a:ln/>
        </p:spPr>
        <p:txBody>
          <a:bodyPr wrap="square" rtlCol="0" anchor="t"/>
          <a:lstStyle/>
          <a:p>
            <a:pPr marL="0" indent="0">
              <a:lnSpc>
                <a:spcPct val="115000"/>
              </a:lnSpc>
              <a:buNone/>
            </a:pPr>
            <a:r>
              <a:rPr lang="en-US" sz="950" dirty="0">
                <a:solidFill>
                  <a:srgbClr val="93AAC7"/>
                </a:solidFill>
                <a:latin typeface="Calibri" pitchFamily="34" charset="0"/>
                <a:ea typeface="Calibri" pitchFamily="34" charset="-122"/>
                <a:cs typeface="Calibri" pitchFamily="34" charset="-120"/>
              </a:rPr>
              <a:t>Global L2: </a:t>
            </a:r>
            <a:r>
              <a:rPr lang="en-US" sz="1250" b="1" dirty="0">
                <a:solidFill>
                  <a:srgbClr val="93AAC7"/>
                </a:solidFill>
                <a:latin typeface="Calibri" pitchFamily="34" charset="0"/>
                <a:ea typeface="Calibri" pitchFamily="34" charset="-122"/>
                <a:cs typeface="Calibri" pitchFamily="34" charset="-120"/>
              </a:rPr>
              <a:t>98.35%
</a:t>
            </a:r>
            <a:r>
              <a:rPr lang="en-US" sz="950" dirty="0">
                <a:solidFill>
                  <a:srgbClr val="93AAC7"/>
                </a:solidFill>
                <a:latin typeface="Calibri" pitchFamily="34" charset="0"/>
                <a:ea typeface="Calibri" pitchFamily="34" charset="-122"/>
                <a:cs typeface="Calibri" pitchFamily="34" charset="-120"/>
              </a:rPr>
              <a:t>Shock L2: </a:t>
            </a:r>
            <a:r>
              <a:rPr lang="en-US" sz="1250" b="1" dirty="0">
                <a:solidFill>
                  <a:srgbClr val="93AAC7"/>
                </a:solidFill>
                <a:latin typeface="Calibri" pitchFamily="34" charset="0"/>
                <a:ea typeface="Calibri" pitchFamily="34" charset="-122"/>
                <a:cs typeface="Calibri" pitchFamily="34" charset="-120"/>
              </a:rPr>
              <a:t>100.03%</a:t>
            </a:r>
            <a:endParaRPr lang="en-US" sz="950" dirty="0"/>
          </a:p>
        </p:txBody>
      </p:sp>
      <p:sp>
        <p:nvSpPr>
          <p:cNvPr id="12" name="Shape 10"/>
          <p:cNvSpPr/>
          <p:nvPr/>
        </p:nvSpPr>
        <p:spPr>
          <a:xfrm>
            <a:off x="502920" y="2825496"/>
            <a:ext cx="2546604" cy="1243584"/>
          </a:xfrm>
          <a:prstGeom prst="roundRect">
            <a:avLst>
              <a:gd name="adj" fmla="val 5882"/>
            </a:avLst>
          </a:prstGeom>
          <a:solidFill>
            <a:srgbClr val="123259"/>
          </a:solidFill>
          <a:ln w="12700">
            <a:solidFill>
              <a:srgbClr val="1E3F6B"/>
            </a:solidFill>
            <a:prstDash val="solid"/>
          </a:ln>
          <a:effectLst>
            <a:outerShdw blurRad="101600" dist="38100" dir="5400000" algn="bl" rotWithShape="0">
              <a:srgbClr val="000000">
                <a:alpha val="35000"/>
              </a:srgbClr>
            </a:outerShdw>
          </a:effectLst>
        </p:spPr>
      </p:sp>
      <p:sp>
        <p:nvSpPr>
          <p:cNvPr id="13" name="Text 11"/>
          <p:cNvSpPr/>
          <p:nvPr/>
        </p:nvSpPr>
        <p:spPr>
          <a:xfrm>
            <a:off x="630936" y="2916936"/>
            <a:ext cx="2290572" cy="274320"/>
          </a:xfrm>
          <a:prstGeom prst="rect">
            <a:avLst/>
          </a:prstGeom>
          <a:noFill/>
          <a:ln/>
        </p:spPr>
        <p:txBody>
          <a:bodyPr wrap="square"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Amplitude</a:t>
            </a:r>
            <a:endParaRPr lang="en-US" sz="1100" dirty="0"/>
          </a:p>
        </p:txBody>
      </p:sp>
      <p:sp>
        <p:nvSpPr>
          <p:cNvPr id="14" name="Text 12"/>
          <p:cNvSpPr/>
          <p:nvPr/>
        </p:nvSpPr>
        <p:spPr>
          <a:xfrm>
            <a:off x="630936" y="3191256"/>
            <a:ext cx="2290572" cy="237744"/>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Adam-only</a:t>
            </a:r>
            <a:endParaRPr lang="en-US" sz="950" dirty="0"/>
          </a:p>
        </p:txBody>
      </p:sp>
      <p:sp>
        <p:nvSpPr>
          <p:cNvPr id="15" name="Text 13"/>
          <p:cNvSpPr/>
          <p:nvPr/>
        </p:nvSpPr>
        <p:spPr>
          <a:xfrm>
            <a:off x="630936" y="3447288"/>
            <a:ext cx="2290572" cy="557784"/>
          </a:xfrm>
          <a:prstGeom prst="rect">
            <a:avLst/>
          </a:prstGeom>
          <a:noFill/>
          <a:ln/>
        </p:spPr>
        <p:txBody>
          <a:bodyPr wrap="square" rtlCol="0" anchor="t"/>
          <a:lstStyle/>
          <a:p>
            <a:pPr marL="0" indent="0">
              <a:lnSpc>
                <a:spcPct val="115000"/>
              </a:lnSpc>
              <a:buNone/>
            </a:pPr>
            <a:r>
              <a:rPr lang="en-US" sz="950" dirty="0">
                <a:solidFill>
                  <a:srgbClr val="93AAC7"/>
                </a:solidFill>
                <a:latin typeface="Calibri" pitchFamily="34" charset="0"/>
                <a:ea typeface="Calibri" pitchFamily="34" charset="-122"/>
                <a:cs typeface="Calibri" pitchFamily="34" charset="-120"/>
              </a:rPr>
              <a:t>Global L2: </a:t>
            </a:r>
            <a:r>
              <a:rPr lang="en-US" sz="1250" b="1" dirty="0">
                <a:solidFill>
                  <a:srgbClr val="93AAC7"/>
                </a:solidFill>
                <a:latin typeface="Calibri" pitchFamily="34" charset="0"/>
                <a:ea typeface="Calibri" pitchFamily="34" charset="-122"/>
                <a:cs typeface="Calibri" pitchFamily="34" charset="-120"/>
              </a:rPr>
              <a:t>79.96%
</a:t>
            </a:r>
            <a:r>
              <a:rPr lang="en-US" sz="950" dirty="0">
                <a:solidFill>
                  <a:srgbClr val="93AAC7"/>
                </a:solidFill>
                <a:latin typeface="Calibri" pitchFamily="34" charset="0"/>
                <a:ea typeface="Calibri" pitchFamily="34" charset="-122"/>
                <a:cs typeface="Calibri" pitchFamily="34" charset="-120"/>
              </a:rPr>
              <a:t>Shock L2: </a:t>
            </a:r>
            <a:r>
              <a:rPr lang="en-US" sz="1250" b="1" dirty="0">
                <a:solidFill>
                  <a:srgbClr val="93AAC7"/>
                </a:solidFill>
                <a:latin typeface="Calibri" pitchFamily="34" charset="0"/>
                <a:ea typeface="Calibri" pitchFamily="34" charset="-122"/>
                <a:cs typeface="Calibri" pitchFamily="34" charset="-120"/>
              </a:rPr>
              <a:t>98.64%</a:t>
            </a:r>
            <a:endParaRPr lang="en-US" sz="950" dirty="0"/>
          </a:p>
        </p:txBody>
      </p:sp>
      <p:sp>
        <p:nvSpPr>
          <p:cNvPr id="16" name="Shape 14"/>
          <p:cNvSpPr/>
          <p:nvPr/>
        </p:nvSpPr>
        <p:spPr>
          <a:xfrm>
            <a:off x="3214116" y="2825496"/>
            <a:ext cx="2546604" cy="1243584"/>
          </a:xfrm>
          <a:prstGeom prst="roundRect">
            <a:avLst>
              <a:gd name="adj" fmla="val 5882"/>
            </a:avLst>
          </a:prstGeom>
          <a:solidFill>
            <a:srgbClr val="0C3355"/>
          </a:solidFill>
          <a:ln w="25400">
            <a:solidFill>
              <a:srgbClr val="22D3EE"/>
            </a:solidFill>
            <a:prstDash val="solid"/>
          </a:ln>
          <a:effectLst>
            <a:outerShdw blurRad="101600" dist="38100" dir="5400000" algn="bl" rotWithShape="0">
              <a:srgbClr val="000000">
                <a:alpha val="35000"/>
              </a:srgbClr>
            </a:outerShdw>
          </a:effectLst>
        </p:spPr>
      </p:sp>
      <p:sp>
        <p:nvSpPr>
          <p:cNvPr id="17" name="Text 15"/>
          <p:cNvSpPr/>
          <p:nvPr/>
        </p:nvSpPr>
        <p:spPr>
          <a:xfrm>
            <a:off x="3342132" y="2916936"/>
            <a:ext cx="2290572" cy="274320"/>
          </a:xfrm>
          <a:prstGeom prst="rect">
            <a:avLst/>
          </a:prstGeom>
          <a:noFill/>
          <a:ln/>
        </p:spPr>
        <p:txBody>
          <a:bodyPr wrap="square" rtlCol="0" anchor="ctr"/>
          <a:lstStyle/>
          <a:p>
            <a:pPr marL="0" indent="0">
              <a:buNone/>
            </a:pPr>
            <a:r>
              <a:rPr lang="en-US" sz="1100" b="1" dirty="0">
                <a:solidFill>
                  <a:srgbClr val="67E8F9"/>
                </a:solidFill>
                <a:latin typeface="Calibri" pitchFamily="34" charset="0"/>
                <a:ea typeface="Calibri" pitchFamily="34" charset="-122"/>
                <a:cs typeface="Calibri" pitchFamily="34" charset="-120"/>
              </a:rPr>
              <a:t>Amplitude</a:t>
            </a:r>
            <a:endParaRPr lang="en-US" sz="1100" dirty="0"/>
          </a:p>
        </p:txBody>
      </p:sp>
      <p:sp>
        <p:nvSpPr>
          <p:cNvPr id="18" name="Text 16"/>
          <p:cNvSpPr/>
          <p:nvPr/>
        </p:nvSpPr>
        <p:spPr>
          <a:xfrm>
            <a:off x="3342132" y="3191256"/>
            <a:ext cx="2290572" cy="237744"/>
          </a:xfrm>
          <a:prstGeom prst="rect">
            <a:avLst/>
          </a:prstGeom>
          <a:noFill/>
          <a:ln/>
        </p:spPr>
        <p:txBody>
          <a:bodyPr wrap="square" rtlCol="0" anchor="ctr"/>
          <a:lstStyle/>
          <a:p>
            <a:pPr marL="0" indent="0">
              <a:buNone/>
            </a:pPr>
            <a:r>
              <a:rPr lang="en-US" sz="950" i="1" dirty="0">
                <a:solidFill>
                  <a:srgbClr val="93AAC7"/>
                </a:solidFill>
                <a:latin typeface="Calibri" pitchFamily="34" charset="0"/>
                <a:ea typeface="Calibri" pitchFamily="34" charset="-122"/>
                <a:cs typeface="Calibri" pitchFamily="34" charset="-120"/>
              </a:rPr>
              <a:t>Adam + L-BFGS</a:t>
            </a:r>
            <a:endParaRPr lang="en-US" sz="950" dirty="0"/>
          </a:p>
        </p:txBody>
      </p:sp>
      <p:sp>
        <p:nvSpPr>
          <p:cNvPr id="19" name="Text 17"/>
          <p:cNvSpPr/>
          <p:nvPr/>
        </p:nvSpPr>
        <p:spPr>
          <a:xfrm>
            <a:off x="3342132" y="3447288"/>
            <a:ext cx="2290572" cy="557784"/>
          </a:xfrm>
          <a:prstGeom prst="rect">
            <a:avLst/>
          </a:prstGeom>
          <a:noFill/>
          <a:ln/>
        </p:spPr>
        <p:txBody>
          <a:bodyPr wrap="square" rtlCol="0" anchor="t"/>
          <a:lstStyle/>
          <a:p>
            <a:pPr marL="0" indent="0">
              <a:lnSpc>
                <a:spcPct val="115000"/>
              </a:lnSpc>
              <a:buNone/>
            </a:pPr>
            <a:r>
              <a:rPr lang="en-US" sz="950" dirty="0">
                <a:solidFill>
                  <a:srgbClr val="93AAC7"/>
                </a:solidFill>
                <a:latin typeface="Calibri" pitchFamily="34" charset="0"/>
                <a:ea typeface="Calibri" pitchFamily="34" charset="-122"/>
                <a:cs typeface="Calibri" pitchFamily="34" charset="-120"/>
              </a:rPr>
              <a:t>Global L2: </a:t>
            </a:r>
            <a:r>
              <a:rPr lang="en-US" sz="1250" b="1" dirty="0">
                <a:solidFill>
                  <a:srgbClr val="FFFFFF"/>
                </a:solidFill>
                <a:latin typeface="Calibri" pitchFamily="34" charset="0"/>
                <a:ea typeface="Calibri" pitchFamily="34" charset="-122"/>
                <a:cs typeface="Calibri" pitchFamily="34" charset="-120"/>
              </a:rPr>
              <a:t>55.47%
</a:t>
            </a:r>
            <a:r>
              <a:rPr lang="en-US" sz="950" dirty="0">
                <a:solidFill>
                  <a:srgbClr val="93AAC7"/>
                </a:solidFill>
                <a:latin typeface="Calibri" pitchFamily="34" charset="0"/>
                <a:ea typeface="Calibri" pitchFamily="34" charset="-122"/>
                <a:cs typeface="Calibri" pitchFamily="34" charset="-120"/>
              </a:rPr>
              <a:t>Shock L2: </a:t>
            </a:r>
            <a:r>
              <a:rPr lang="en-US" sz="1250" b="1" dirty="0">
                <a:solidFill>
                  <a:srgbClr val="FFFFFF"/>
                </a:solidFill>
                <a:latin typeface="Calibri" pitchFamily="34" charset="0"/>
                <a:ea typeface="Calibri" pitchFamily="34" charset="-122"/>
                <a:cs typeface="Calibri" pitchFamily="34" charset="-120"/>
              </a:rPr>
              <a:t>89.12%</a:t>
            </a:r>
            <a:endParaRPr lang="en-US" sz="950" dirty="0"/>
          </a:p>
        </p:txBody>
      </p:sp>
      <p:sp>
        <p:nvSpPr>
          <p:cNvPr id="20" name="Shape 18"/>
          <p:cNvSpPr/>
          <p:nvPr/>
        </p:nvSpPr>
        <p:spPr>
          <a:xfrm>
            <a:off x="6080760" y="1417320"/>
            <a:ext cx="5577840" cy="2651760"/>
          </a:xfrm>
          <a:prstGeom prst="roundRect">
            <a:avLst>
              <a:gd name="adj" fmla="val 2759"/>
            </a:avLst>
          </a:prstGeom>
          <a:solidFill>
            <a:srgbClr val="0A2247"/>
          </a:solidFill>
          <a:ln w="12700">
            <a:solidFill>
              <a:srgbClr val="1E3F6B"/>
            </a:solidFill>
            <a:prstDash val="solid"/>
          </a:ln>
        </p:spPr>
      </p:sp>
      <p:sp>
        <p:nvSpPr>
          <p:cNvPr id="21" name="Text 19"/>
          <p:cNvSpPr/>
          <p:nvPr/>
        </p:nvSpPr>
        <p:spPr>
          <a:xfrm>
            <a:off x="6263640" y="1527048"/>
            <a:ext cx="5212080" cy="274320"/>
          </a:xfrm>
          <a:prstGeom prst="rect">
            <a:avLst/>
          </a:prstGeom>
          <a:noFill/>
          <a:ln/>
        </p:spPr>
        <p:txBody>
          <a:bodyPr wrap="square" rtlCol="0" anchor="ctr"/>
          <a:lstStyle/>
          <a:p>
            <a:pPr marL="0" indent="0">
              <a:buNone/>
            </a:pPr>
            <a:r>
              <a:rPr lang="en-US" sz="1150" b="1" dirty="0">
                <a:solidFill>
                  <a:srgbClr val="22D3EE"/>
                </a:solidFill>
                <a:latin typeface="Calibri" pitchFamily="34" charset="0"/>
                <a:ea typeface="Calibri" pitchFamily="34" charset="-122"/>
                <a:cs typeface="Calibri" pitchFamily="34" charset="-120"/>
              </a:rPr>
              <a:t>Global L2 Error by Configuration</a:t>
            </a:r>
            <a:endParaRPr lang="en-US" sz="1150" dirty="0"/>
          </a:p>
        </p:txBody>
      </p:sp>
      <p:sp>
        <p:nvSpPr>
          <p:cNvPr id="22" name="Shape 20"/>
          <p:cNvSpPr/>
          <p:nvPr/>
        </p:nvSpPr>
        <p:spPr>
          <a:xfrm>
            <a:off x="6263640" y="3566160"/>
            <a:ext cx="5212080" cy="0"/>
          </a:xfrm>
          <a:prstGeom prst="line">
            <a:avLst/>
          </a:prstGeom>
          <a:noFill/>
          <a:ln w="12700">
            <a:solidFill>
              <a:srgbClr val="1E3F6B"/>
            </a:solidFill>
            <a:prstDash val="solid"/>
          </a:ln>
        </p:spPr>
      </p:sp>
      <p:sp>
        <p:nvSpPr>
          <p:cNvPr id="23" name="Shape 21"/>
          <p:cNvSpPr/>
          <p:nvPr/>
        </p:nvSpPr>
        <p:spPr>
          <a:xfrm>
            <a:off x="7018020" y="2069271"/>
            <a:ext cx="685800" cy="1496889"/>
          </a:xfrm>
          <a:prstGeom prst="roundRect">
            <a:avLst>
              <a:gd name="adj" fmla="val 4000"/>
            </a:avLst>
          </a:prstGeom>
          <a:solidFill>
            <a:srgbClr val="5B8DEF"/>
          </a:solidFill>
          <a:ln/>
        </p:spPr>
      </p:sp>
      <p:sp>
        <p:nvSpPr>
          <p:cNvPr id="24" name="Text 22"/>
          <p:cNvSpPr/>
          <p:nvPr/>
        </p:nvSpPr>
        <p:spPr>
          <a:xfrm>
            <a:off x="6926580" y="1849815"/>
            <a:ext cx="868680"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100.04%</a:t>
            </a:r>
            <a:endParaRPr lang="en-US" sz="900" dirty="0"/>
          </a:p>
        </p:txBody>
      </p:sp>
      <p:sp>
        <p:nvSpPr>
          <p:cNvPr id="25" name="Text 23"/>
          <p:cNvSpPr/>
          <p:nvPr/>
        </p:nvSpPr>
        <p:spPr>
          <a:xfrm>
            <a:off x="6880860" y="3621024"/>
            <a:ext cx="960120" cy="384048"/>
          </a:xfrm>
          <a:prstGeom prst="rect">
            <a:avLst/>
          </a:prstGeom>
          <a:noFill/>
          <a:ln/>
        </p:spPr>
        <p:txBody>
          <a:bodyPr wrap="square" rtlCol="0" anchor="t"/>
          <a:lstStyle/>
          <a:p>
            <a:pPr marL="0" indent="0" algn="ctr">
              <a:buNone/>
            </a:pPr>
            <a:r>
              <a:rPr lang="en-US" sz="800" dirty="0">
                <a:solidFill>
                  <a:srgbClr val="93AAC7"/>
                </a:solidFill>
                <a:latin typeface="Calibri" pitchFamily="34" charset="0"/>
                <a:ea typeface="Calibri" pitchFamily="34" charset="-122"/>
                <a:cs typeface="Calibri" pitchFamily="34" charset="-120"/>
              </a:rPr>
              <a:t>Angle</a:t>
            </a:r>
            <a:endParaRPr lang="en-US" sz="800" dirty="0"/>
          </a:p>
          <a:p>
            <a:pPr marL="0" indent="0" algn="ctr">
              <a:buNone/>
            </a:pPr>
            <a:r>
              <a:rPr lang="en-US" sz="800" dirty="0">
                <a:solidFill>
                  <a:srgbClr val="93AAC7"/>
                </a:solidFill>
                <a:latin typeface="Calibri" pitchFamily="34" charset="0"/>
                <a:ea typeface="Calibri" pitchFamily="34" charset="-122"/>
                <a:cs typeface="Calibri" pitchFamily="34" charset="-120"/>
              </a:rPr>
              <a:t>Adam</a:t>
            </a:r>
            <a:endParaRPr lang="en-US" sz="800" dirty="0"/>
          </a:p>
        </p:txBody>
      </p:sp>
      <p:sp>
        <p:nvSpPr>
          <p:cNvPr id="26" name="Shape 24"/>
          <p:cNvSpPr/>
          <p:nvPr/>
        </p:nvSpPr>
        <p:spPr>
          <a:xfrm>
            <a:off x="8023860" y="2094558"/>
            <a:ext cx="685800" cy="1471602"/>
          </a:xfrm>
          <a:prstGeom prst="roundRect">
            <a:avLst>
              <a:gd name="adj" fmla="val 4000"/>
            </a:avLst>
          </a:prstGeom>
          <a:solidFill>
            <a:srgbClr val="5B8DEF"/>
          </a:solidFill>
          <a:ln/>
        </p:spPr>
      </p:sp>
      <p:sp>
        <p:nvSpPr>
          <p:cNvPr id="27" name="Text 25"/>
          <p:cNvSpPr/>
          <p:nvPr/>
        </p:nvSpPr>
        <p:spPr>
          <a:xfrm>
            <a:off x="7932420" y="1875102"/>
            <a:ext cx="868680"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98.35%</a:t>
            </a:r>
            <a:endParaRPr lang="en-US" sz="900" dirty="0"/>
          </a:p>
        </p:txBody>
      </p:sp>
      <p:sp>
        <p:nvSpPr>
          <p:cNvPr id="28" name="Text 26"/>
          <p:cNvSpPr/>
          <p:nvPr/>
        </p:nvSpPr>
        <p:spPr>
          <a:xfrm>
            <a:off x="7886700" y="3621024"/>
            <a:ext cx="960120" cy="384048"/>
          </a:xfrm>
          <a:prstGeom prst="rect">
            <a:avLst/>
          </a:prstGeom>
          <a:noFill/>
          <a:ln/>
        </p:spPr>
        <p:txBody>
          <a:bodyPr wrap="square" rtlCol="0" anchor="t"/>
          <a:lstStyle/>
          <a:p>
            <a:pPr marL="0" indent="0" algn="ctr">
              <a:buNone/>
            </a:pPr>
            <a:r>
              <a:rPr lang="en-US" sz="800" dirty="0">
                <a:solidFill>
                  <a:srgbClr val="93AAC7"/>
                </a:solidFill>
                <a:latin typeface="Calibri" pitchFamily="34" charset="0"/>
                <a:ea typeface="Calibri" pitchFamily="34" charset="-122"/>
                <a:cs typeface="Calibri" pitchFamily="34" charset="-120"/>
              </a:rPr>
              <a:t>Angle</a:t>
            </a:r>
            <a:endParaRPr lang="en-US" sz="800" dirty="0"/>
          </a:p>
          <a:p>
            <a:pPr marL="0" indent="0" algn="ctr">
              <a:buNone/>
            </a:pPr>
            <a:r>
              <a:rPr lang="en-US" sz="800" dirty="0">
                <a:solidFill>
                  <a:srgbClr val="93AAC7"/>
                </a:solidFill>
                <a:latin typeface="Calibri" pitchFamily="34" charset="0"/>
                <a:ea typeface="Calibri" pitchFamily="34" charset="-122"/>
                <a:cs typeface="Calibri" pitchFamily="34" charset="-120"/>
              </a:rPr>
              <a:t>Adam+LBFGS</a:t>
            </a:r>
            <a:endParaRPr lang="en-US" sz="800" dirty="0"/>
          </a:p>
        </p:txBody>
      </p:sp>
      <p:sp>
        <p:nvSpPr>
          <p:cNvPr id="29" name="Shape 27"/>
          <p:cNvSpPr/>
          <p:nvPr/>
        </p:nvSpPr>
        <p:spPr>
          <a:xfrm>
            <a:off x="9029700" y="2369726"/>
            <a:ext cx="685800" cy="1196434"/>
          </a:xfrm>
          <a:prstGeom prst="roundRect">
            <a:avLst>
              <a:gd name="adj" fmla="val 4000"/>
            </a:avLst>
          </a:prstGeom>
          <a:solidFill>
            <a:srgbClr val="22D3EE"/>
          </a:solidFill>
          <a:ln/>
        </p:spPr>
      </p:sp>
      <p:sp>
        <p:nvSpPr>
          <p:cNvPr id="30" name="Text 28"/>
          <p:cNvSpPr/>
          <p:nvPr/>
        </p:nvSpPr>
        <p:spPr>
          <a:xfrm>
            <a:off x="8938260" y="2150270"/>
            <a:ext cx="868680"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79.96%</a:t>
            </a:r>
            <a:endParaRPr lang="en-US" sz="900" dirty="0"/>
          </a:p>
        </p:txBody>
      </p:sp>
      <p:sp>
        <p:nvSpPr>
          <p:cNvPr id="31" name="Text 29"/>
          <p:cNvSpPr/>
          <p:nvPr/>
        </p:nvSpPr>
        <p:spPr>
          <a:xfrm>
            <a:off x="8892540" y="3621024"/>
            <a:ext cx="960120" cy="384048"/>
          </a:xfrm>
          <a:prstGeom prst="rect">
            <a:avLst/>
          </a:prstGeom>
          <a:noFill/>
          <a:ln/>
        </p:spPr>
        <p:txBody>
          <a:bodyPr wrap="square" rtlCol="0" anchor="t"/>
          <a:lstStyle/>
          <a:p>
            <a:pPr marL="0" indent="0" algn="ctr">
              <a:buNone/>
            </a:pPr>
            <a:r>
              <a:rPr lang="en-US" sz="800" dirty="0">
                <a:solidFill>
                  <a:srgbClr val="93AAC7"/>
                </a:solidFill>
                <a:latin typeface="Calibri" pitchFamily="34" charset="0"/>
                <a:ea typeface="Calibri" pitchFamily="34" charset="-122"/>
                <a:cs typeface="Calibri" pitchFamily="34" charset="-120"/>
              </a:rPr>
              <a:t>Amplitude</a:t>
            </a:r>
            <a:endParaRPr lang="en-US" sz="800" dirty="0"/>
          </a:p>
          <a:p>
            <a:pPr marL="0" indent="0" algn="ctr">
              <a:buNone/>
            </a:pPr>
            <a:r>
              <a:rPr lang="en-US" sz="800" dirty="0">
                <a:solidFill>
                  <a:srgbClr val="93AAC7"/>
                </a:solidFill>
                <a:latin typeface="Calibri" pitchFamily="34" charset="0"/>
                <a:ea typeface="Calibri" pitchFamily="34" charset="-122"/>
                <a:cs typeface="Calibri" pitchFamily="34" charset="-120"/>
              </a:rPr>
              <a:t>Adam</a:t>
            </a:r>
            <a:endParaRPr lang="en-US" sz="800" dirty="0"/>
          </a:p>
        </p:txBody>
      </p:sp>
      <p:sp>
        <p:nvSpPr>
          <p:cNvPr id="32" name="Shape 30"/>
          <p:cNvSpPr/>
          <p:nvPr/>
        </p:nvSpPr>
        <p:spPr>
          <a:xfrm>
            <a:off x="10035540" y="2736167"/>
            <a:ext cx="685800" cy="829993"/>
          </a:xfrm>
          <a:prstGeom prst="roundRect">
            <a:avLst>
              <a:gd name="adj" fmla="val 4000"/>
            </a:avLst>
          </a:prstGeom>
          <a:solidFill>
            <a:srgbClr val="67E8F9"/>
          </a:solidFill>
          <a:ln/>
        </p:spPr>
      </p:sp>
      <p:sp>
        <p:nvSpPr>
          <p:cNvPr id="33" name="Text 31"/>
          <p:cNvSpPr/>
          <p:nvPr/>
        </p:nvSpPr>
        <p:spPr>
          <a:xfrm>
            <a:off x="9944100" y="2516711"/>
            <a:ext cx="868680" cy="201168"/>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55.47%</a:t>
            </a:r>
            <a:endParaRPr lang="en-US" sz="900" dirty="0"/>
          </a:p>
        </p:txBody>
      </p:sp>
      <p:sp>
        <p:nvSpPr>
          <p:cNvPr id="34" name="Text 32"/>
          <p:cNvSpPr/>
          <p:nvPr/>
        </p:nvSpPr>
        <p:spPr>
          <a:xfrm>
            <a:off x="9898380" y="3621024"/>
            <a:ext cx="960120" cy="384048"/>
          </a:xfrm>
          <a:prstGeom prst="rect">
            <a:avLst/>
          </a:prstGeom>
          <a:noFill/>
          <a:ln/>
        </p:spPr>
        <p:txBody>
          <a:bodyPr wrap="square" rtlCol="0" anchor="t"/>
          <a:lstStyle/>
          <a:p>
            <a:pPr marL="0" indent="0" algn="ctr">
              <a:buNone/>
            </a:pPr>
            <a:r>
              <a:rPr lang="en-US" sz="800" dirty="0">
                <a:solidFill>
                  <a:srgbClr val="93AAC7"/>
                </a:solidFill>
                <a:latin typeface="Calibri" pitchFamily="34" charset="0"/>
                <a:ea typeface="Calibri" pitchFamily="34" charset="-122"/>
                <a:cs typeface="Calibri" pitchFamily="34" charset="-120"/>
              </a:rPr>
              <a:t>Amplitude</a:t>
            </a:r>
            <a:endParaRPr lang="en-US" sz="800" dirty="0"/>
          </a:p>
          <a:p>
            <a:pPr marL="0" indent="0" algn="ctr">
              <a:buNone/>
            </a:pPr>
            <a:r>
              <a:rPr lang="en-US" sz="800" dirty="0">
                <a:solidFill>
                  <a:srgbClr val="93AAC7"/>
                </a:solidFill>
                <a:latin typeface="Calibri" pitchFamily="34" charset="0"/>
                <a:ea typeface="Calibri" pitchFamily="34" charset="-122"/>
                <a:cs typeface="Calibri" pitchFamily="34" charset="-120"/>
              </a:rPr>
              <a:t>Adam+LBFGS</a:t>
            </a:r>
            <a:endParaRPr lang="en-US" sz="8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02920" y="4279392"/>
          <a:ext cx="11155680" cy="960120"/>
        </p:xfrm>
        <a:graphic>
          <a:graphicData uri="http://schemas.openxmlformats.org/drawingml/2006/table">
            <a:tbl>
              <a:tblPr/>
              <a:tblGrid>
                <a:gridCol w="3017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gridCol w="2834640">
                  <a:extLst>
                    <a:ext uri="{9D8B030D-6E8A-4147-A177-3AD203B41FA5}">
                      <a16:colId xmlns:a16="http://schemas.microsoft.com/office/drawing/2014/main" val="20003"/>
                    </a:ext>
                  </a:extLst>
                </a:gridCol>
              </a:tblGrid>
              <a:tr h="320040">
                <a:tc>
                  <a:txBody>
                    <a:bodyPr/>
                    <a:lstStyle/>
                    <a:p>
                      <a:pPr marL="0" indent="0" algn="l">
                        <a:buNone/>
                      </a:pPr>
                      <a:r>
                        <a:rPr lang="en-US" sz="1050" b="1" dirty="0">
                          <a:solidFill>
                            <a:srgbClr val="22D3EE"/>
                          </a:solidFill>
                          <a:latin typeface="Calibri" pitchFamily="34" charset="0"/>
                          <a:ea typeface="Calibri" pitchFamily="34" charset="-122"/>
                          <a:cs typeface="Calibri" pitchFamily="34" charset="-120"/>
                        </a:rPr>
                        <a:t>Encoding</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lgn="l">
                        <a:buNone/>
                      </a:pPr>
                      <a:r>
                        <a:rPr lang="en-US" sz="1050" b="1" dirty="0">
                          <a:solidFill>
                            <a:srgbClr val="22D3EE"/>
                          </a:solidFill>
                          <a:latin typeface="Calibri" pitchFamily="34" charset="0"/>
                          <a:ea typeface="Calibri" pitchFamily="34" charset="-122"/>
                          <a:cs typeface="Calibri" pitchFamily="34" charset="-120"/>
                        </a:rPr>
                        <a:t>Adam-only L2</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lgn="l">
                        <a:buNone/>
                      </a:pPr>
                      <a:r>
                        <a:rPr lang="en-US" sz="1050" b="1" dirty="0">
                          <a:solidFill>
                            <a:srgbClr val="22D3EE"/>
                          </a:solidFill>
                          <a:latin typeface="Calibri" pitchFamily="34" charset="0"/>
                          <a:ea typeface="Calibri" pitchFamily="34" charset="-122"/>
                          <a:cs typeface="Calibri" pitchFamily="34" charset="-120"/>
                        </a:rPr>
                        <a:t>Adam+L-BFGS L2</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lgn="l">
                        <a:buNone/>
                      </a:pPr>
                      <a:r>
                        <a:rPr lang="en-US" sz="1050" b="1" dirty="0">
                          <a:solidFill>
                            <a:srgbClr val="22D3EE"/>
                          </a:solidFill>
                          <a:latin typeface="Calibri" pitchFamily="34" charset="0"/>
                          <a:ea typeface="Calibri" pitchFamily="34" charset="-122"/>
                          <a:cs typeface="Calibri" pitchFamily="34" charset="-120"/>
                        </a:rPr>
                        <a:t>Shock L2 (Adam+LBFGS)</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extLst>
                  <a:ext uri="{0D108BD9-81ED-4DB2-BD59-A6C34878D82A}">
                    <a16:rowId xmlns:a16="http://schemas.microsoft.com/office/drawing/2014/main" val="10000"/>
                  </a:ext>
                </a:extLst>
              </a:tr>
              <a:tr h="32004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Angle re-uploading</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100.04%</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98.35%</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100.03% (unchanged)</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1"/>
                  </a:ext>
                </a:extLst>
              </a:tr>
              <a:tr h="320040">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Amplitude</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79.96%</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55.47%</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tc>
                  <a:txBody>
                    <a:bodyPr/>
                    <a:lstStyle/>
                    <a:p>
                      <a:pPr marL="0" indent="0" algn="l">
                        <a:buNone/>
                      </a:pPr>
                      <a:r>
                        <a:rPr lang="en-US" sz="1050" dirty="0">
                          <a:solidFill>
                            <a:srgbClr val="FFFFFF"/>
                          </a:solidFill>
                          <a:latin typeface="Calibri" pitchFamily="34" charset="0"/>
                          <a:ea typeface="Calibri" pitchFamily="34" charset="-122"/>
                          <a:cs typeface="Calibri" pitchFamily="34" charset="-120"/>
                        </a:rPr>
                        <a:t>89.12%</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extLst>
                  <a:ext uri="{0D108BD9-81ED-4DB2-BD59-A6C34878D82A}">
                    <a16:rowId xmlns:a16="http://schemas.microsoft.com/office/drawing/2014/main" val="10002"/>
                  </a:ext>
                </a:extLst>
              </a:tr>
            </a:tbl>
          </a:graphicData>
        </a:graphic>
      </p:graphicFrame>
      <p:sp>
        <p:nvSpPr>
          <p:cNvPr id="36" name="Shape 33"/>
          <p:cNvSpPr/>
          <p:nvPr/>
        </p:nvSpPr>
        <p:spPr>
          <a:xfrm>
            <a:off x="502920" y="5394960"/>
            <a:ext cx="11155680" cy="502920"/>
          </a:xfrm>
          <a:prstGeom prst="roundRect">
            <a:avLst>
              <a:gd name="adj" fmla="val 14545"/>
            </a:avLst>
          </a:prstGeom>
          <a:solidFill>
            <a:srgbClr val="0A2247"/>
          </a:solidFill>
          <a:ln w="12700">
            <a:solidFill>
              <a:srgbClr val="22D3EE"/>
            </a:solidFill>
            <a:prstDash val="solid"/>
          </a:ln>
        </p:spPr>
      </p:sp>
      <p:sp>
        <p:nvSpPr>
          <p:cNvPr id="37" name="Text 34"/>
          <p:cNvSpPr/>
          <p:nvPr/>
        </p:nvSpPr>
        <p:spPr>
          <a:xfrm>
            <a:off x="777240" y="5394960"/>
            <a:ext cx="10607040" cy="50292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Representation determines optimization effectiveness — the optimizer that helps depends on how data is encoded.</a:t>
            </a:r>
            <a:endParaRPr lang="en-US" sz="1200" dirty="0"/>
          </a:p>
        </p:txBody>
      </p:sp>
      <p:sp>
        <p:nvSpPr>
          <p:cNvPr id="38" name="Text 35"/>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39" name="Text 36"/>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Key Finding</a:t>
            </a:r>
            <a:endParaRPr lang="en-US" sz="850" dirty="0"/>
          </a:p>
        </p:txBody>
      </p:sp>
      <p:sp>
        <p:nvSpPr>
          <p:cNvPr id="40" name="Text 37"/>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12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UNEXPECTED FINDINGS</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Results That Diverged From Theory</a:t>
            </a:r>
            <a:endParaRPr lang="en-US" sz="2700" dirty="0"/>
          </a:p>
        </p:txBody>
      </p:sp>
      <p:sp>
        <p:nvSpPr>
          <p:cNvPr id="4" name="Shape 2"/>
          <p:cNvSpPr/>
          <p:nvPr/>
        </p:nvSpPr>
        <p:spPr>
          <a:xfrm>
            <a:off x="502920" y="1508760"/>
            <a:ext cx="3566160" cy="4160520"/>
          </a:xfrm>
          <a:prstGeom prst="roundRect">
            <a:avLst>
              <a:gd name="adj" fmla="val 2051"/>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5" name="Text 3"/>
          <p:cNvSpPr/>
          <p:nvPr/>
        </p:nvSpPr>
        <p:spPr>
          <a:xfrm>
            <a:off x="731520" y="1783080"/>
            <a:ext cx="3108960" cy="365760"/>
          </a:xfrm>
          <a:prstGeom prst="rect">
            <a:avLst/>
          </a:prstGeom>
          <a:noFill/>
          <a:ln/>
        </p:spPr>
        <p:txBody>
          <a:bodyPr wrap="square"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Finding 1</a:t>
            </a:r>
            <a:endParaRPr lang="en-US" sz="1200" dirty="0"/>
          </a:p>
        </p:txBody>
      </p:sp>
      <p:sp>
        <p:nvSpPr>
          <p:cNvPr id="6" name="Text 4"/>
          <p:cNvSpPr/>
          <p:nvPr/>
        </p:nvSpPr>
        <p:spPr>
          <a:xfrm>
            <a:off x="731520" y="2286000"/>
            <a:ext cx="3108960" cy="2651760"/>
          </a:xfrm>
          <a:prstGeom prst="rect">
            <a:avLst/>
          </a:prstGeom>
          <a:noFill/>
          <a:ln/>
        </p:spPr>
        <p:txBody>
          <a:bodyPr wrap="square" rtlCol="0" anchor="t"/>
          <a:lstStyle/>
          <a:p>
            <a:pPr marL="0" indent="0">
              <a:lnSpc>
                <a:spcPct val="120000"/>
              </a:lnSpc>
              <a:buNone/>
            </a:pPr>
            <a:r>
              <a:rPr lang="en-US" sz="1350" dirty="0">
                <a:solidFill>
                  <a:srgbClr val="FFFFFF"/>
                </a:solidFill>
                <a:latin typeface="Arial" pitchFamily="34" charset="0"/>
                <a:ea typeface="Arial" pitchFamily="34" charset="-122"/>
                <a:cs typeface="Arial" pitchFamily="34" charset="-120"/>
              </a:rPr>
              <a:t>Increasing collocation density produced almost no improvement — global L2 error stayed within 55–58% across an 800 → 4,000 point, 5× range.</a:t>
            </a:r>
            <a:endParaRPr lang="en-US" sz="1350" dirty="0"/>
          </a:p>
        </p:txBody>
      </p:sp>
      <p:sp>
        <p:nvSpPr>
          <p:cNvPr id="7" name="Shape 5"/>
          <p:cNvSpPr/>
          <p:nvPr/>
        </p:nvSpPr>
        <p:spPr>
          <a:xfrm>
            <a:off x="4297680" y="1508760"/>
            <a:ext cx="3566160" cy="4160520"/>
          </a:xfrm>
          <a:prstGeom prst="roundRect">
            <a:avLst>
              <a:gd name="adj" fmla="val 2051"/>
            </a:avLst>
          </a:prstGeom>
          <a:solidFill>
            <a:srgbClr val="0E2A50"/>
          </a:solidFill>
          <a:ln w="12700">
            <a:solidFill>
              <a:srgbClr val="1E3F6B"/>
            </a:solidFill>
            <a:prstDash val="solid"/>
          </a:ln>
          <a:effectLst>
            <a:outerShdw blurRad="101600" dist="38100" dir="5400000" algn="bl" rotWithShape="0">
              <a:srgbClr val="000000">
                <a:alpha val="35000"/>
              </a:srgbClr>
            </a:outerShdw>
          </a:effectLst>
        </p:spPr>
      </p:sp>
      <p:sp>
        <p:nvSpPr>
          <p:cNvPr id="8" name="Text 6"/>
          <p:cNvSpPr/>
          <p:nvPr/>
        </p:nvSpPr>
        <p:spPr>
          <a:xfrm>
            <a:off x="4526280" y="1783080"/>
            <a:ext cx="3108960" cy="365760"/>
          </a:xfrm>
          <a:prstGeom prst="rect">
            <a:avLst/>
          </a:prstGeom>
          <a:noFill/>
          <a:ln/>
        </p:spPr>
        <p:txBody>
          <a:bodyPr wrap="square"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Finding 2</a:t>
            </a:r>
            <a:endParaRPr lang="en-US" sz="1200" dirty="0"/>
          </a:p>
        </p:txBody>
      </p:sp>
      <p:sp>
        <p:nvSpPr>
          <p:cNvPr id="9" name="Text 7"/>
          <p:cNvSpPr/>
          <p:nvPr/>
        </p:nvSpPr>
        <p:spPr>
          <a:xfrm>
            <a:off x="4526280" y="2286000"/>
            <a:ext cx="3108960" cy="2651760"/>
          </a:xfrm>
          <a:prstGeom prst="rect">
            <a:avLst/>
          </a:prstGeom>
          <a:noFill/>
          <a:ln/>
        </p:spPr>
        <p:txBody>
          <a:bodyPr wrap="square" rtlCol="0" anchor="t"/>
          <a:lstStyle/>
          <a:p>
            <a:pPr marL="0" indent="0">
              <a:lnSpc>
                <a:spcPct val="120000"/>
              </a:lnSpc>
              <a:buNone/>
            </a:pPr>
            <a:r>
              <a:rPr lang="en-US" sz="1350" dirty="0">
                <a:solidFill>
                  <a:srgbClr val="FFFFFF"/>
                </a:solidFill>
                <a:latin typeface="Arial" pitchFamily="34" charset="0"/>
                <a:ea typeface="Arial" pitchFamily="34" charset="-122"/>
                <a:cs typeface="Arial" pitchFamily="34" charset="-120"/>
              </a:rPr>
              <a:t>Lower PDE residual did not consistently correspond to lower prediction error — residual and accuracy moved together in some runs and traded off in others.</a:t>
            </a:r>
            <a:endParaRPr lang="en-US" sz="1350" dirty="0"/>
          </a:p>
        </p:txBody>
      </p:sp>
      <p:sp>
        <p:nvSpPr>
          <p:cNvPr id="10" name="Shape 8"/>
          <p:cNvSpPr/>
          <p:nvPr/>
        </p:nvSpPr>
        <p:spPr>
          <a:xfrm>
            <a:off x="8092440" y="1508760"/>
            <a:ext cx="3566160" cy="4160520"/>
          </a:xfrm>
          <a:prstGeom prst="roundRect">
            <a:avLst>
              <a:gd name="adj" fmla="val 2051"/>
            </a:avLst>
          </a:prstGeom>
          <a:solidFill>
            <a:srgbClr val="0C3355"/>
          </a:solidFill>
          <a:ln w="22225">
            <a:solidFill>
              <a:srgbClr val="22D3EE"/>
            </a:solidFill>
            <a:prstDash val="solid"/>
          </a:ln>
          <a:effectLst>
            <a:outerShdw blurRad="101600" dist="38100" dir="5400000" algn="bl" rotWithShape="0">
              <a:srgbClr val="000000">
                <a:alpha val="35000"/>
              </a:srgbClr>
            </a:outerShdw>
          </a:effectLst>
        </p:spPr>
      </p:sp>
      <p:sp>
        <p:nvSpPr>
          <p:cNvPr id="11" name="Text 9"/>
          <p:cNvSpPr/>
          <p:nvPr/>
        </p:nvSpPr>
        <p:spPr>
          <a:xfrm>
            <a:off x="8321040" y="1783080"/>
            <a:ext cx="3108960" cy="365760"/>
          </a:xfrm>
          <a:prstGeom prst="rect">
            <a:avLst/>
          </a:prstGeom>
          <a:noFill/>
          <a:ln/>
        </p:spPr>
        <p:txBody>
          <a:bodyPr wrap="square" rtlCol="0" anchor="ctr"/>
          <a:lstStyle/>
          <a:p>
            <a:pPr marL="0" indent="0">
              <a:buNone/>
            </a:pPr>
            <a:r>
              <a:rPr lang="en-US" sz="1200" b="1" kern="0" spc="100" dirty="0">
                <a:solidFill>
                  <a:srgbClr val="22D3EE"/>
                </a:solidFill>
                <a:latin typeface="Calibri" pitchFamily="34" charset="0"/>
                <a:ea typeface="Calibri" pitchFamily="34" charset="-122"/>
                <a:cs typeface="Calibri" pitchFamily="34" charset="-120"/>
              </a:rPr>
              <a:t>Finding 3</a:t>
            </a:r>
            <a:endParaRPr lang="en-US" sz="1200" dirty="0"/>
          </a:p>
        </p:txBody>
      </p:sp>
      <p:sp>
        <p:nvSpPr>
          <p:cNvPr id="12" name="Text 10"/>
          <p:cNvSpPr/>
          <p:nvPr/>
        </p:nvSpPr>
        <p:spPr>
          <a:xfrm>
            <a:off x="8321040" y="2286000"/>
            <a:ext cx="3108960" cy="2651760"/>
          </a:xfrm>
          <a:prstGeom prst="rect">
            <a:avLst/>
          </a:prstGeom>
          <a:noFill/>
          <a:ln/>
        </p:spPr>
        <p:txBody>
          <a:bodyPr wrap="square" rtlCol="0" anchor="t"/>
          <a:lstStyle/>
          <a:p>
            <a:pPr marL="0" indent="0">
              <a:lnSpc>
                <a:spcPct val="120000"/>
              </a:lnSpc>
              <a:buNone/>
            </a:pPr>
            <a:r>
              <a:rPr lang="en-US" sz="1350" dirty="0">
                <a:solidFill>
                  <a:srgbClr val="FFFFFF"/>
                </a:solidFill>
                <a:latin typeface="Arial" pitchFamily="34" charset="0"/>
                <a:ea typeface="Arial" pitchFamily="34" charset="-122"/>
                <a:cs typeface="Arial" pitchFamily="34" charset="-120"/>
              </a:rPr>
              <a:t>Theoretical analyses often motivate angle-based encodings, whereas amplitude encoding performed best in our experiments.</a:t>
            </a:r>
            <a:endParaRPr lang="en-US" sz="1350" dirty="0"/>
          </a:p>
        </p:txBody>
      </p:sp>
      <p:sp>
        <p:nvSpPr>
          <p:cNvPr id="13" name="Shape 11"/>
          <p:cNvSpPr/>
          <p:nvPr/>
        </p:nvSpPr>
        <p:spPr>
          <a:xfrm>
            <a:off x="8321040" y="5102352"/>
            <a:ext cx="3108960" cy="365760"/>
          </a:xfrm>
          <a:prstGeom prst="roundRect">
            <a:avLst>
              <a:gd name="adj" fmla="val 50000"/>
            </a:avLst>
          </a:prstGeom>
          <a:solidFill>
            <a:srgbClr val="0F3A5F"/>
          </a:solidFill>
          <a:ln w="12700">
            <a:solidFill>
              <a:srgbClr val="22D3EE"/>
            </a:solidFill>
            <a:prstDash val="solid"/>
          </a:ln>
        </p:spPr>
      </p:sp>
      <p:sp>
        <p:nvSpPr>
          <p:cNvPr id="14" name="Text 12"/>
          <p:cNvSpPr/>
          <p:nvPr/>
        </p:nvSpPr>
        <p:spPr>
          <a:xfrm>
            <a:off x="8321040" y="5102352"/>
            <a:ext cx="3108960" cy="365760"/>
          </a:xfrm>
          <a:prstGeom prst="rect">
            <a:avLst/>
          </a:prstGeom>
          <a:noFill/>
          <a:ln/>
        </p:spPr>
        <p:txBody>
          <a:bodyPr wrap="square" rtlCol="0" anchor="ctr"/>
          <a:lstStyle/>
          <a:p>
            <a:pPr marL="0" indent="0" algn="ctr">
              <a:buNone/>
            </a:pPr>
            <a:r>
              <a:rPr lang="en-US" sz="900" b="1" kern="0" spc="100" dirty="0">
                <a:solidFill>
                  <a:srgbClr val="67E8F9"/>
                </a:solidFill>
                <a:latin typeface="Calibri" pitchFamily="34" charset="0"/>
                <a:ea typeface="Calibri" pitchFamily="34" charset="-122"/>
                <a:cs typeface="Calibri" pitchFamily="34" charset="-120"/>
              </a:rPr>
              <a:t>OPEN RESEARCH QUESTION</a:t>
            </a:r>
            <a:endParaRPr lang="en-US" sz="900" dirty="0"/>
          </a:p>
        </p:txBody>
      </p:sp>
      <p:sp>
        <p:nvSpPr>
          <p:cNvPr id="15" name="Text 13"/>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16" name="Text 14"/>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Unexpected Findings</a:t>
            </a:r>
            <a:endParaRPr lang="en-US" sz="850" dirty="0"/>
          </a:p>
        </p:txBody>
      </p:sp>
      <p:sp>
        <p:nvSpPr>
          <p:cNvPr id="17" name="Text 15"/>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13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DISCUSSION</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Hypothesis-by-Hypothesis Verdict</a:t>
            </a:r>
            <a:endParaRPr lang="en-US" sz="27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417320"/>
          <a:ext cx="11155680" cy="4361688"/>
        </p:xfrm>
        <a:graphic>
          <a:graphicData uri="http://schemas.openxmlformats.org/drawingml/2006/table">
            <a:tbl>
              <a:tblPr/>
              <a:tblGrid>
                <a:gridCol w="822960">
                  <a:extLst>
                    <a:ext uri="{9D8B030D-6E8A-4147-A177-3AD203B41FA5}">
                      <a16:colId xmlns:a16="http://schemas.microsoft.com/office/drawing/2014/main" val="20000"/>
                    </a:ext>
                  </a:extLst>
                </a:gridCol>
                <a:gridCol w="758952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484632">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Hypothesis</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Verdict</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extLst>
                  <a:ext uri="{0D108BD9-81ED-4DB2-BD59-A6C34878D82A}">
                    <a16:rowId xmlns:a16="http://schemas.microsoft.com/office/drawing/2014/main" val="10000"/>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H1</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Encoding affects learning.</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ctr">
                        <a:buNone/>
                      </a:pPr>
                      <a:r>
                        <a:rPr lang="en-US" sz="1150" b="1" dirty="0">
                          <a:solidFill>
                            <a:srgbClr val="34D399"/>
                          </a:solidFill>
                          <a:latin typeface="Calibri" pitchFamily="34" charset="0"/>
                          <a:ea typeface="Calibri" pitchFamily="34" charset="-122"/>
                          <a:cs typeface="Calibri" pitchFamily="34" charset="-120"/>
                        </a:rPr>
                        <a:t>✓ Supported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1"/>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H2</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Increasing qubits improves approximation.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ctr">
                        <a:buNone/>
                      </a:pPr>
                      <a:r>
                        <a:rPr lang="en-US" sz="1150" b="1" dirty="0">
                          <a:solidFill>
                            <a:srgbClr val="F87171"/>
                          </a:solidFill>
                          <a:latin typeface="Calibri" pitchFamily="34" charset="0"/>
                          <a:ea typeface="Calibri" pitchFamily="34" charset="-122"/>
                          <a:cs typeface="Calibri" pitchFamily="34" charset="-120"/>
                        </a:rPr>
                        <a:t>✗ Rejected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2"/>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H3</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Increasing depth improves learning.</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ctr">
                        <a:buNone/>
                      </a:pPr>
                      <a:r>
                        <a:rPr lang="en-US" sz="1150" b="1" dirty="0">
                          <a:solidFill>
                            <a:srgbClr val="F87171"/>
                          </a:solidFill>
                          <a:latin typeface="Calibri" pitchFamily="34" charset="0"/>
                          <a:ea typeface="Calibri" pitchFamily="34" charset="-122"/>
                          <a:cs typeface="Calibri" pitchFamily="34" charset="-120"/>
                        </a:rPr>
                        <a:t>✗ Rejected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3"/>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H4</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Entanglement improves performance.</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ctr">
                        <a:buNone/>
                      </a:pPr>
                      <a:r>
                        <a:rPr lang="en-US" sz="1150" b="1" dirty="0">
                          <a:solidFill>
                            <a:srgbClr val="F87171"/>
                          </a:solidFill>
                          <a:latin typeface="Calibri" pitchFamily="34" charset="0"/>
                          <a:ea typeface="Calibri" pitchFamily="34" charset="-122"/>
                          <a:cs typeface="Calibri" pitchFamily="34" charset="-120"/>
                        </a:rPr>
                        <a:t>✗ Rejected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4"/>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H5</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Optimizer interacts with representation.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ctr">
                        <a:buNone/>
                      </a:pPr>
                      <a:r>
                        <a:rPr lang="en-US" sz="1150" b="1" dirty="0">
                          <a:solidFill>
                            <a:srgbClr val="34D399"/>
                          </a:solidFill>
                          <a:latin typeface="Calibri" pitchFamily="34" charset="0"/>
                          <a:ea typeface="Calibri" pitchFamily="34" charset="-122"/>
                          <a:cs typeface="Calibri" pitchFamily="34" charset="-120"/>
                        </a:rPr>
                        <a:t>✓ Supported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5"/>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H6</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Increasing collocation improves learning.</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ctr">
                        <a:buNone/>
                      </a:pPr>
                      <a:r>
                        <a:rPr lang="en-US" sz="1150" b="1" dirty="0">
                          <a:solidFill>
                            <a:srgbClr val="F87171"/>
                          </a:solidFill>
                          <a:latin typeface="Calibri" pitchFamily="34" charset="0"/>
                          <a:ea typeface="Calibri" pitchFamily="34" charset="-122"/>
                          <a:cs typeface="Calibri" pitchFamily="34" charset="-120"/>
                        </a:rPr>
                        <a:t>✗ Rejected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6"/>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H7</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Lower PDE residual guarantees better prediction.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lgn="ctr">
                        <a:buNone/>
                      </a:pPr>
                      <a:r>
                        <a:rPr lang="en-US" sz="1150" b="1" dirty="0">
                          <a:solidFill>
                            <a:srgbClr val="FBBF24"/>
                          </a:solidFill>
                          <a:latin typeface="Calibri" pitchFamily="34" charset="0"/>
                          <a:ea typeface="Calibri" pitchFamily="34" charset="-122"/>
                          <a:cs typeface="Calibri" pitchFamily="34" charset="-120"/>
                        </a:rPr>
                        <a:t>◐ Partially Supported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7"/>
                  </a:ext>
                </a:extLst>
              </a:tr>
              <a:tr h="484632">
                <a:tc>
                  <a:txBody>
                    <a:bodyPr/>
                    <a:lstStyle/>
                    <a:p>
                      <a:pPr marL="0" indent="0">
                        <a:buNone/>
                      </a:pPr>
                      <a:r>
                        <a:rPr lang="en-US" sz="1150" b="1" dirty="0">
                          <a:solidFill>
                            <a:srgbClr val="67E8F9"/>
                          </a:solidFill>
                          <a:latin typeface="Calibri" pitchFamily="34" charset="0"/>
                          <a:ea typeface="Calibri" pitchFamily="34" charset="-122"/>
                          <a:cs typeface="Calibri" pitchFamily="34" charset="-120"/>
                        </a:rPr>
                        <a:t>H8</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A hybrid quantum layer can outperform an equivalent classical representation.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lgn="ctr">
                        <a:buNone/>
                      </a:pPr>
                      <a:r>
                        <a:rPr lang="en-US" sz="1150" b="1" dirty="0">
                          <a:solidFill>
                            <a:srgbClr val="F87171"/>
                          </a:solidFill>
                          <a:latin typeface="Calibri" pitchFamily="34" charset="0"/>
                          <a:ea typeface="Calibri" pitchFamily="34" charset="-122"/>
                          <a:cs typeface="Calibri" pitchFamily="34" charset="-120"/>
                        </a:rPr>
                        <a:t>✗ Rejected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8"/>
                  </a:ext>
                </a:extLst>
              </a:tr>
            </a:tbl>
          </a:graphicData>
        </a:graphic>
      </p:graphicFrame>
      <p:sp>
        <p:nvSpPr>
          <p:cNvPr id="5" name="Shape 2"/>
          <p:cNvSpPr/>
          <p:nvPr/>
        </p:nvSpPr>
        <p:spPr>
          <a:xfrm>
            <a:off x="502920" y="5989320"/>
            <a:ext cx="3566160" cy="457200"/>
          </a:xfrm>
          <a:prstGeom prst="roundRect">
            <a:avLst>
              <a:gd name="adj" fmla="val 16000"/>
            </a:avLst>
          </a:prstGeom>
          <a:solidFill>
            <a:srgbClr val="0E2A50"/>
          </a:solidFill>
          <a:ln w="12700">
            <a:solidFill>
              <a:srgbClr val="1E3F6B"/>
            </a:solidFill>
            <a:prstDash val="solid"/>
          </a:ln>
        </p:spPr>
      </p:sp>
      <p:sp>
        <p:nvSpPr>
          <p:cNvPr id="6" name="Text 3"/>
          <p:cNvSpPr/>
          <p:nvPr/>
        </p:nvSpPr>
        <p:spPr>
          <a:xfrm>
            <a:off x="502920" y="5989320"/>
            <a:ext cx="3566160" cy="457200"/>
          </a:xfrm>
          <a:prstGeom prst="rect">
            <a:avLst/>
          </a:prstGeom>
          <a:noFill/>
          <a:ln/>
        </p:spPr>
        <p:txBody>
          <a:bodyPr wrap="square" rtlCol="0" anchor="ctr"/>
          <a:lstStyle/>
          <a:p>
            <a:pPr marL="0" indent="0" algn="ctr">
              <a:buNone/>
            </a:pPr>
            <a:r>
              <a:rPr lang="en-US" sz="1050" b="1" dirty="0">
                <a:solidFill>
                  <a:srgbClr val="34D399"/>
                </a:solidFill>
                <a:latin typeface="Calibri" pitchFamily="34" charset="0"/>
                <a:ea typeface="Calibri" pitchFamily="34" charset="-122"/>
                <a:cs typeface="Calibri" pitchFamily="34" charset="-120"/>
              </a:rPr>
              <a:t>✓ Supported</a:t>
            </a:r>
            <a:endParaRPr lang="en-US" sz="1050" dirty="0"/>
          </a:p>
        </p:txBody>
      </p:sp>
      <p:sp>
        <p:nvSpPr>
          <p:cNvPr id="7" name="Shape 4"/>
          <p:cNvSpPr/>
          <p:nvPr/>
        </p:nvSpPr>
        <p:spPr>
          <a:xfrm>
            <a:off x="4206240" y="5989320"/>
            <a:ext cx="3566160" cy="457200"/>
          </a:xfrm>
          <a:prstGeom prst="roundRect">
            <a:avLst>
              <a:gd name="adj" fmla="val 16000"/>
            </a:avLst>
          </a:prstGeom>
          <a:solidFill>
            <a:srgbClr val="0E2A50"/>
          </a:solidFill>
          <a:ln w="12700">
            <a:solidFill>
              <a:srgbClr val="1E3F6B"/>
            </a:solidFill>
            <a:prstDash val="solid"/>
          </a:ln>
        </p:spPr>
      </p:sp>
      <p:sp>
        <p:nvSpPr>
          <p:cNvPr id="8" name="Text 5"/>
          <p:cNvSpPr/>
          <p:nvPr/>
        </p:nvSpPr>
        <p:spPr>
          <a:xfrm>
            <a:off x="4206240" y="5989320"/>
            <a:ext cx="3566160" cy="457200"/>
          </a:xfrm>
          <a:prstGeom prst="rect">
            <a:avLst/>
          </a:prstGeom>
          <a:noFill/>
          <a:ln/>
        </p:spPr>
        <p:txBody>
          <a:bodyPr wrap="square" rtlCol="0" anchor="ctr"/>
          <a:lstStyle/>
          <a:p>
            <a:pPr marL="0" indent="0" algn="ctr">
              <a:buNone/>
            </a:pPr>
            <a:r>
              <a:rPr lang="en-US" sz="1050" b="1" dirty="0">
                <a:solidFill>
                  <a:srgbClr val="FBBF24"/>
                </a:solidFill>
                <a:latin typeface="Calibri" pitchFamily="34" charset="0"/>
                <a:ea typeface="Calibri" pitchFamily="34" charset="-122"/>
                <a:cs typeface="Calibri" pitchFamily="34" charset="-120"/>
              </a:rPr>
              <a:t>◐ Partially Supported</a:t>
            </a:r>
            <a:endParaRPr lang="en-US" sz="1050" dirty="0"/>
          </a:p>
        </p:txBody>
      </p:sp>
      <p:sp>
        <p:nvSpPr>
          <p:cNvPr id="9" name="Shape 6"/>
          <p:cNvSpPr/>
          <p:nvPr/>
        </p:nvSpPr>
        <p:spPr>
          <a:xfrm>
            <a:off x="7909560" y="5989320"/>
            <a:ext cx="3520440" cy="457200"/>
          </a:xfrm>
          <a:prstGeom prst="roundRect">
            <a:avLst>
              <a:gd name="adj" fmla="val 16000"/>
            </a:avLst>
          </a:prstGeom>
          <a:solidFill>
            <a:srgbClr val="0E2A50"/>
          </a:solidFill>
          <a:ln w="12700">
            <a:solidFill>
              <a:srgbClr val="1E3F6B"/>
            </a:solidFill>
            <a:prstDash val="solid"/>
          </a:ln>
        </p:spPr>
      </p:sp>
      <p:sp>
        <p:nvSpPr>
          <p:cNvPr id="10" name="Text 7"/>
          <p:cNvSpPr/>
          <p:nvPr/>
        </p:nvSpPr>
        <p:spPr>
          <a:xfrm>
            <a:off x="7909560" y="5989320"/>
            <a:ext cx="3520440" cy="457200"/>
          </a:xfrm>
          <a:prstGeom prst="rect">
            <a:avLst/>
          </a:prstGeom>
          <a:noFill/>
          <a:ln/>
        </p:spPr>
        <p:txBody>
          <a:bodyPr wrap="square" rtlCol="0" anchor="ctr"/>
          <a:lstStyle/>
          <a:p>
            <a:pPr marL="0" indent="0" algn="ctr">
              <a:buNone/>
            </a:pPr>
            <a:r>
              <a:rPr lang="en-US" sz="1050" b="1" dirty="0">
                <a:solidFill>
                  <a:srgbClr val="F87171"/>
                </a:solidFill>
                <a:latin typeface="Calibri" pitchFamily="34" charset="0"/>
                <a:ea typeface="Calibri" pitchFamily="34" charset="-122"/>
                <a:cs typeface="Calibri" pitchFamily="34" charset="-120"/>
              </a:rPr>
              <a:t>✗ Rejected</a:t>
            </a:r>
            <a:endParaRPr lang="en-US" sz="1050" dirty="0"/>
          </a:p>
        </p:txBody>
      </p:sp>
      <p:sp>
        <p:nvSpPr>
          <p:cNvPr id="11" name="Text 8"/>
          <p:cNvSpPr/>
          <p:nvPr/>
        </p:nvSpPr>
        <p:spPr>
          <a:xfrm>
            <a:off x="502920" y="6519672"/>
            <a:ext cx="5486400" cy="256032"/>
          </a:xfrm>
          <a:prstGeom prst="rect">
            <a:avLst/>
          </a:prstGeom>
          <a:noFill/>
          <a:ln/>
        </p:spPr>
        <p:txBody>
          <a:bodyPr wrap="square" rtlCol="0" anchor="ctr"/>
          <a:lstStyle/>
          <a:p>
            <a:pPr marL="0" indent="0">
              <a:buNone/>
            </a:pPr>
            <a:r>
              <a:rPr lang="en-US" sz="850" kern="0" spc="100" dirty="0">
                <a:solidFill>
                  <a:srgbClr val="6E86A6"/>
                </a:solidFill>
                <a:latin typeface="Calibri" pitchFamily="34" charset="0"/>
                <a:ea typeface="Calibri" pitchFamily="34" charset="-122"/>
                <a:cs typeface="Calibri" pitchFamily="34" charset="-120"/>
              </a:rPr>
              <a:t>BQP WISER SUMMER CHALLENGE 2026</a:t>
            </a:r>
            <a:endParaRPr lang="en-US" sz="850" dirty="0"/>
          </a:p>
        </p:txBody>
      </p:sp>
      <p:sp>
        <p:nvSpPr>
          <p:cNvPr id="12" name="Text 9"/>
          <p:cNvSpPr/>
          <p:nvPr/>
        </p:nvSpPr>
        <p:spPr>
          <a:xfrm>
            <a:off x="8031175" y="6519672"/>
            <a:ext cx="3657600" cy="256032"/>
          </a:xfrm>
          <a:prstGeom prst="rect">
            <a:avLst/>
          </a:prstGeom>
          <a:noFill/>
          <a:ln/>
        </p:spPr>
        <p:txBody>
          <a:bodyPr wrap="square" rtlCol="0" anchor="ctr"/>
          <a:lstStyle/>
          <a:p>
            <a:pPr marL="0" indent="0" algn="r">
              <a:buNone/>
            </a:pPr>
            <a:r>
              <a:rPr lang="en-US" sz="850" dirty="0">
                <a:solidFill>
                  <a:srgbClr val="6E86A6"/>
                </a:solidFill>
                <a:latin typeface="Calibri" pitchFamily="34" charset="0"/>
                <a:ea typeface="Calibri" pitchFamily="34" charset="-122"/>
                <a:cs typeface="Calibri" pitchFamily="34" charset="-120"/>
              </a:rPr>
              <a:t>Discussion</a:t>
            </a:r>
            <a:endParaRPr lang="en-US" sz="850" dirty="0"/>
          </a:p>
        </p:txBody>
      </p:sp>
      <p:sp>
        <p:nvSpPr>
          <p:cNvPr id="13" name="Text 10"/>
          <p:cNvSpPr/>
          <p:nvPr/>
        </p:nvSpPr>
        <p:spPr>
          <a:xfrm>
            <a:off x="11414455" y="6519672"/>
            <a:ext cx="457200" cy="256032"/>
          </a:xfrm>
          <a:prstGeom prst="rect">
            <a:avLst/>
          </a:prstGeom>
          <a:noFill/>
          <a:ln/>
        </p:spPr>
        <p:txBody>
          <a:bodyPr wrap="square" rtlCol="0" anchor="ctr"/>
          <a:lstStyle/>
          <a:p>
            <a:pPr marL="0" indent="0" algn="r">
              <a:buNone/>
            </a:pPr>
            <a:r>
              <a:rPr lang="en-US" sz="850" b="1" dirty="0">
                <a:solidFill>
                  <a:srgbClr val="22D3EE"/>
                </a:solidFill>
                <a:latin typeface="Calibri" pitchFamily="34" charset="0"/>
                <a:ea typeface="Calibri" pitchFamily="34" charset="-122"/>
                <a:cs typeface="Calibri" pitchFamily="34" charset="-120"/>
              </a:rPr>
              <a:t>14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1C3A"/>
        </a:solidFill>
        <a:effectLst/>
      </p:bgPr>
    </p:bg>
    <p:spTree>
      <p:nvGrpSpPr>
        <p:cNvPr id="1" name=""/>
        <p:cNvGrpSpPr/>
        <p:nvPr/>
      </p:nvGrpSpPr>
      <p:grpSpPr>
        <a:xfrm>
          <a:off x="0" y="0"/>
          <a:ext cx="0" cy="0"/>
          <a:chOff x="0" y="0"/>
          <a:chExt cx="0" cy="0"/>
        </a:xfrm>
      </p:grpSpPr>
      <p:sp>
        <p:nvSpPr>
          <p:cNvPr id="2" name="Shape 0"/>
          <p:cNvSpPr/>
          <p:nvPr/>
        </p:nvSpPr>
        <p:spPr>
          <a:xfrm rot="-1200000">
            <a:off x="-1828800" y="-1371600"/>
            <a:ext cx="146304" cy="10058400"/>
          </a:xfrm>
          <a:prstGeom prst="rect">
            <a:avLst/>
          </a:prstGeom>
          <a:solidFill>
            <a:srgbClr val="5B8DEF">
              <a:alpha val="10000"/>
            </a:srgbClr>
          </a:solidFill>
          <a:ln/>
        </p:spPr>
      </p:sp>
      <p:sp>
        <p:nvSpPr>
          <p:cNvPr id="3" name="Shape 1"/>
          <p:cNvSpPr/>
          <p:nvPr/>
        </p:nvSpPr>
        <p:spPr>
          <a:xfrm rot="-1200000">
            <a:off x="-1371600" y="-1371600"/>
            <a:ext cx="146304" cy="10058400"/>
          </a:xfrm>
          <a:prstGeom prst="rect">
            <a:avLst/>
          </a:prstGeom>
          <a:solidFill>
            <a:srgbClr val="5B8DEF">
              <a:alpha val="11000"/>
            </a:srgbClr>
          </a:solidFill>
          <a:ln/>
        </p:spPr>
      </p:sp>
      <p:sp>
        <p:nvSpPr>
          <p:cNvPr id="4" name="Shape 2"/>
          <p:cNvSpPr/>
          <p:nvPr/>
        </p:nvSpPr>
        <p:spPr>
          <a:xfrm rot="-1200000">
            <a:off x="-914400" y="-1371600"/>
            <a:ext cx="146304" cy="10058400"/>
          </a:xfrm>
          <a:prstGeom prst="rect">
            <a:avLst/>
          </a:prstGeom>
          <a:solidFill>
            <a:srgbClr val="5B8DEF">
              <a:alpha val="12000"/>
            </a:srgbClr>
          </a:solidFill>
          <a:ln/>
        </p:spPr>
      </p:sp>
      <p:sp>
        <p:nvSpPr>
          <p:cNvPr id="5" name="Shape 3"/>
          <p:cNvSpPr/>
          <p:nvPr/>
        </p:nvSpPr>
        <p:spPr>
          <a:xfrm rot="-1200000">
            <a:off x="-457200" y="-1371600"/>
            <a:ext cx="146304" cy="10058400"/>
          </a:xfrm>
          <a:prstGeom prst="rect">
            <a:avLst/>
          </a:prstGeom>
          <a:solidFill>
            <a:srgbClr val="5B8DEF">
              <a:alpha val="13000"/>
            </a:srgbClr>
          </a:solidFill>
          <a:ln/>
        </p:spPr>
      </p:sp>
      <p:sp>
        <p:nvSpPr>
          <p:cNvPr id="6" name="Shape 4"/>
          <p:cNvSpPr/>
          <p:nvPr/>
        </p:nvSpPr>
        <p:spPr>
          <a:xfrm rot="-1200000">
            <a:off x="0" y="-1371600"/>
            <a:ext cx="146304" cy="10058400"/>
          </a:xfrm>
          <a:prstGeom prst="rect">
            <a:avLst/>
          </a:prstGeom>
          <a:solidFill>
            <a:srgbClr val="5B8DEF">
              <a:alpha val="14000"/>
            </a:srgbClr>
          </a:solidFill>
          <a:ln/>
        </p:spPr>
      </p:sp>
      <p:sp>
        <p:nvSpPr>
          <p:cNvPr id="7" name="Shape 5"/>
          <p:cNvSpPr/>
          <p:nvPr/>
        </p:nvSpPr>
        <p:spPr>
          <a:xfrm rot="-1200000">
            <a:off x="457200" y="-1371600"/>
            <a:ext cx="146304" cy="10058400"/>
          </a:xfrm>
          <a:prstGeom prst="rect">
            <a:avLst/>
          </a:prstGeom>
          <a:solidFill>
            <a:srgbClr val="5B8DEF">
              <a:alpha val="15000"/>
            </a:srgbClr>
          </a:solidFill>
          <a:ln/>
        </p:spPr>
      </p:sp>
      <p:sp>
        <p:nvSpPr>
          <p:cNvPr id="8" name="Text 6"/>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CONCLUSION</a:t>
            </a:r>
            <a:endParaRPr lang="en-US" sz="1200" dirty="0"/>
          </a:p>
        </p:txBody>
      </p:sp>
      <p:sp>
        <p:nvSpPr>
          <p:cNvPr id="9" name="Text 7"/>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Answering the Research Question</a:t>
            </a:r>
            <a:endParaRPr lang="en-US" sz="27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371600"/>
          <a:ext cx="11155680" cy="1371600"/>
        </p:xfrm>
        <a:graphic>
          <a:graphicData uri="http://schemas.openxmlformats.org/drawingml/2006/table">
            <a:tbl>
              <a:tblPr/>
              <a:tblGrid>
                <a:gridCol w="512064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342900">
                <a:tc>
                  <a:txBody>
                    <a:bodyPr/>
                    <a:lstStyle/>
                    <a:p>
                      <a:pPr marL="0" indent="0">
                        <a:buNone/>
                      </a:pPr>
                      <a:r>
                        <a:rPr lang="en-US" sz="1050" b="1" dirty="0">
                          <a:solidFill>
                            <a:srgbClr val="22D3EE"/>
                          </a:solidFill>
                          <a:latin typeface="Calibri" pitchFamily="34" charset="0"/>
                          <a:ea typeface="Calibri" pitchFamily="34" charset="-122"/>
                          <a:cs typeface="Calibri" pitchFamily="34" charset="-120"/>
                        </a:rPr>
                        <a:t>Configuration</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buNone/>
                      </a:pPr>
                      <a:r>
                        <a:rPr lang="en-US" sz="1050" b="1" dirty="0">
                          <a:solidFill>
                            <a:srgbClr val="22D3EE"/>
                          </a:solidFill>
                          <a:latin typeface="Calibri" pitchFamily="34" charset="0"/>
                          <a:ea typeface="Calibri" pitchFamily="34" charset="-122"/>
                          <a:cs typeface="Calibri" pitchFamily="34" charset="-120"/>
                        </a:rPr>
                        <a:t>L2 (global)</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buNone/>
                      </a:pPr>
                      <a:r>
                        <a:rPr lang="en-US" sz="1050" b="1" dirty="0">
                          <a:solidFill>
                            <a:srgbClr val="22D3EE"/>
                          </a:solidFill>
                          <a:latin typeface="Calibri" pitchFamily="34" charset="0"/>
                          <a:ea typeface="Calibri" pitchFamily="34" charset="-122"/>
                          <a:cs typeface="Calibri" pitchFamily="34" charset="-120"/>
                        </a:rPr>
                        <a:t>L2 (shock)</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buNone/>
                      </a:pPr>
                      <a:r>
                        <a:rPr lang="en-US" sz="1050" b="1" dirty="0">
                          <a:solidFill>
                            <a:srgbClr val="22D3EE"/>
                          </a:solidFill>
                          <a:latin typeface="Calibri" pitchFamily="34" charset="0"/>
                          <a:ea typeface="Calibri" pitchFamily="34" charset="-122"/>
                          <a:cs typeface="Calibri" pitchFamily="34" charset="-120"/>
                        </a:rPr>
                        <a:t>Params</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extLst>
                  <a:ext uri="{0D108BD9-81ED-4DB2-BD59-A6C34878D82A}">
                    <a16:rowId xmlns:a16="http://schemas.microsoft.com/office/drawing/2014/main" val="10000"/>
                  </a:ext>
                </a:extLst>
              </a:tr>
              <a:tr h="342900">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Model A — Classical PINN</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4.01%</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11.83%</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16,897</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1"/>
                  </a:ext>
                </a:extLst>
              </a:tr>
              <a:tr h="342900">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Model B — baseline (angle re-upl.)</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98.36%</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99.85%</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050" dirty="0">
                          <a:solidFill>
                            <a:srgbClr val="FFFFFF"/>
                          </a:solidFill>
                          <a:latin typeface="Calibri" pitchFamily="34" charset="0"/>
                          <a:ea typeface="Calibri" pitchFamily="34" charset="-122"/>
                          <a:cs typeface="Calibri" pitchFamily="34" charset="-120"/>
                        </a:rPr>
                        <a:t>85</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2"/>
                  </a:ext>
                </a:extLst>
              </a:tr>
              <a:tr h="342900">
                <a:tc>
                  <a:txBody>
                    <a:bodyPr/>
                    <a:lstStyle/>
                    <a:p>
                      <a:pPr marL="0" indent="0">
                        <a:buNone/>
                      </a:pPr>
                      <a:r>
                        <a:rPr lang="en-US" sz="1050" b="1" dirty="0">
                          <a:solidFill>
                            <a:srgbClr val="67E8F9"/>
                          </a:solidFill>
                          <a:latin typeface="Calibri" pitchFamily="34" charset="0"/>
                          <a:ea typeface="Calibri" pitchFamily="34" charset="-122"/>
                          <a:cs typeface="Calibri" pitchFamily="34" charset="-120"/>
                        </a:rPr>
                        <a:t>Model B — amplitude + L-BFGS (matched budget)</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tc>
                  <a:txBody>
                    <a:bodyPr/>
                    <a:lstStyle/>
                    <a:p>
                      <a:pPr marL="0" indent="0">
                        <a:buNone/>
                      </a:pPr>
                      <a:r>
                        <a:rPr lang="en-US" sz="1050" b="1" dirty="0">
                          <a:solidFill>
                            <a:srgbClr val="67E8F9"/>
                          </a:solidFill>
                          <a:latin typeface="Calibri" pitchFamily="34" charset="0"/>
                          <a:ea typeface="Calibri" pitchFamily="34" charset="-122"/>
                          <a:cs typeface="Calibri" pitchFamily="34" charset="-120"/>
                        </a:rPr>
                        <a:t>47.02%</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tc>
                  <a:txBody>
                    <a:bodyPr/>
                    <a:lstStyle/>
                    <a:p>
                      <a:pPr marL="0" indent="0">
                        <a:buNone/>
                      </a:pPr>
                      <a:r>
                        <a:rPr lang="en-US" sz="1050" b="1" dirty="0">
                          <a:solidFill>
                            <a:srgbClr val="67E8F9"/>
                          </a:solidFill>
                          <a:latin typeface="Calibri" pitchFamily="34" charset="0"/>
                          <a:ea typeface="Calibri" pitchFamily="34" charset="-122"/>
                          <a:cs typeface="Calibri" pitchFamily="34" charset="-120"/>
                        </a:rPr>
                        <a:t>78.79%</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tc>
                  <a:txBody>
                    <a:bodyPr/>
                    <a:lstStyle/>
                    <a:p>
                      <a:pPr marL="0" indent="0">
                        <a:buNone/>
                      </a:pPr>
                      <a:r>
                        <a:rPr lang="en-US" sz="1050" b="1" dirty="0">
                          <a:solidFill>
                            <a:srgbClr val="67E8F9"/>
                          </a:solidFill>
                          <a:latin typeface="Calibri" pitchFamily="34" charset="0"/>
                          <a:ea typeface="Calibri" pitchFamily="34" charset="-122"/>
                          <a:cs typeface="Calibri" pitchFamily="34" charset="-120"/>
                        </a:rPr>
                        <a:t>85</a:t>
                      </a:r>
                      <a:endParaRPr lang="en-US" sz="10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C3355"/>
                    </a:solidFill>
                  </a:tcPr>
                </a:tc>
                <a:extLst>
                  <a:ext uri="{0D108BD9-81ED-4DB2-BD59-A6C34878D82A}">
                    <a16:rowId xmlns:a16="http://schemas.microsoft.com/office/drawing/2014/main" val="10003"/>
                  </a:ext>
                </a:extLst>
              </a:tr>
            </a:tbl>
          </a:graphicData>
        </a:graphic>
      </p:graphicFrame>
      <p:sp>
        <p:nvSpPr>
          <p:cNvPr id="11" name="Text 8"/>
          <p:cNvSpPr/>
          <p:nvPr/>
        </p:nvSpPr>
        <p:spPr>
          <a:xfrm>
            <a:off x="502920" y="2788920"/>
            <a:ext cx="11155680" cy="274320"/>
          </a:xfrm>
          <a:prstGeom prst="rect">
            <a:avLst/>
          </a:prstGeom>
          <a:noFill/>
          <a:ln/>
        </p:spPr>
        <p:txBody>
          <a:bodyPr wrap="square" rtlCol="0" anchor="ctr"/>
          <a:lstStyle/>
          <a:p>
            <a:pPr marL="0" indent="0">
              <a:buNone/>
            </a:pPr>
            <a:r>
              <a:rPr lang="en-US" sz="1000" i="1" dirty="0">
                <a:solidFill>
                  <a:srgbClr val="93AAC7"/>
                </a:solidFill>
                <a:latin typeface="Calibri" pitchFamily="34" charset="0"/>
                <a:ea typeface="Calibri" pitchFamily="34" charset="-122"/>
                <a:cs typeface="Calibri" pitchFamily="34" charset="-120"/>
              </a:rPr>
              <a:t>Gap to classical narrowed from ≈24× (baseline) to ≈11.7× (best result) — through representation and optimization alone, with parameter count fixed.</a:t>
            </a:r>
            <a:endParaRPr lang="en-US" sz="1000" dirty="0"/>
          </a:p>
        </p:txBody>
      </p:sp>
      <p:sp>
        <p:nvSpPr>
          <p:cNvPr id="12" name="Text 9"/>
          <p:cNvSpPr/>
          <p:nvPr/>
        </p:nvSpPr>
        <p:spPr>
          <a:xfrm>
            <a:off x="502920" y="3246120"/>
            <a:ext cx="5486400" cy="274320"/>
          </a:xfrm>
          <a:prstGeom prst="rect">
            <a:avLst/>
          </a:prstGeom>
          <a:noFill/>
          <a:ln/>
        </p:spPr>
        <p:txBody>
          <a:bodyPr wrap="square"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Main Findings</a:t>
            </a:r>
            <a:endParaRPr lang="en-US" sz="1250" dirty="0"/>
          </a:p>
        </p:txBody>
      </p:sp>
      <p:sp>
        <p:nvSpPr>
          <p:cNvPr id="13" name="Text 10"/>
          <p:cNvSpPr/>
          <p:nvPr/>
        </p:nvSpPr>
        <p:spPr>
          <a:xfrm>
            <a:off x="502920" y="3566160"/>
            <a:ext cx="5577840" cy="1600200"/>
          </a:xfrm>
          <a:prstGeom prst="rect">
            <a:avLst/>
          </a:prstGeom>
          <a:noFill/>
          <a:ln/>
        </p:spPr>
        <p:txBody>
          <a:bodyPr wrap="square" rtlCol="0" anchor="t"/>
          <a:lstStyle/>
          <a:p>
            <a:pPr marL="177800" indent="-1778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Encoding, not circuit size, determined performance.</a:t>
            </a:r>
            <a:endParaRPr lang="en-US" sz="1150" dirty="0"/>
          </a:p>
          <a:p>
            <a:pPr marL="177800" indent="-1778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Optimizer effectiveness depended on representation.</a:t>
            </a:r>
            <a:endParaRPr lang="en-US" sz="1150" dirty="0"/>
          </a:p>
          <a:p>
            <a:pPr marL="177800" indent="-1778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All gains came from representation and training strategy — parameter count never changed.</a:t>
            </a:r>
            <a:endParaRPr lang="en-US" sz="1150" dirty="0"/>
          </a:p>
          <a:p>
            <a:pPr marL="177800" indent="-177800">
              <a:spcAft>
                <a:spcPts val="800"/>
              </a:spcAft>
              <a:buSzPct val="100000"/>
              <a:buChar char="•"/>
            </a:pPr>
            <a:r>
              <a:rPr lang="en-US" sz="1150" dirty="0">
                <a:solidFill>
                  <a:srgbClr val="FFFFFF"/>
                </a:solidFill>
                <a:latin typeface="Calibri" pitchFamily="34" charset="0"/>
                <a:ea typeface="Calibri" pitchFamily="34" charset="-122"/>
                <a:cs typeface="Calibri" pitchFamily="34" charset="-120"/>
              </a:rPr>
              <a:t>Classical PINN remained the stronger performer throughout.</a:t>
            </a:r>
            <a:endParaRPr lang="en-US" sz="1150" dirty="0"/>
          </a:p>
        </p:txBody>
      </p:sp>
      <p:sp>
        <p:nvSpPr>
          <p:cNvPr id="14" name="Shape 11"/>
          <p:cNvSpPr/>
          <p:nvPr/>
        </p:nvSpPr>
        <p:spPr>
          <a:xfrm>
            <a:off x="6355080" y="3246120"/>
            <a:ext cx="0" cy="1874520"/>
          </a:xfrm>
          <a:prstGeom prst="line">
            <a:avLst/>
          </a:prstGeom>
          <a:noFill/>
          <a:ln w="12700">
            <a:solidFill>
              <a:srgbClr val="1E3F6B"/>
            </a:solidFill>
            <a:prstDash val="dash"/>
          </a:ln>
        </p:spPr>
      </p:sp>
      <p:sp>
        <p:nvSpPr>
          <p:cNvPr id="15" name="Text 12"/>
          <p:cNvSpPr/>
          <p:nvPr/>
        </p:nvSpPr>
        <p:spPr>
          <a:xfrm>
            <a:off x="6675120" y="3246120"/>
            <a:ext cx="4937760" cy="274320"/>
          </a:xfrm>
          <a:prstGeom prst="rect">
            <a:avLst/>
          </a:prstGeom>
          <a:noFill/>
          <a:ln/>
        </p:spPr>
        <p:txBody>
          <a:bodyPr wrap="square"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Future Work</a:t>
            </a:r>
            <a:endParaRPr lang="en-US" sz="1250" dirty="0"/>
          </a:p>
        </p:txBody>
      </p:sp>
      <p:sp>
        <p:nvSpPr>
          <p:cNvPr id="10" name="Text 13"/>
          <p:cNvSpPr/>
          <p:nvPr/>
        </p:nvSpPr>
        <p:spPr>
          <a:xfrm>
            <a:off x="6675120" y="3566160"/>
            <a:ext cx="5029200" cy="1600200"/>
          </a:xfrm>
          <a:prstGeom prst="rect">
            <a:avLst/>
          </a:prstGeom>
          <a:noFill/>
          <a:ln/>
        </p:spPr>
        <p:txBody>
          <a:bodyPr wrap="square" rtlCol="0" anchor="t"/>
          <a:lstStyle/>
          <a:p>
            <a:pPr marL="177800" indent="-177800">
              <a:spcAft>
                <a:spcPts val="800"/>
              </a:spcAft>
              <a:buSzPct val="100000"/>
              <a:buChar char="•"/>
            </a:pPr>
            <a:r>
              <a:rPr lang="en-US" sz="1100" dirty="0">
                <a:solidFill>
                  <a:srgbClr val="93AAC7"/>
                </a:solidFill>
                <a:latin typeface="Calibri" pitchFamily="34" charset="0"/>
                <a:ea typeface="Calibri" pitchFamily="34" charset="-122"/>
                <a:cs typeface="Calibri" pitchFamily="34" charset="-120"/>
              </a:rPr>
              <a:t>Real quantum hardware validation (IBM Quantum)</a:t>
            </a:r>
            <a:endParaRPr lang="en-US" sz="1100" dirty="0"/>
          </a:p>
          <a:p>
            <a:pPr marL="177800" indent="-177800">
              <a:spcAft>
                <a:spcPts val="800"/>
              </a:spcAft>
              <a:buSzPct val="100000"/>
              <a:buChar char="•"/>
            </a:pPr>
            <a:r>
              <a:rPr lang="en-US" sz="1100" dirty="0">
                <a:solidFill>
                  <a:srgbClr val="93AAC7"/>
                </a:solidFill>
                <a:latin typeface="Calibri" pitchFamily="34" charset="0"/>
                <a:ea typeface="Calibri" pitchFamily="34" charset="-122"/>
                <a:cs typeface="Calibri" pitchFamily="34" charset="-120"/>
              </a:rPr>
              <a:t>Extend to heat/wave equation and 2-D Navier–Stokes</a:t>
            </a:r>
            <a:endParaRPr lang="en-US" sz="1100" dirty="0"/>
          </a:p>
          <a:p>
            <a:pPr marL="177800" indent="-177800">
              <a:spcAft>
                <a:spcPts val="800"/>
              </a:spcAft>
              <a:buSzPct val="100000"/>
              <a:buChar char="•"/>
            </a:pPr>
            <a:r>
              <a:rPr lang="en-US" sz="1100" dirty="0">
                <a:solidFill>
                  <a:srgbClr val="93AAC7"/>
                </a:solidFill>
                <a:latin typeface="Calibri" pitchFamily="34" charset="0"/>
                <a:ea typeface="Calibri" pitchFamily="34" charset="-122"/>
                <a:cs typeface="Calibri" pitchFamily="34" charset="-120"/>
              </a:rPr>
              <a:t>Adaptive, problem-specific feature maps</a:t>
            </a:r>
            <a:endParaRPr lang="en-US" sz="1100" dirty="0"/>
          </a:p>
          <a:p>
            <a:pPr marL="177800" indent="-177800">
              <a:spcAft>
                <a:spcPts val="800"/>
              </a:spcAft>
              <a:buSzPct val="100000"/>
              <a:buChar char="•"/>
            </a:pPr>
            <a:r>
              <a:rPr lang="en-US" sz="1100" dirty="0">
                <a:solidFill>
                  <a:srgbClr val="93AAC7"/>
                </a:solidFill>
                <a:latin typeface="Calibri" pitchFamily="34" charset="0"/>
                <a:ea typeface="Calibri" pitchFamily="34" charset="-122"/>
                <a:cs typeface="Calibri" pitchFamily="34" charset="-120"/>
              </a:rPr>
              <a:t>Isolate expressivity vs. trainability behind amplitude encoding's advantage</a:t>
            </a:r>
            <a:endParaRPr lang="en-US" sz="1100" dirty="0"/>
          </a:p>
        </p:txBody>
      </p:sp>
      <p:sp>
        <p:nvSpPr>
          <p:cNvPr id="17" name="Shape 14"/>
          <p:cNvSpPr/>
          <p:nvPr/>
        </p:nvSpPr>
        <p:spPr>
          <a:xfrm>
            <a:off x="502920" y="5257800"/>
            <a:ext cx="1691640" cy="292608"/>
          </a:xfrm>
          <a:prstGeom prst="roundRect">
            <a:avLst>
              <a:gd name="adj" fmla="val 50000"/>
            </a:avLst>
          </a:prstGeom>
          <a:solidFill>
            <a:srgbClr val="0F3A5F"/>
          </a:solidFill>
          <a:ln w="12700">
            <a:solidFill>
              <a:srgbClr val="22D3EE"/>
            </a:solidFill>
            <a:prstDash val="solid"/>
          </a:ln>
        </p:spPr>
      </p:sp>
      <p:sp>
        <p:nvSpPr>
          <p:cNvPr id="18" name="Text 15"/>
          <p:cNvSpPr/>
          <p:nvPr/>
        </p:nvSpPr>
        <p:spPr>
          <a:xfrm>
            <a:off x="502920" y="5257800"/>
            <a:ext cx="1691640" cy="292608"/>
          </a:xfrm>
          <a:prstGeom prst="rect">
            <a:avLst/>
          </a:prstGeom>
          <a:noFill/>
          <a:ln/>
        </p:spPr>
        <p:txBody>
          <a:bodyPr wrap="square" rtlCol="0" anchor="ctr"/>
          <a:lstStyle/>
          <a:p>
            <a:pPr marL="0" indent="0" algn="ctr">
              <a:buNone/>
            </a:pPr>
            <a:r>
              <a:rPr lang="en-US" sz="900" b="1" kern="0" spc="100" dirty="0">
                <a:solidFill>
                  <a:srgbClr val="67E8F9"/>
                </a:solidFill>
                <a:latin typeface="Calibri" pitchFamily="34" charset="0"/>
                <a:ea typeface="Calibri" pitchFamily="34" charset="-122"/>
                <a:cs typeface="Calibri" pitchFamily="34" charset="-120"/>
              </a:rPr>
              <a:t>KEY TAKEAWAY</a:t>
            </a:r>
            <a:endParaRPr lang="en-US" sz="900" dirty="0"/>
          </a:p>
        </p:txBody>
      </p:sp>
      <p:sp>
        <p:nvSpPr>
          <p:cNvPr id="19" name="Shape 16"/>
          <p:cNvSpPr/>
          <p:nvPr/>
        </p:nvSpPr>
        <p:spPr>
          <a:xfrm>
            <a:off x="502920" y="5596128"/>
            <a:ext cx="11155680" cy="777240"/>
          </a:xfrm>
          <a:prstGeom prst="roundRect">
            <a:avLst>
              <a:gd name="adj" fmla="val 9412"/>
            </a:avLst>
          </a:prstGeom>
          <a:solidFill>
            <a:srgbClr val="0C3355"/>
          </a:solidFill>
          <a:ln w="15875">
            <a:solidFill>
              <a:srgbClr val="22D3EE"/>
            </a:solidFill>
            <a:prstDash val="solid"/>
          </a:ln>
        </p:spPr>
      </p:sp>
      <p:sp>
        <p:nvSpPr>
          <p:cNvPr id="20" name="Text 17"/>
          <p:cNvSpPr/>
          <p:nvPr/>
        </p:nvSpPr>
        <p:spPr>
          <a:xfrm>
            <a:off x="777240" y="5596128"/>
            <a:ext cx="10607040" cy="777240"/>
          </a:xfrm>
          <a:prstGeom prst="rect">
            <a:avLst/>
          </a:prstGeom>
          <a:noFill/>
          <a:ln/>
        </p:spPr>
        <p:txBody>
          <a:bodyPr wrap="square" rtlCol="0" anchor="ctr"/>
          <a:lstStyle/>
          <a:p>
            <a:pPr marL="0" indent="0">
              <a:buNone/>
            </a:pPr>
            <a:r>
              <a:rPr lang="en-US" sz="1200" i="1" dirty="0">
                <a:solidFill>
                  <a:srgbClr val="FFFFFF"/>
                </a:solidFill>
                <a:latin typeface="Calibri" pitchFamily="34" charset="0"/>
                <a:ea typeface="Calibri" pitchFamily="34" charset="-122"/>
                <a:cs typeface="Calibri" pitchFamily="34" charset="-120"/>
              </a:rPr>
              <a:t>Representation governs learning more than circuit size. This work identifies when and why quantum representations influence PINN learning — rather than claiming an unconditional quantum advantage.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81C3A"/>
        </a:solidFill>
        <a:effectLst/>
      </p:bgPr>
    </p:bg>
    <p:spTree>
      <p:nvGrpSpPr>
        <p:cNvPr id="1" name=""/>
        <p:cNvGrpSpPr/>
        <p:nvPr/>
      </p:nvGrpSpPr>
      <p:grpSpPr>
        <a:xfrm>
          <a:off x="0" y="0"/>
          <a:ext cx="0" cy="0"/>
          <a:chOff x="0" y="0"/>
          <a:chExt cx="0" cy="0"/>
        </a:xfrm>
      </p:grpSpPr>
      <p:sp>
        <p:nvSpPr>
          <p:cNvPr id="2" name="Text 0"/>
          <p:cNvSpPr/>
          <p:nvPr/>
        </p:nvSpPr>
        <p:spPr>
          <a:xfrm>
            <a:off x="502920" y="292608"/>
            <a:ext cx="9144000" cy="274320"/>
          </a:xfrm>
          <a:prstGeom prst="rect">
            <a:avLst/>
          </a:prstGeom>
          <a:noFill/>
          <a:ln/>
        </p:spPr>
        <p:txBody>
          <a:bodyPr wrap="square" rtlCol="0" anchor="ctr"/>
          <a:lstStyle/>
          <a:p>
            <a:pPr marL="0" indent="0">
              <a:buNone/>
            </a:pPr>
            <a:r>
              <a:rPr lang="en-US" sz="1200" b="1" kern="0" spc="200" dirty="0">
                <a:solidFill>
                  <a:srgbClr val="22D3EE"/>
                </a:solidFill>
                <a:latin typeface="Calibri" pitchFamily="34" charset="0"/>
                <a:ea typeface="Calibri" pitchFamily="34" charset="-122"/>
                <a:cs typeface="Calibri" pitchFamily="34" charset="-120"/>
              </a:rPr>
              <a:t>REPRODUCIBILITY</a:t>
            </a:r>
            <a:endParaRPr lang="en-US" sz="1200" dirty="0"/>
          </a:p>
        </p:txBody>
      </p:sp>
      <p:sp>
        <p:nvSpPr>
          <p:cNvPr id="3" name="Text 1"/>
          <p:cNvSpPr/>
          <p:nvPr/>
        </p:nvSpPr>
        <p:spPr>
          <a:xfrm>
            <a:off x="502920" y="548640"/>
            <a:ext cx="10607040" cy="640080"/>
          </a:xfrm>
          <a:prstGeom prst="rect">
            <a:avLst/>
          </a:prstGeom>
          <a:noFill/>
          <a:ln/>
        </p:spPr>
        <p:txBody>
          <a:bodyPr wrap="square" rtlCol="0" anchor="ctr"/>
          <a:lstStyle/>
          <a:p>
            <a:pPr marL="0" indent="0">
              <a:buNone/>
            </a:pPr>
            <a:r>
              <a:rPr lang="en-US" sz="2700" b="1" dirty="0">
                <a:solidFill>
                  <a:srgbClr val="FFFFFF"/>
                </a:solidFill>
                <a:latin typeface="Arial" pitchFamily="34" charset="0"/>
                <a:ea typeface="Arial" pitchFamily="34" charset="-122"/>
                <a:cs typeface="Arial" pitchFamily="34" charset="-120"/>
              </a:rPr>
              <a:t>Environment and Configuration</a:t>
            </a:r>
            <a:endParaRPr lang="en-US" sz="2700" dirty="0"/>
          </a:p>
        </p:txBody>
      </p:sp>
      <p:graphicFrame>
        <p:nvGraphicFramePr>
          <p:cNvPr id="17" name="Table 0"/>
          <p:cNvGraphicFramePr>
            <a:graphicFrameLocks noGrp="1"/>
          </p:cNvGraphicFramePr>
          <p:nvPr>
            <p:extLst>
              <p:ext uri="{D42A27DB-BD31-4B8C-83A1-F6EECF244321}">
                <p14:modId xmlns:p14="http://schemas.microsoft.com/office/powerpoint/2010/main" val="386300948"/>
              </p:ext>
            </p:extLst>
          </p:nvPr>
        </p:nvGraphicFramePr>
        <p:xfrm>
          <a:off x="502920" y="1417320"/>
          <a:ext cx="7406640" cy="4155948"/>
        </p:xfrm>
        <a:graphic>
          <a:graphicData uri="http://schemas.openxmlformats.org/drawingml/2006/table">
            <a:tbl>
              <a:tblPr/>
              <a:tblGrid>
                <a:gridCol w="2377440">
                  <a:extLst>
                    <a:ext uri="{9D8B030D-6E8A-4147-A177-3AD203B41FA5}">
                      <a16:colId xmlns:a16="http://schemas.microsoft.com/office/drawing/2014/main" val="20000"/>
                    </a:ext>
                  </a:extLst>
                </a:gridCol>
                <a:gridCol w="5029200">
                  <a:extLst>
                    <a:ext uri="{9D8B030D-6E8A-4147-A177-3AD203B41FA5}">
                      <a16:colId xmlns:a16="http://schemas.microsoft.com/office/drawing/2014/main" val="20001"/>
                    </a:ext>
                  </a:extLst>
                </a:gridCol>
              </a:tblGrid>
              <a:tr h="461772">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Item</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tc>
                  <a:txBody>
                    <a:bodyPr/>
                    <a:lstStyle/>
                    <a:p>
                      <a:pPr marL="0" indent="0">
                        <a:buNone/>
                      </a:pPr>
                      <a:r>
                        <a:rPr lang="en-US" sz="1150" b="1" dirty="0">
                          <a:solidFill>
                            <a:srgbClr val="22D3EE"/>
                          </a:solidFill>
                          <a:latin typeface="Calibri" pitchFamily="34" charset="0"/>
                          <a:ea typeface="Calibri" pitchFamily="34" charset="-122"/>
                          <a:cs typeface="Calibri" pitchFamily="34" charset="-120"/>
                        </a:rPr>
                        <a:t>Value</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A2247"/>
                    </a:solidFill>
                  </a:tcPr>
                </a:tc>
                <a:extLst>
                  <a:ext uri="{0D108BD9-81ED-4DB2-BD59-A6C34878D82A}">
                    <a16:rowId xmlns:a16="http://schemas.microsoft.com/office/drawing/2014/main" val="10000"/>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Random seed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42 (fixed across all runs — config.py / config_b.py)</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1"/>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Python version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indent="0">
                        <a:buNone/>
                      </a:pPr>
                      <a:r>
                        <a:rPr lang="en-US" sz="1150" b="0" i="0" u="none" strike="noStrike" noProof="0">
                          <a:solidFill>
                            <a:srgbClr val="FFFFFF"/>
                          </a:solidFill>
                        </a:rPr>
                        <a:t>3.13.7 </a:t>
                      </a:r>
                      <a:endParaRPr lang="en-US" sz="1150" dirty="0">
                        <a:solidFill>
                          <a:srgbClr val="FFFFFF"/>
                        </a:solidFill>
                        <a:latin typeface="Calibri"/>
                        <a:ea typeface="Calibri"/>
                        <a:cs typeface="Calibri"/>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2"/>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PyTorch version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lvl="0" indent="0">
                        <a:buNone/>
                      </a:pPr>
                      <a:r>
                        <a:rPr lang="en-US" sz="1150" b="0" i="0" u="none" strike="noStrike" noProof="0">
                          <a:solidFill>
                            <a:srgbClr val="FFFFFF"/>
                          </a:solidFill>
                        </a:rPr>
                        <a:t>2.13.0 (CPU)</a:t>
                      </a: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3"/>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PennyLane version</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lvl="0" indent="0">
                        <a:buNone/>
                      </a:pPr>
                      <a:r>
                        <a:rPr lang="en-US" sz="1150" b="0" i="0" u="none" strike="noStrike" noProof="0">
                          <a:solidFill>
                            <a:srgbClr val="FFFFFF"/>
                          </a:solidFill>
                        </a:rPr>
                        <a:t>0.45.1</a:t>
                      </a: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4"/>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Operating system</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lvl="0" indent="0">
                        <a:buNone/>
                      </a:pPr>
                      <a:r>
                        <a:rPr lang="en-US" sz="1150" b="0" i="0" u="none" strike="noStrike" noProof="0">
                          <a:solidFill>
                            <a:srgbClr val="FFFFFF"/>
                          </a:solidFill>
                        </a:rPr>
                        <a:t>Microsoft Windows 11 Home (Build 26200)</a:t>
                      </a: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5"/>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CPU / RAM</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lvl="0" indent="0">
                        <a:buNone/>
                      </a:pPr>
                      <a:r>
                        <a:rPr lang="en-US" sz="1150" b="0" i="0" u="none" strike="noStrike" noProof="0">
                          <a:solidFill>
                            <a:srgbClr val="FFFFFF"/>
                          </a:solidFill>
                        </a:rPr>
                        <a:t>13th Gen Intel Core i7-1355U /  </a:t>
                      </a:r>
                      <a:r>
                        <a:rPr lang="en-US" sz="1150" b="0" i="0" u="none" strike="noStrike" noProof="0">
                          <a:solidFill>
                            <a:srgbClr val="FFFFFF"/>
                          </a:solidFill>
                          <a:latin typeface="Calibri"/>
                          <a:ea typeface="Calibri"/>
                          <a:cs typeface="Calibri"/>
                        </a:rPr>
                        <a:t>16 GB</a:t>
                      </a: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6"/>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Quantum backend</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tc>
                  <a:txBody>
                    <a:bodyPr/>
                    <a:lstStyle/>
                    <a:p>
                      <a:pPr marL="0" lvl="0" indent="0">
                        <a:buNone/>
                      </a:pPr>
                      <a:r>
                        <a:rPr lang="en-US" sz="1150" b="0" i="0" u="none" strike="noStrike" noProof="0" dirty="0">
                          <a:solidFill>
                            <a:srgbClr val="FFFFFF"/>
                          </a:solidFill>
                        </a:rPr>
                        <a:t>PennyLane </a:t>
                      </a:r>
                      <a:r>
                        <a:rPr lang="en-US" sz="1150" b="0" i="0" u="none" strike="noStrike" noProof="0" dirty="0" err="1">
                          <a:solidFill>
                            <a:srgbClr val="FFFFFF"/>
                          </a:solidFill>
                        </a:rPr>
                        <a:t>default.qubit</a:t>
                      </a:r>
                      <a:r>
                        <a:rPr lang="en-US" sz="1150" b="0" i="0" u="none" strike="noStrike" noProof="0" dirty="0">
                          <a:solidFill>
                            <a:srgbClr val="FFFFFF"/>
                          </a:solidFill>
                        </a:rPr>
                        <a:t> (noiseless simulator), backprop differentiation</a:t>
                      </a: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123259"/>
                    </a:solidFill>
                  </a:tcPr>
                </a:tc>
                <a:extLst>
                  <a:ext uri="{0D108BD9-81ED-4DB2-BD59-A6C34878D82A}">
                    <a16:rowId xmlns:a16="http://schemas.microsoft.com/office/drawing/2014/main" val="10007"/>
                  </a:ext>
                </a:extLst>
              </a:tr>
              <a:tr h="461772">
                <a:tc>
                  <a:txBody>
                    <a:bodyPr/>
                    <a:lstStyle/>
                    <a:p>
                      <a:pPr marL="0" indent="0">
                        <a:buNone/>
                      </a:pPr>
                      <a:r>
                        <a:rPr lang="en-US" sz="1150" dirty="0">
                          <a:solidFill>
                            <a:srgbClr val="FFFFFF"/>
                          </a:solidFill>
                          <a:latin typeface="Calibri" pitchFamily="34" charset="0"/>
                          <a:ea typeface="Calibri" pitchFamily="34" charset="-122"/>
                          <a:cs typeface="Calibri" pitchFamily="34" charset="-120"/>
                        </a:rPr>
                        <a:t>GitHub repository</a:t>
                      </a:r>
                      <a:endParaRPr lang="en-US" sz="1150" dirty="0">
                        <a:latin typeface="Calibri" charset="0"/>
                        <a:ea typeface="Calibri" charset="0"/>
                        <a:cs typeface="Calibri" charset="0"/>
                      </a:endParaRPr>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tc>
                  <a:txBody>
                    <a:bodyPr/>
                    <a:lstStyle/>
                    <a:p>
                      <a:pPr marL="0" lvl="0" indent="0">
                        <a:buNone/>
                      </a:pPr>
                      <a:r>
                        <a:rPr lang="en-US" sz="1150" b="0" i="0" u="none" strike="noStrike" noProof="0" dirty="0">
                          <a:solidFill>
                            <a:srgbClr val="FFFFFF"/>
                          </a:solidFill>
                          <a:latin typeface="Calibri"/>
                          <a:ea typeface="Calibri"/>
                          <a:cs typeface="Calibri"/>
                          <a:hlinkClick r:id="rId3"/>
                        </a:rPr>
                        <a:t>GitHub - meenakshi-re18/qapinn-bqp-challenge · GitHub</a:t>
                      </a:r>
                      <a:endParaRPr lang="en-US"/>
                    </a:p>
                  </a:txBody>
                  <a:tcPr anchor="ctr">
                    <a:lnL w="9525" cap="flat" cmpd="sng" algn="ctr">
                      <a:solidFill>
                        <a:srgbClr val="1E3F6B"/>
                      </a:solidFill>
                      <a:prstDash val="solid"/>
                      <a:round/>
                      <a:headEnd type="none" w="med" len="med"/>
                      <a:tailEnd type="none" w="med" len="med"/>
                    </a:lnL>
                    <a:lnR w="9525" cap="flat" cmpd="sng" algn="ctr">
                      <a:solidFill>
                        <a:srgbClr val="1E3F6B"/>
                      </a:solidFill>
                      <a:prstDash val="solid"/>
                      <a:round/>
                      <a:headEnd type="none" w="med" len="med"/>
                      <a:tailEnd type="none" w="med" len="med"/>
                    </a:lnR>
                    <a:lnT w="9525" cap="flat" cmpd="sng" algn="ctr">
                      <a:solidFill>
                        <a:srgbClr val="1E3F6B"/>
                      </a:solidFill>
                      <a:prstDash val="solid"/>
                      <a:round/>
                      <a:headEnd type="none" w="med" len="med"/>
                      <a:tailEnd type="none" w="med" len="med"/>
                    </a:lnT>
                    <a:lnB w="9525" cap="flat" cmpd="sng" algn="ctr">
                      <a:solidFill>
                        <a:srgbClr val="1E3F6B"/>
                      </a:solidFill>
                      <a:prstDash val="solid"/>
                      <a:round/>
                      <a:headEnd type="none" w="med" len="med"/>
                      <a:tailEnd type="none" w="med" len="med"/>
                    </a:lnB>
                    <a:solidFill>
                      <a:srgbClr val="0E2A50"/>
                    </a:solidFill>
                  </a:tcPr>
                </a:tc>
                <a:extLst>
                  <a:ext uri="{0D108BD9-81ED-4DB2-BD59-A6C34878D82A}">
                    <a16:rowId xmlns:a16="http://schemas.microsoft.com/office/drawing/2014/main" val="10008"/>
                  </a:ext>
                </a:extLst>
              </a:tr>
            </a:tbl>
          </a:graphicData>
        </a:graphic>
      </p:graphicFrame>
      <p:sp>
        <p:nvSpPr>
          <p:cNvPr id="5" name="Shape 2"/>
          <p:cNvSpPr/>
          <p:nvPr/>
        </p:nvSpPr>
        <p:spPr>
          <a:xfrm>
            <a:off x="8138160" y="1417320"/>
            <a:ext cx="3520440" cy="4160520"/>
          </a:xfrm>
          <a:prstGeom prst="roundRect">
            <a:avLst>
              <a:gd name="adj" fmla="val 2078"/>
            </a:avLst>
          </a:prstGeom>
          <a:solidFill>
            <a:srgbClr val="0A2247"/>
          </a:solidFill>
          <a:ln w="12700">
            <a:solidFill>
              <a:srgbClr val="1E3F6B"/>
            </a:solidFill>
            <a:prstDash val="solid"/>
          </a:ln>
        </p:spPr>
      </p:sp>
      <p:sp>
        <p:nvSpPr>
          <p:cNvPr id="6" name="Text 3"/>
          <p:cNvSpPr/>
          <p:nvPr/>
        </p:nvSpPr>
        <p:spPr>
          <a:xfrm>
            <a:off x="8366760" y="1600200"/>
            <a:ext cx="3108960" cy="292608"/>
          </a:xfrm>
          <a:prstGeom prst="rect">
            <a:avLst/>
          </a:prstGeom>
          <a:noFill/>
          <a:ln/>
        </p:spPr>
        <p:txBody>
          <a:bodyPr wrap="square" rtlCol="0" anchor="ctr"/>
          <a:lstStyle/>
          <a:p>
            <a:pPr marL="0" indent="0">
              <a:buNone/>
            </a:pPr>
            <a:r>
              <a:rPr lang="en-US" sz="1250" b="1" dirty="0">
                <a:solidFill>
                  <a:srgbClr val="22D3EE"/>
                </a:solidFill>
                <a:latin typeface="Calibri" pitchFamily="34" charset="0"/>
                <a:ea typeface="Calibri" pitchFamily="34" charset="-122"/>
                <a:cs typeface="Calibri" pitchFamily="34" charset="-120"/>
              </a:rPr>
              <a:t>Notes</a:t>
            </a:r>
            <a:endParaRPr lang="en-US" sz="1250" dirty="0"/>
          </a:p>
        </p:txBody>
      </p:sp>
      <p:sp>
        <p:nvSpPr>
          <p:cNvPr id="7" name="Text 4"/>
          <p:cNvSpPr/>
          <p:nvPr/>
        </p:nvSpPr>
        <p:spPr>
          <a:xfrm>
            <a:off x="8366760" y="1965960"/>
            <a:ext cx="3108960" cy="3383280"/>
          </a:xfrm>
          <a:prstGeom prst="rect">
            <a:avLst/>
          </a:prstGeom>
          <a:noFill/>
          <a:ln/>
        </p:spPr>
        <p:txBody>
          <a:bodyPr wrap="square" lIns="91440" tIns="45720" rIns="91440" bIns="45720" rtlCol="0" anchor="t"/>
          <a:lstStyle/>
          <a:p>
            <a:pPr marL="177800" indent="-177800">
              <a:spcAft>
                <a:spcPts val="1200"/>
              </a:spcAft>
              <a:buSzPct val="100000"/>
              <a:buChar char="•"/>
            </a:pPr>
            <a:r>
              <a:rPr lang="en-US" sz="1050" dirty="0">
                <a:solidFill>
                  <a:srgbClr val="93AAC7"/>
                </a:solidFill>
                <a:latin typeface="Calibri" pitchFamily="34" charset="0"/>
                <a:ea typeface="Calibri" pitchFamily="34" charset="-122"/>
                <a:cs typeface="Calibri" pitchFamily="34" charset="-120"/>
              </a:rPr>
              <a:t>All experiments are runnable end-to-end from the project's public GitHub repository.</a:t>
            </a:r>
            <a:endParaRPr lang="en-US" sz="1050" dirty="0"/>
          </a:p>
          <a:p>
            <a:pPr marL="177800" indent="-177800">
              <a:spcAft>
                <a:spcPts val="1200"/>
              </a:spcAft>
              <a:buSzPct val="100000"/>
              <a:buChar char="•"/>
            </a:pPr>
            <a:r>
              <a:rPr lang="en-US" sz="1050" dirty="0">
                <a:solidFill>
                  <a:srgbClr val="93AAC7"/>
                </a:solidFill>
                <a:latin typeface="Calibri" pitchFamily="34" charset="0"/>
                <a:ea typeface="Calibri" pitchFamily="34" charset="-122"/>
                <a:cs typeface="Calibri" pitchFamily="34" charset="-120"/>
              </a:rPr>
              <a:t>All reported training times are wall-clock CPU times; no GPU acceleration was used for either model.</a:t>
            </a:r>
            <a:endParaRPr lang="en-US" sz="1050" dirty="0"/>
          </a:p>
        </p:txBody>
      </p:sp>
      <p:sp>
        <p:nvSpPr>
          <p:cNvPr id="8" name="Shape 5"/>
          <p:cNvSpPr/>
          <p:nvPr/>
        </p:nvSpPr>
        <p:spPr>
          <a:xfrm>
            <a:off x="502920" y="5760720"/>
            <a:ext cx="11155680" cy="612648"/>
          </a:xfrm>
          <a:prstGeom prst="roundRect">
            <a:avLst>
              <a:gd name="adj" fmla="val 11940"/>
            </a:avLst>
          </a:prstGeom>
          <a:solidFill>
            <a:srgbClr val="0C3355"/>
          </a:solidFill>
          <a:ln w="12700">
            <a:solidFill>
              <a:srgbClr val="22D3EE"/>
            </a:solidFill>
            <a:prstDash val="solid"/>
          </a:ln>
        </p:spPr>
      </p:sp>
      <p:sp>
        <p:nvSpPr>
          <p:cNvPr id="9" name="Text 6"/>
          <p:cNvSpPr/>
          <p:nvPr/>
        </p:nvSpPr>
        <p:spPr>
          <a:xfrm>
            <a:off x="777240" y="5760720"/>
            <a:ext cx="10607040" cy="612648"/>
          </a:xfrm>
          <a:prstGeom prst="rect">
            <a:avLst/>
          </a:prstGeom>
          <a:noFill/>
          <a:ln/>
        </p:spPr>
        <p:txBody>
          <a:bodyPr wrap="square" rtlCol="0" anchor="ctr"/>
          <a:lstStyle/>
          <a:p>
            <a:pPr marL="0" indent="0" algn="ctr">
              <a:buNone/>
            </a:pPr>
            <a:r>
              <a:rPr lang="en-US" sz="1800" b="1" dirty="0">
                <a:solidFill>
                  <a:srgbClr val="FFFFFF"/>
                </a:solidFill>
                <a:latin typeface="Arial" pitchFamily="34" charset="0"/>
                <a:ea typeface="Arial" pitchFamily="34" charset="-122"/>
                <a:cs typeface="Arial" pitchFamily="34" charset="-120"/>
              </a:rPr>
              <a:t>Thank You  ·  Questions?</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Widescreen</PresentationFormat>
  <Paragraphs>0</Paragraphs>
  <Slides>16</Slides>
  <Notes>16</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81</cp:revision>
  <dcterms:created xsi:type="dcterms:W3CDTF">2026-08-05T22:45:18Z</dcterms:created>
  <dcterms:modified xsi:type="dcterms:W3CDTF">2026-08-06T13:37:34Z</dcterms:modified>
</cp:coreProperties>
</file>